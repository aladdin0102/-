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3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gs/tag2.xml" ContentType="application/vnd.openxmlformats-officedocument.presentationml.tag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1383" r:id="rId3"/>
    <p:sldId id="5273" r:id="rId4"/>
    <p:sldId id="258" r:id="rId5"/>
    <p:sldId id="5274" r:id="rId6"/>
    <p:sldId id="1877" r:id="rId7"/>
    <p:sldId id="1888" r:id="rId8"/>
    <p:sldId id="5275" r:id="rId9"/>
    <p:sldId id="5276" r:id="rId10"/>
    <p:sldId id="5278" r:id="rId11"/>
    <p:sldId id="5279" r:id="rId12"/>
    <p:sldId id="5280" r:id="rId13"/>
    <p:sldId id="5277" r:id="rId14"/>
    <p:sldId id="5281" r:id="rId15"/>
    <p:sldId id="5283" r:id="rId16"/>
    <p:sldId id="5284" r:id="rId17"/>
    <p:sldId id="5285" r:id="rId18"/>
    <p:sldId id="5286" r:id="rId19"/>
    <p:sldId id="5287" r:id="rId20"/>
    <p:sldId id="5288" r:id="rId21"/>
    <p:sldId id="5289" r:id="rId22"/>
    <p:sldId id="5290" r:id="rId23"/>
    <p:sldId id="529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79084-4EA3-4327-B4CD-F4681A17FA2C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C9522-EF82-4789-B81B-CEF779E2CB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2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3A581E-BF9D-43F3-81F4-E9BD4E8E8C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945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3A581E-BF9D-43F3-81F4-E9BD4E8E8C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3A581E-BF9D-43F3-81F4-E9BD4E8E8C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89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3A581E-BF9D-43F3-81F4-E9BD4E8E8C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99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1BC66-A82B-4BB2-8A00-76200FB44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0C8349-F0B5-4869-B664-310B636CC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7756C-7E78-4810-9BED-43860FAD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C83E2-5170-4738-96BB-B64DFEF6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D24383-EBD8-4B92-AF57-6710D9C1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5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E3755-2A56-41F6-A415-850ADA43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483A2F-D3D9-4072-8934-158A7543B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480A94-184A-46C5-863F-3AA8025C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BA3489-B407-4656-ADB9-2D51D650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D895F-63C7-42EB-9FAC-9610DD69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02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86342-3B9D-4913-827C-6D2E181D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7B0C0A-1984-4D30-BA2C-EA83646E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A0159-394E-42DB-B5CC-B0C2BB02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81988-20FC-4997-B637-3CE95E20C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03BF3-279D-4A3F-BB54-6969787C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75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FDEE5-21CB-4CFE-8EE5-C90BBF8E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E5860-E0EB-4433-A537-15D0EF45F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2F9A45-6584-45FC-9A33-384635B2C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F917E0-4254-4AF2-9FB5-ABBFDB0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6A80A0-7AF6-44FF-A3E2-54C3CC0B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4BC53-424C-4521-BC11-6F717653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54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F3104-03F9-4BCA-9786-2F737744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8F6474-3D85-46FB-8DCF-11AA39A36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CA655D-B5ED-4FEB-9534-DB81C79D0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72AA94-1B89-4B68-A86C-F0BA1E4D4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53ACE2-9398-47F2-826B-BA55F1AC0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41A9D8-EE5A-4B6F-AD71-19F42A50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5D944C-D54E-4AC0-BE6D-6ED948D2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7C2C37-8DD6-49E3-AEED-48DDBB37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39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01BFB-76E6-47B3-8744-469C0435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CCACF1-E1E6-4A04-B824-86AE87A7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558135-2225-43A1-BD6C-A77CA074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91CB85-541D-46E8-BE67-57C454C0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91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BD3267-38D6-4D8F-A379-D51DA597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B0F2AB-796E-435F-922F-5FC5E43F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A03B91-E070-4E33-8BC0-8FAE4C9A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35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2A5E3-6B9A-465A-AA4C-2D357682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570252-756C-4909-B848-D824165F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F95104-5755-426C-ADB6-4E84240EC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60DD57-3AE8-4183-B3E8-CEE41EB5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AF2F20-CC58-4FDF-81F4-8D362B763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CB969C-E2AE-4D80-B069-4C584B9A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24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5A655-330C-44B2-A59A-8CCCC23E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73AF0C-2CBA-4A3F-AF24-A15ED9D99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05DCB0-F08A-4AD8-81D6-B2776146C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4B6AA1-9640-43F1-8CAA-B2D5CA5E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0CD298-775A-4B0E-A23F-8D6921A6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267D6-40C3-4FC2-9631-7B4D3FF9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61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D0E69-B996-42B9-8AFB-7F30BD0B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51D07-7277-400F-A47E-7F3E56536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71F7B-FF3D-4322-A958-9DA16F0A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146AD2-287F-4FEC-B361-BA949AF2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CD2BE-310D-41F6-B5B8-E5D74D5B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38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02261E-EA5E-4D22-A909-B27F3B132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0C4605-E005-41AB-9D9B-6454F045B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9BC6D-5EE3-4BCE-93FE-1B80A9CA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A3FF5-0E55-4A5B-A8A1-C8BB8EEB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790FE3-005E-45F1-A952-10F59DC2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80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标题 1"/>
          <p:cNvSpPr>
            <a:spLocks noGrp="1"/>
          </p:cNvSpPr>
          <p:nvPr>
            <p:ph type="ctrTitle"/>
          </p:nvPr>
        </p:nvSpPr>
        <p:spPr>
          <a:xfrm>
            <a:off x="914402" y="2130425"/>
            <a:ext cx="10363199" cy="14700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04" name="副标题 2"/>
          <p:cNvSpPr>
            <a:spLocks noGrp="1"/>
          </p:cNvSpPr>
          <p:nvPr>
            <p:ph type="subTitle" idx="1"/>
          </p:nvPr>
        </p:nvSpPr>
        <p:spPr>
          <a:xfrm>
            <a:off x="1828804" y="3886207"/>
            <a:ext cx="8534401" cy="1752600"/>
          </a:xfrm>
        </p:spPr>
        <p:txBody>
          <a:bodyPr/>
          <a:lstStyle>
            <a:lvl1pPr marL="0" indent="0" algn="ctr">
              <a:buNone/>
            </a:lvl1pPr>
            <a:lvl2pPr marL="553073" indent="0" algn="ctr">
              <a:buNone/>
            </a:lvl2pPr>
            <a:lvl3pPr marL="1106146" indent="0" algn="ctr">
              <a:buNone/>
            </a:lvl3pPr>
            <a:lvl4pPr marL="1659219" indent="0" algn="ctr">
              <a:buNone/>
            </a:lvl4pPr>
            <a:lvl5pPr marL="2211619" indent="0" algn="ctr">
              <a:buNone/>
            </a:lvl5pPr>
            <a:lvl6pPr marL="2764692" indent="0" algn="ctr">
              <a:buNone/>
            </a:lvl6pPr>
            <a:lvl7pPr marL="3317765" indent="0" algn="ctr">
              <a:buNone/>
            </a:lvl7pPr>
            <a:lvl8pPr marL="3870838" indent="0" algn="ctr">
              <a:buNone/>
            </a:lvl8pPr>
            <a:lvl9pPr marL="4423911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70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4892E083-5CB7-4C8B-AF18-F5FF393A4D2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35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8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127881B9-D928-4F97-8D17-A16C23B3C0F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9590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标题 1"/>
          <p:cNvSpPr>
            <a:spLocks noGrp="1"/>
          </p:cNvSpPr>
          <p:nvPr>
            <p:ph type="title"/>
          </p:nvPr>
        </p:nvSpPr>
        <p:spPr>
          <a:xfrm>
            <a:off x="963085" y="4406908"/>
            <a:ext cx="10363199" cy="1362075"/>
          </a:xfrm>
        </p:spPr>
        <p:txBody>
          <a:bodyPr anchor="t"/>
          <a:lstStyle>
            <a:lvl1pPr algn="l">
              <a:defRPr sz="4836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9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199" cy="1500187"/>
          </a:xfrm>
        </p:spPr>
        <p:txBody>
          <a:bodyPr anchor="b"/>
          <a:lstStyle>
            <a:lvl1pPr marL="0" indent="0">
              <a:buNone/>
              <a:defRPr sz="2418"/>
            </a:lvl1pPr>
            <a:lvl2pPr marL="553073" indent="0">
              <a:buNone/>
              <a:defRPr sz="2175"/>
            </a:lvl2pPr>
            <a:lvl3pPr marL="1106146" indent="0">
              <a:buNone/>
              <a:defRPr sz="1937"/>
            </a:lvl3pPr>
            <a:lvl4pPr marL="1659219" indent="0">
              <a:buNone/>
              <a:defRPr sz="1693"/>
            </a:lvl4pPr>
            <a:lvl5pPr marL="2211619" indent="0">
              <a:buNone/>
              <a:defRPr sz="1693"/>
            </a:lvl5pPr>
            <a:lvl6pPr marL="2764692" indent="0">
              <a:buNone/>
              <a:defRPr sz="1693"/>
            </a:lvl6pPr>
            <a:lvl7pPr marL="3317765" indent="0">
              <a:buNone/>
              <a:defRPr sz="1693"/>
            </a:lvl7pPr>
            <a:lvl8pPr marL="3870838" indent="0">
              <a:buNone/>
              <a:defRPr sz="1693"/>
            </a:lvl8pPr>
            <a:lvl9pPr marL="4423911" indent="0">
              <a:buNone/>
              <a:defRPr sz="169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30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1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2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816B0E4-42E8-46FB-AA0B-6BCE392FC87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42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4" name="内容占位符 2"/>
          <p:cNvSpPr>
            <a:spLocks noGrp="1"/>
          </p:cNvSpPr>
          <p:nvPr>
            <p:ph sz="half" idx="1"/>
          </p:nvPr>
        </p:nvSpPr>
        <p:spPr>
          <a:xfrm>
            <a:off x="609603" y="1600200"/>
            <a:ext cx="5384800" cy="4525963"/>
          </a:xfrm>
        </p:spPr>
        <p:txBody>
          <a:bodyPr/>
          <a:lstStyle>
            <a:lvl1pPr>
              <a:defRPr sz="3387"/>
            </a:lvl1pPr>
            <a:lvl2pPr>
              <a:defRPr sz="2905"/>
            </a:lvl2pPr>
            <a:lvl3pPr>
              <a:defRPr sz="2418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5" name="内容占位符 3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384800" cy="4525963"/>
          </a:xfrm>
        </p:spPr>
        <p:txBody>
          <a:bodyPr/>
          <a:lstStyle>
            <a:lvl1pPr>
              <a:defRPr sz="3387"/>
            </a:lvl1pPr>
            <a:lvl2pPr>
              <a:defRPr sz="2905"/>
            </a:lvl2pPr>
            <a:lvl3pPr>
              <a:defRPr sz="2418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A3958778-AC6E-4134-9EDA-F59AA66DF9D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774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0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8" cy="639762"/>
          </a:xfrm>
        </p:spPr>
        <p:txBody>
          <a:bodyPr anchor="b"/>
          <a:lstStyle>
            <a:lvl1pPr marL="0" indent="0">
              <a:buNone/>
              <a:defRPr sz="2905" b="1"/>
            </a:lvl1pPr>
            <a:lvl2pPr marL="553073" indent="0">
              <a:buNone/>
              <a:defRPr sz="2418" b="1"/>
            </a:lvl2pPr>
            <a:lvl3pPr marL="1106146" indent="0">
              <a:buNone/>
              <a:defRPr sz="2175" b="1"/>
            </a:lvl3pPr>
            <a:lvl4pPr marL="1659219" indent="0">
              <a:buNone/>
              <a:defRPr sz="1937" b="1"/>
            </a:lvl4pPr>
            <a:lvl5pPr marL="2211619" indent="0">
              <a:buNone/>
              <a:defRPr sz="1937" b="1"/>
            </a:lvl5pPr>
            <a:lvl6pPr marL="2764692" indent="0">
              <a:buNone/>
              <a:defRPr sz="1937" b="1"/>
            </a:lvl6pPr>
            <a:lvl7pPr marL="3317765" indent="0">
              <a:buNone/>
              <a:defRPr sz="1937" b="1"/>
            </a:lvl7pPr>
            <a:lvl8pPr marL="3870838" indent="0">
              <a:buNone/>
              <a:defRPr sz="1937" b="1"/>
            </a:lvl8pPr>
            <a:lvl9pPr marL="4423911" indent="0">
              <a:buNone/>
              <a:defRPr sz="19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1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9"/>
            <a:ext cx="5386918" cy="3951288"/>
          </a:xfrm>
        </p:spPr>
        <p:txBody>
          <a:bodyPr/>
          <a:lstStyle>
            <a:lvl1pPr>
              <a:defRPr sz="2905"/>
            </a:lvl1pPr>
            <a:lvl2pPr>
              <a:defRPr sz="2418"/>
            </a:lvl2pPr>
            <a:lvl3pPr>
              <a:defRPr sz="2175"/>
            </a:lvl3pPr>
            <a:lvl4pPr>
              <a:defRPr sz="1937"/>
            </a:lvl4pPr>
            <a:lvl5pPr>
              <a:defRPr sz="1937"/>
            </a:lvl5pPr>
            <a:lvl6pPr>
              <a:defRPr sz="1937"/>
            </a:lvl6pPr>
            <a:lvl7pPr>
              <a:defRPr sz="1937"/>
            </a:lvl7pPr>
            <a:lvl8pPr>
              <a:defRPr sz="1937"/>
            </a:lvl8pPr>
            <a:lvl9pPr>
              <a:defRPr sz="1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1" y="1535113"/>
            <a:ext cx="5389033" cy="639762"/>
          </a:xfrm>
        </p:spPr>
        <p:txBody>
          <a:bodyPr anchor="b"/>
          <a:lstStyle>
            <a:lvl1pPr marL="0" indent="0">
              <a:buNone/>
              <a:defRPr sz="2905" b="1"/>
            </a:lvl1pPr>
            <a:lvl2pPr marL="553073" indent="0">
              <a:buNone/>
              <a:defRPr sz="2418" b="1"/>
            </a:lvl2pPr>
            <a:lvl3pPr marL="1106146" indent="0">
              <a:buNone/>
              <a:defRPr sz="2175" b="1"/>
            </a:lvl3pPr>
            <a:lvl4pPr marL="1659219" indent="0">
              <a:buNone/>
              <a:defRPr sz="1937" b="1"/>
            </a:lvl4pPr>
            <a:lvl5pPr marL="2211619" indent="0">
              <a:buNone/>
              <a:defRPr sz="1937" b="1"/>
            </a:lvl5pPr>
            <a:lvl6pPr marL="2764692" indent="0">
              <a:buNone/>
              <a:defRPr sz="1937" b="1"/>
            </a:lvl6pPr>
            <a:lvl7pPr marL="3317765" indent="0">
              <a:buNone/>
              <a:defRPr sz="1937" b="1"/>
            </a:lvl7pPr>
            <a:lvl8pPr marL="3870838" indent="0">
              <a:buNone/>
              <a:defRPr sz="1937" b="1"/>
            </a:lvl8pPr>
            <a:lvl9pPr marL="4423911" indent="0">
              <a:buNone/>
              <a:defRPr sz="19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3" name="内容占位符 5"/>
          <p:cNvSpPr>
            <a:spLocks noGrp="1"/>
          </p:cNvSpPr>
          <p:nvPr>
            <p:ph sz="quarter" idx="4"/>
          </p:nvPr>
        </p:nvSpPr>
        <p:spPr>
          <a:xfrm>
            <a:off x="6193371" y="2174879"/>
            <a:ext cx="5389033" cy="3951288"/>
          </a:xfrm>
        </p:spPr>
        <p:txBody>
          <a:bodyPr/>
          <a:lstStyle>
            <a:lvl1pPr>
              <a:defRPr sz="2905"/>
            </a:lvl1pPr>
            <a:lvl2pPr>
              <a:defRPr sz="2418"/>
            </a:lvl2pPr>
            <a:lvl3pPr>
              <a:defRPr sz="2175"/>
            </a:lvl3pPr>
            <a:lvl4pPr>
              <a:defRPr sz="1937"/>
            </a:lvl4pPr>
            <a:lvl5pPr>
              <a:defRPr sz="1937"/>
            </a:lvl5pPr>
            <a:lvl6pPr>
              <a:defRPr sz="1937"/>
            </a:lvl6pPr>
            <a:lvl7pPr>
              <a:defRPr sz="1937"/>
            </a:lvl7pPr>
            <a:lvl8pPr>
              <a:defRPr sz="1937"/>
            </a:lvl8pPr>
            <a:lvl9pPr>
              <a:defRPr sz="1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7075E33-85E9-4823-9E9B-05A6E191110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0417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0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17AB5B22-55A9-4DB2-A8A5-4E2FF3BEDBE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589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50645" y="203287"/>
            <a:ext cx="1465296" cy="241928"/>
          </a:xfrm>
          <a:prstGeom prst="rect">
            <a:avLst/>
          </a:prstGeom>
        </p:spPr>
      </p:pic>
      <p:cxnSp>
        <p:nvCxnSpPr>
          <p:cNvPr id="3145729" name="直接连接符 11"/>
          <p:cNvCxnSpPr>
            <a:cxnSpLocks/>
          </p:cNvCxnSpPr>
          <p:nvPr userDrawn="1"/>
        </p:nvCxnSpPr>
        <p:spPr bwMode="auto">
          <a:xfrm>
            <a:off x="0" y="606501"/>
            <a:ext cx="1219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102FA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5" name="图片 5"/>
          <p:cNvPicPr>
            <a:picLocks noChangeAspect="1"/>
          </p:cNvPicPr>
          <p:nvPr userDrawn="1"/>
        </p:nvPicPr>
        <p:blipFill rotWithShape="1">
          <a:blip r:embed="rId3" cstate="print"/>
          <a:srcRect r="27238" b="94845"/>
          <a:stretch>
            <a:fillRect/>
          </a:stretch>
        </p:blipFill>
        <p:spPr>
          <a:xfrm>
            <a:off x="0" y="6537282"/>
            <a:ext cx="12192000" cy="322571"/>
          </a:xfrm>
          <a:prstGeom prst="rect">
            <a:avLst/>
          </a:prstGeom>
        </p:spPr>
      </p:pic>
      <p:sp>
        <p:nvSpPr>
          <p:cNvPr id="1048593" name="文本框 10"/>
          <p:cNvSpPr txBox="1"/>
          <p:nvPr userDrawn="1"/>
        </p:nvSpPr>
        <p:spPr>
          <a:xfrm>
            <a:off x="9160381" y="6560136"/>
            <a:ext cx="2822454" cy="271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677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16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</a:t>
            </a:r>
            <a:r>
              <a:rPr lang="zh-CN" altLang="en-US" sz="116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重庆鑫景特种玻璃有限公司 版权所有</a:t>
            </a:r>
          </a:p>
        </p:txBody>
      </p:sp>
    </p:spTree>
    <p:extLst>
      <p:ext uri="{BB962C8B-B14F-4D97-AF65-F5344CB8AC3E}">
        <p14:creationId xmlns:p14="http://schemas.microsoft.com/office/powerpoint/2010/main" val="370780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标题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0"/>
          </a:xfrm>
        </p:spPr>
        <p:txBody>
          <a:bodyPr anchor="b"/>
          <a:lstStyle>
            <a:lvl1pPr algn="l">
              <a:defRPr sz="2418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8" name="内容占位符 2"/>
          <p:cNvSpPr>
            <a:spLocks noGrp="1"/>
          </p:cNvSpPr>
          <p:nvPr>
            <p:ph idx="1"/>
          </p:nvPr>
        </p:nvSpPr>
        <p:spPr>
          <a:xfrm>
            <a:off x="4766735" y="273050"/>
            <a:ext cx="6815666" cy="5853113"/>
          </a:xfrm>
        </p:spPr>
        <p:txBody>
          <a:bodyPr/>
          <a:lstStyle>
            <a:lvl1pPr>
              <a:defRPr sz="3868"/>
            </a:lvl1pPr>
            <a:lvl2pPr>
              <a:defRPr sz="3387"/>
            </a:lvl2pPr>
            <a:lvl3pPr>
              <a:defRPr sz="2905"/>
            </a:lvl3pPr>
            <a:lvl4pPr>
              <a:defRPr sz="2418"/>
            </a:lvl4pPr>
            <a:lvl5pPr>
              <a:defRPr sz="2418"/>
            </a:lvl5pPr>
            <a:lvl6pPr>
              <a:defRPr sz="2418"/>
            </a:lvl6pPr>
            <a:lvl7pPr>
              <a:defRPr sz="2418"/>
            </a:lvl7pPr>
            <a:lvl8pPr>
              <a:defRPr sz="2418"/>
            </a:lvl8pPr>
            <a:lvl9pPr>
              <a:defRPr sz="241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9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5" y="1435100"/>
            <a:ext cx="4011084" cy="4691063"/>
          </a:xfrm>
        </p:spPr>
        <p:txBody>
          <a:bodyPr/>
          <a:lstStyle>
            <a:lvl1pPr marL="0" indent="0">
              <a:buNone/>
              <a:defRPr sz="1693"/>
            </a:lvl1pPr>
            <a:lvl2pPr marL="553073" indent="0">
              <a:buNone/>
              <a:defRPr sz="1450"/>
            </a:lvl2pPr>
            <a:lvl3pPr marL="1106146" indent="0">
              <a:buNone/>
              <a:defRPr sz="1212"/>
            </a:lvl3pPr>
            <a:lvl4pPr marL="1659219" indent="0">
              <a:buNone/>
              <a:defRPr sz="1090"/>
            </a:lvl4pPr>
            <a:lvl5pPr marL="2211619" indent="0">
              <a:buNone/>
              <a:defRPr sz="1090"/>
            </a:lvl5pPr>
            <a:lvl6pPr marL="2764692" indent="0">
              <a:buNone/>
              <a:defRPr sz="1090"/>
            </a:lvl6pPr>
            <a:lvl7pPr marL="3317765" indent="0">
              <a:buNone/>
              <a:defRPr sz="1090"/>
            </a:lvl7pPr>
            <a:lvl8pPr marL="3870838" indent="0">
              <a:buNone/>
              <a:defRPr sz="1090"/>
            </a:lvl8pPr>
            <a:lvl9pPr marL="4423911" indent="0">
              <a:buNone/>
              <a:defRPr sz="10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0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1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2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485AFEA9-27DC-49D9-B1F3-4E8431DC61C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357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标题 1"/>
          <p:cNvSpPr>
            <a:spLocks noGrp="1"/>
          </p:cNvSpPr>
          <p:nvPr>
            <p:ph type="title"/>
          </p:nvPr>
        </p:nvSpPr>
        <p:spPr>
          <a:xfrm>
            <a:off x="2389718" y="4800606"/>
            <a:ext cx="7315200" cy="566738"/>
          </a:xfrm>
        </p:spPr>
        <p:txBody>
          <a:bodyPr anchor="b"/>
          <a:lstStyle>
            <a:lvl1pPr algn="l">
              <a:defRPr sz="2418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8" name="图片占位符 2"/>
          <p:cNvSpPr>
            <a:spLocks noGrp="1"/>
          </p:cNvSpPr>
          <p:nvPr>
            <p:ph type="pic" idx="1"/>
          </p:nvPr>
        </p:nvSpPr>
        <p:spPr>
          <a:xfrm>
            <a:off x="2389718" y="612782"/>
            <a:ext cx="7315200" cy="4114800"/>
          </a:xfrm>
        </p:spPr>
        <p:txBody>
          <a:bodyPr/>
          <a:lstStyle>
            <a:lvl1pPr marL="0" indent="0">
              <a:buNone/>
              <a:defRPr sz="3868"/>
            </a:lvl1pPr>
            <a:lvl2pPr marL="553073" indent="0">
              <a:buNone/>
              <a:defRPr sz="3387"/>
            </a:lvl2pPr>
            <a:lvl3pPr marL="1106146" indent="0">
              <a:buNone/>
              <a:defRPr sz="2905"/>
            </a:lvl3pPr>
            <a:lvl4pPr marL="1659219" indent="0">
              <a:buNone/>
              <a:defRPr sz="2418"/>
            </a:lvl4pPr>
            <a:lvl5pPr marL="2211619" indent="0">
              <a:buNone/>
              <a:defRPr sz="2418"/>
            </a:lvl5pPr>
            <a:lvl6pPr marL="2764692" indent="0">
              <a:buNone/>
              <a:defRPr sz="2418"/>
            </a:lvl6pPr>
            <a:lvl7pPr marL="3317765" indent="0">
              <a:buNone/>
              <a:defRPr sz="2418"/>
            </a:lvl7pPr>
            <a:lvl8pPr marL="3870838" indent="0">
              <a:buNone/>
              <a:defRPr sz="2418"/>
            </a:lvl8pPr>
            <a:lvl9pPr marL="4423911" indent="0">
              <a:buNone/>
              <a:defRPr sz="2418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1048719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693"/>
            </a:lvl1pPr>
            <a:lvl2pPr marL="553073" indent="0">
              <a:buNone/>
              <a:defRPr sz="1450"/>
            </a:lvl2pPr>
            <a:lvl3pPr marL="1106146" indent="0">
              <a:buNone/>
              <a:defRPr sz="1212"/>
            </a:lvl3pPr>
            <a:lvl4pPr marL="1659219" indent="0">
              <a:buNone/>
              <a:defRPr sz="1090"/>
            </a:lvl4pPr>
            <a:lvl5pPr marL="2211619" indent="0">
              <a:buNone/>
              <a:defRPr sz="1090"/>
            </a:lvl5pPr>
            <a:lvl6pPr marL="2764692" indent="0">
              <a:buNone/>
              <a:defRPr sz="1090"/>
            </a:lvl6pPr>
            <a:lvl7pPr marL="3317765" indent="0">
              <a:buNone/>
              <a:defRPr sz="1090"/>
            </a:lvl7pPr>
            <a:lvl8pPr marL="3870838" indent="0">
              <a:buNone/>
              <a:defRPr sz="1090"/>
            </a:lvl8pPr>
            <a:lvl9pPr marL="4423911" indent="0">
              <a:buNone/>
              <a:defRPr sz="10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20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1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2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3B0CBD04-028F-4C57-9DED-880B9D753624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044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4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2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7883300F-47D0-4A93-AC31-BE277D702843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1084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C823B625-784E-4173-B5E2-670015F29F4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4125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66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CB8ACA-03BA-45F5-BB79-7E3F525FD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6E0BEC-7FD0-4392-A3EC-43BC302C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2D232E-F414-4A29-A0C3-CA78736FF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33DD9-0E69-487D-AB8F-C32CE72216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41DA71-3942-4ABA-BBA3-57A7234E1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A5F1C-B4FC-4028-807F-5DE319B30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60F9B-5E60-43BD-857B-890508682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48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8644" y="273857"/>
            <a:ext cx="10974720" cy="1144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5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644" y="1599419"/>
            <a:ext cx="10974720" cy="45260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8643" y="6244779"/>
            <a:ext cx="2845440" cy="477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93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4857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401" y="6244779"/>
            <a:ext cx="3859200" cy="477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693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923" y="6244779"/>
            <a:ext cx="2845440" cy="477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693"/>
            </a:lvl1pPr>
          </a:lstStyle>
          <a:p>
            <a:fld id="{DE3CE9A3-0C4E-4B5C-AB12-E860370C588C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6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5pPr>
      <a:lvl6pPr marL="553073" algn="ctr" rtl="0" eaLnBrk="1" fontAlgn="base" hangingPunct="1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6pPr>
      <a:lvl7pPr marL="1106146" algn="ctr" rtl="0" eaLnBrk="1" fontAlgn="base" hangingPunct="1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7pPr>
      <a:lvl8pPr marL="1659219" algn="ctr" rtl="0" eaLnBrk="1" fontAlgn="base" hangingPunct="1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8pPr>
      <a:lvl9pPr marL="2211619" algn="ctr" rtl="0" eaLnBrk="1" fontAlgn="base" hangingPunct="1">
        <a:spcBef>
          <a:spcPct val="0"/>
        </a:spcBef>
        <a:spcAft>
          <a:spcPct val="0"/>
        </a:spcAft>
        <a:defRPr sz="5323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414637" indent="-414637" algn="l" rtl="0" eaLnBrk="0" fontAlgn="base" hangingPunct="0">
        <a:spcBef>
          <a:spcPct val="20000"/>
        </a:spcBef>
        <a:spcAft>
          <a:spcPct val="0"/>
        </a:spcAft>
        <a:buChar char="•"/>
        <a:defRPr sz="3868">
          <a:solidFill>
            <a:schemeClr val="tx1"/>
          </a:solidFill>
          <a:latin typeface="+mn-lt"/>
          <a:ea typeface="+mn-ea"/>
          <a:cs typeface="+mn-cs"/>
        </a:defRPr>
      </a:lvl1pPr>
      <a:lvl2pPr marL="898491" indent="-345419" algn="l" rtl="0" eaLnBrk="0" fontAlgn="base" hangingPunct="0">
        <a:spcBef>
          <a:spcPct val="20000"/>
        </a:spcBef>
        <a:spcAft>
          <a:spcPct val="0"/>
        </a:spcAft>
        <a:buChar char="–"/>
        <a:defRPr sz="3387">
          <a:solidFill>
            <a:schemeClr val="tx1"/>
          </a:solidFill>
          <a:latin typeface="+mn-lt"/>
        </a:defRPr>
      </a:lvl2pPr>
      <a:lvl3pPr marL="1382346" indent="-276200" algn="l" rtl="0" eaLnBrk="0" fontAlgn="base" hangingPunct="0">
        <a:spcBef>
          <a:spcPct val="20000"/>
        </a:spcBef>
        <a:spcAft>
          <a:spcPct val="0"/>
        </a:spcAft>
        <a:buChar char="•"/>
        <a:defRPr sz="2905">
          <a:solidFill>
            <a:schemeClr val="tx1"/>
          </a:solidFill>
          <a:latin typeface="+mn-lt"/>
        </a:defRPr>
      </a:lvl3pPr>
      <a:lvl4pPr marL="1935419" indent="-276200" algn="l" rtl="0" eaLnBrk="0" fontAlgn="base" hangingPunct="0">
        <a:spcBef>
          <a:spcPct val="20000"/>
        </a:spcBef>
        <a:spcAft>
          <a:spcPct val="0"/>
        </a:spcAft>
        <a:buChar char="–"/>
        <a:defRPr sz="2418">
          <a:solidFill>
            <a:schemeClr val="tx1"/>
          </a:solidFill>
          <a:latin typeface="+mn-lt"/>
        </a:defRPr>
      </a:lvl4pPr>
      <a:lvl5pPr marL="2488492" indent="-276200" algn="l" rtl="0" eaLnBrk="0" fontAlgn="base" hangingPunct="0">
        <a:spcBef>
          <a:spcPct val="20000"/>
        </a:spcBef>
        <a:spcAft>
          <a:spcPct val="0"/>
        </a:spcAft>
        <a:buChar char="»"/>
        <a:defRPr sz="2418">
          <a:solidFill>
            <a:schemeClr val="tx1"/>
          </a:solidFill>
          <a:latin typeface="+mn-lt"/>
        </a:defRPr>
      </a:lvl5pPr>
      <a:lvl6pPr marL="3041565" indent="-276200" algn="l" rtl="0" eaLnBrk="1" fontAlgn="base" hangingPunct="1">
        <a:spcBef>
          <a:spcPct val="20000"/>
        </a:spcBef>
        <a:spcAft>
          <a:spcPct val="0"/>
        </a:spcAft>
        <a:buChar char="»"/>
        <a:defRPr sz="2418">
          <a:solidFill>
            <a:schemeClr val="tx1"/>
          </a:solidFill>
          <a:latin typeface="+mn-lt"/>
        </a:defRPr>
      </a:lvl6pPr>
      <a:lvl7pPr marL="3594638" indent="-276200" algn="l" rtl="0" eaLnBrk="1" fontAlgn="base" hangingPunct="1">
        <a:spcBef>
          <a:spcPct val="20000"/>
        </a:spcBef>
        <a:spcAft>
          <a:spcPct val="0"/>
        </a:spcAft>
        <a:buChar char="»"/>
        <a:defRPr sz="2418">
          <a:solidFill>
            <a:schemeClr val="tx1"/>
          </a:solidFill>
          <a:latin typeface="+mn-lt"/>
        </a:defRPr>
      </a:lvl7pPr>
      <a:lvl8pPr marL="4147711" indent="-276200" algn="l" rtl="0" eaLnBrk="1" fontAlgn="base" hangingPunct="1">
        <a:spcBef>
          <a:spcPct val="20000"/>
        </a:spcBef>
        <a:spcAft>
          <a:spcPct val="0"/>
        </a:spcAft>
        <a:buChar char="»"/>
        <a:defRPr sz="2418">
          <a:solidFill>
            <a:schemeClr val="tx1"/>
          </a:solidFill>
          <a:latin typeface="+mn-lt"/>
        </a:defRPr>
      </a:lvl8pPr>
      <a:lvl9pPr marL="4700111" indent="-276200" algn="l" rtl="0" eaLnBrk="1" fontAlgn="base" hangingPunct="1">
        <a:spcBef>
          <a:spcPct val="20000"/>
        </a:spcBef>
        <a:spcAft>
          <a:spcPct val="0"/>
        </a:spcAft>
        <a:buChar char="»"/>
        <a:defRPr sz="2418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73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46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9219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619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692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765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838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911" algn="l" defTabSz="1106146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45590"/>
            <a:ext cx="12192001" cy="43994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62861" y="2026842"/>
            <a:ext cx="6932783" cy="54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963" b="1" dirty="0">
                <a:solidFill>
                  <a:schemeClr val="bg1"/>
                </a:solidFill>
                <a:latin typeface="+mn-ea"/>
              </a:rPr>
              <a:t>财经管理部</a:t>
            </a:r>
            <a:r>
              <a:rPr lang="en-US" altLang="zh-CN" sz="2963" b="1" dirty="0">
                <a:solidFill>
                  <a:schemeClr val="bg1"/>
                </a:solidFill>
                <a:latin typeface="+mn-ea"/>
              </a:rPr>
              <a:t>&amp;</a:t>
            </a:r>
            <a:r>
              <a:rPr lang="zh-CN" altLang="en-US" sz="2963" b="1" dirty="0">
                <a:solidFill>
                  <a:schemeClr val="bg1"/>
                </a:solidFill>
                <a:latin typeface="+mn-ea"/>
              </a:rPr>
              <a:t>融资部管理月会</a:t>
            </a:r>
            <a:endParaRPr lang="en-US" altLang="zh-CN" sz="2963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>
            <a:off x="6660491" y="2980987"/>
            <a:ext cx="437631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文本框 24"/>
          <p:cNvSpPr txBox="1"/>
          <p:nvPr/>
        </p:nvSpPr>
        <p:spPr>
          <a:xfrm>
            <a:off x="6579849" y="3035010"/>
            <a:ext cx="4594177" cy="613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905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重庆鑫景特种玻璃有限公司</a:t>
            </a:r>
            <a:endParaRPr lang="en-US" altLang="zh-CN" sz="1905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r"/>
            <a:r>
              <a:rPr lang="en-US" altLang="zh-CN" sz="1482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Chongqing </a:t>
            </a:r>
            <a:r>
              <a:rPr lang="en-US" altLang="zh-CN" sz="1482" dirty="0" err="1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Aureavia</a:t>
            </a:r>
            <a:r>
              <a:rPr lang="en-US" altLang="zh-CN" sz="1482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 Hi-tech Glass CO.,LTD.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0" y="408345"/>
            <a:ext cx="2177323" cy="35948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725559" y="4477270"/>
            <a:ext cx="1448468" cy="28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en-US" altLang="zh-CN" sz="127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2025</a:t>
            </a:r>
            <a:r>
              <a:rPr lang="zh-CN" altLang="en-US" sz="127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年</a:t>
            </a:r>
            <a:r>
              <a:rPr lang="en-US" altLang="zh-CN" sz="127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2</a:t>
            </a:r>
            <a:r>
              <a:rPr lang="zh-CN" altLang="en-US" sz="127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月</a:t>
            </a:r>
            <a:r>
              <a:rPr lang="en-US" altLang="zh-CN" sz="127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20</a:t>
            </a:r>
            <a:r>
              <a:rPr lang="zh-CN" altLang="en-US" sz="1270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日</a:t>
            </a:r>
            <a:endParaRPr lang="en-US" altLang="zh-CN" sz="1270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文本框 27"/>
          <p:cNvSpPr txBox="1"/>
          <p:nvPr/>
        </p:nvSpPr>
        <p:spPr>
          <a:xfrm>
            <a:off x="370448" y="122695"/>
            <a:ext cx="6048118" cy="48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677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4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目 录</a:t>
            </a:r>
            <a:endParaRPr kumimoji="0" lang="en-US" altLang="zh-CN" sz="254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048595" name="文本框 1"/>
          <p:cNvSpPr txBox="1"/>
          <p:nvPr/>
        </p:nvSpPr>
        <p:spPr>
          <a:xfrm>
            <a:off x="3125084" y="2011753"/>
            <a:ext cx="8144800" cy="2133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kumimoji="0" lang="en-US" altLang="zh-CN" sz="232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25</a:t>
            </a: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</a:t>
            </a:r>
            <a:r>
              <a:rPr kumimoji="0" lang="en-US" altLang="zh-CN" sz="232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H1</a:t>
            </a: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年中会议报告解读</a:t>
            </a:r>
            <a:endParaRPr kumimoji="0" lang="en-US" altLang="zh-CN" sz="2328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lang="zh-CN" altLang="en-US" sz="2328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</a:rPr>
              <a:t>财经体系面临的新挑战</a:t>
            </a:r>
            <a:endParaRPr lang="en-US" altLang="zh-CN" sz="2328" dirty="0">
              <a:solidFill>
                <a:srgbClr val="FFFFFF">
                  <a:lumMod val="50000"/>
                </a:srgbClr>
              </a:solidFill>
              <a:latin typeface="微软雅黑"/>
              <a:ea typeface="微软雅黑"/>
            </a:endParaRPr>
          </a:p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kumimoji="0" lang="zh-CN" altLang="en-US" sz="2328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组织与个人能力提升</a:t>
            </a:r>
            <a:endParaRPr kumimoji="0" lang="en-US" altLang="zh-CN" sz="2328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94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文本框 27"/>
          <p:cNvSpPr txBox="1"/>
          <p:nvPr/>
        </p:nvSpPr>
        <p:spPr>
          <a:xfrm>
            <a:off x="370448" y="122695"/>
            <a:ext cx="6048118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defTabSz="96771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/>
                <a:ea typeface="微软雅黑"/>
              </a:rPr>
              <a:t>25</a:t>
            </a:r>
            <a:r>
              <a:rPr lang="zh-CN" altLang="en-US" b="1" dirty="0">
                <a:solidFill>
                  <a:srgbClr val="000000"/>
                </a:solidFill>
                <a:latin typeface="微软雅黑"/>
                <a:ea typeface="微软雅黑"/>
              </a:rPr>
              <a:t>年</a:t>
            </a:r>
            <a:r>
              <a:rPr lang="en-US" altLang="zh-CN" b="1" dirty="0">
                <a:solidFill>
                  <a:srgbClr val="000000"/>
                </a:solidFill>
                <a:latin typeface="微软雅黑"/>
                <a:ea typeface="微软雅黑"/>
              </a:rPr>
              <a:t>H1</a:t>
            </a:r>
            <a:r>
              <a:rPr lang="zh-CN" altLang="en-US" b="1" dirty="0">
                <a:solidFill>
                  <a:srgbClr val="000000"/>
                </a:solidFill>
                <a:latin typeface="微软雅黑"/>
                <a:ea typeface="微软雅黑"/>
              </a:rPr>
              <a:t>年中会议报告解读</a:t>
            </a:r>
            <a:endParaRPr lang="en-US" altLang="zh-CN" b="1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marR="0" lvl="0" indent="0" algn="l" defTabSz="9677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4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AF51E0-6B11-45CD-9EB8-FCF3D24F78A5}"/>
              </a:ext>
            </a:extLst>
          </p:cNvPr>
          <p:cNvSpPr txBox="1"/>
          <p:nvPr/>
        </p:nvSpPr>
        <p:spPr>
          <a:xfrm>
            <a:off x="1657352" y="1697238"/>
            <a:ext cx="9372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说在前面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、公司战略，部门目标，个人工作；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、公司目标，组织能力，个人提升；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3ACF7A7-CB88-44D7-BA13-77DEC88603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033125"/>
              </p:ext>
            </p:extLst>
          </p:nvPr>
        </p:nvGraphicFramePr>
        <p:xfrm>
          <a:off x="4642757" y="391451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Acrobat Document" showAsIcon="1" r:id="rId4" imgW="914642" imgH="792480" progId="Acrobat.Document.DC">
                  <p:embed/>
                </p:oleObj>
              </mc:Choice>
              <mc:Fallback>
                <p:oleObj name="Acrobat Document" showAsIcon="1" r:id="rId4" imgW="914642" imgH="79248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42757" y="391451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文本框 27"/>
          <p:cNvSpPr txBox="1"/>
          <p:nvPr/>
        </p:nvSpPr>
        <p:spPr>
          <a:xfrm>
            <a:off x="370448" y="122695"/>
            <a:ext cx="6048118" cy="48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677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4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目 录</a:t>
            </a:r>
            <a:endParaRPr kumimoji="0" lang="en-US" altLang="zh-CN" sz="254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048595" name="文本框 1"/>
          <p:cNvSpPr txBox="1"/>
          <p:nvPr/>
        </p:nvSpPr>
        <p:spPr>
          <a:xfrm>
            <a:off x="3125084" y="2011753"/>
            <a:ext cx="8144800" cy="2133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kumimoji="0" lang="en-US" altLang="zh-CN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25</a:t>
            </a: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</a:t>
            </a:r>
            <a:r>
              <a:rPr kumimoji="0" lang="en-US" altLang="zh-CN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H1</a:t>
            </a: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年中会议报告解读</a:t>
            </a:r>
            <a:endParaRPr kumimoji="0" lang="en-US" altLang="zh-CN" sz="2328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lang="zh-CN" altLang="en-US" sz="2328" b="1" dirty="0">
                <a:latin typeface="微软雅黑"/>
                <a:ea typeface="微软雅黑"/>
              </a:rPr>
              <a:t>财经体系面临的新挑战</a:t>
            </a:r>
            <a:endParaRPr lang="en-US" altLang="zh-CN" sz="2328" b="1" dirty="0">
              <a:latin typeface="微软雅黑"/>
              <a:ea typeface="微软雅黑"/>
            </a:endParaRPr>
          </a:p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kumimoji="0" lang="zh-CN" altLang="en-US" sz="2328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组织与个人能力提升</a:t>
            </a:r>
            <a:endParaRPr kumimoji="0" lang="en-US" altLang="zh-CN" sz="2328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69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5121">
            <a:extLst>
              <a:ext uri="{FF2B5EF4-FFF2-40B4-BE49-F238E27FC236}">
                <a16:creationId xmlns:a16="http://schemas.microsoft.com/office/drawing/2014/main" id="{8EE056AC-FF2C-421A-8EB0-E96BBDB0C685}"/>
              </a:ext>
            </a:extLst>
          </p:cNvPr>
          <p:cNvSpPr txBox="1"/>
          <p:nvPr/>
        </p:nvSpPr>
        <p:spPr>
          <a:xfrm>
            <a:off x="47328" y="44624"/>
            <a:ext cx="11161240" cy="520065"/>
          </a:xfrm>
          <a:prstGeom prst="rect">
            <a:avLst/>
          </a:prstGeom>
        </p:spPr>
        <p:txBody>
          <a:bodyPr vert="horz" lIns="38099" tIns="38099" rIns="38099" bIns="38099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坚定向财经的愿景和发展目标奋进</a:t>
            </a:r>
            <a:endParaRPr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93E994B5-199A-4CB9-B537-B9EE1941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2028434"/>
            <a:ext cx="11035569" cy="510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公司战略为导向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诚信为基础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合规为前提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恪尽职守为己任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价值创造为目标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D82FDBF7-98F8-48C5-9F47-FCEA2C6FD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4149080"/>
            <a:ext cx="11593288" cy="1495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推动实现财务管理功能由会计核算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向价值创造转变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财务管控模式由被动接受业务端信息向主动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贴近业务端进行价值分析、细化政策执行转变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财务人才队伍由会计核算型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向财务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BP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和管理转变。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FB57800-376D-4F4D-811E-5DACD0BF4864}"/>
              </a:ext>
            </a:extLst>
          </p:cNvPr>
          <p:cNvGrpSpPr/>
          <p:nvPr/>
        </p:nvGrpSpPr>
        <p:grpSpPr>
          <a:xfrm>
            <a:off x="407368" y="924941"/>
            <a:ext cx="2585300" cy="2810271"/>
            <a:chOff x="7063" y="3693"/>
            <a:chExt cx="4518" cy="3767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BE03035-8B65-4EE3-A466-BD019D70DAF6}"/>
                </a:ext>
              </a:extLst>
            </p:cNvPr>
            <p:cNvCxnSpPr/>
            <p:nvPr/>
          </p:nvCxnSpPr>
          <p:spPr>
            <a:xfrm flipH="1">
              <a:off x="9902" y="4157"/>
              <a:ext cx="1663" cy="0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1DD494D-A950-4656-8855-60F5679CB47B}"/>
                </a:ext>
              </a:extLst>
            </p:cNvPr>
            <p:cNvCxnSpPr/>
            <p:nvPr/>
          </p:nvCxnSpPr>
          <p:spPr>
            <a:xfrm flipH="1">
              <a:off x="9918" y="7007"/>
              <a:ext cx="1663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C65C255-D085-499C-89FD-36F2E2CE46A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7063" y="3693"/>
              <a:ext cx="2714" cy="97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发展愿景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C45401E-BBC8-4514-90F5-BD053D83749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063" y="6469"/>
              <a:ext cx="2738" cy="991"/>
            </a:xfrm>
            <a:prstGeom prst="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发展目标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87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文本框 199">
            <a:extLst>
              <a:ext uri="{FF2B5EF4-FFF2-40B4-BE49-F238E27FC236}">
                <a16:creationId xmlns:a16="http://schemas.microsoft.com/office/drawing/2014/main" id="{767D7DDA-640E-448E-8A4E-73B4341AA918}"/>
              </a:ext>
            </a:extLst>
          </p:cNvPr>
          <p:cNvSpPr txBox="1"/>
          <p:nvPr/>
        </p:nvSpPr>
        <p:spPr>
          <a:xfrm>
            <a:off x="403587" y="49453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年度部门工作方向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—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加强深度，保证进度，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cs typeface="+mn-ea"/>
                <a:sym typeface="+mn-lt"/>
              </a:rPr>
              <a:t>体现结果</a:t>
            </a:r>
          </a:p>
        </p:txBody>
      </p: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FD036E4D-7EAB-44A2-931E-4DE59815DB85}"/>
              </a:ext>
            </a:extLst>
          </p:cNvPr>
          <p:cNvGrpSpPr/>
          <p:nvPr/>
        </p:nvGrpSpPr>
        <p:grpSpPr>
          <a:xfrm>
            <a:off x="1055440" y="1052736"/>
            <a:ext cx="9111842" cy="5257565"/>
            <a:chOff x="1058936" y="994487"/>
            <a:chExt cx="9111842" cy="5257565"/>
          </a:xfrm>
        </p:grpSpPr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99084765-CE78-4FB0-8376-BF5C84648774}"/>
                </a:ext>
              </a:extLst>
            </p:cNvPr>
            <p:cNvGrpSpPr/>
            <p:nvPr/>
          </p:nvGrpSpPr>
          <p:grpSpPr>
            <a:xfrm>
              <a:off x="1058936" y="994487"/>
              <a:ext cx="9045170" cy="5257565"/>
              <a:chOff x="595568" y="1542451"/>
              <a:chExt cx="7134024" cy="4146700"/>
            </a:xfrm>
          </p:grpSpPr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4BF4EE77-E683-4156-B708-C0C1EB98DE59}"/>
                  </a:ext>
                </a:extLst>
              </p:cNvPr>
              <p:cNvGrpSpPr/>
              <p:nvPr/>
            </p:nvGrpSpPr>
            <p:grpSpPr>
              <a:xfrm>
                <a:off x="2817455" y="1875344"/>
                <a:ext cx="824334" cy="824334"/>
                <a:chOff x="2877835" y="2955360"/>
                <a:chExt cx="824334" cy="824334"/>
              </a:xfrm>
            </p:grpSpPr>
            <p:grpSp>
              <p:nvGrpSpPr>
                <p:cNvPr id="256" name="组合 255">
                  <a:extLst>
                    <a:ext uri="{FF2B5EF4-FFF2-40B4-BE49-F238E27FC236}">
                      <a16:creationId xmlns:a16="http://schemas.microsoft.com/office/drawing/2014/main" id="{0F1C25EC-FAD7-44CE-947D-FEA76364C537}"/>
                    </a:ext>
                  </a:extLst>
                </p:cNvPr>
                <p:cNvGrpSpPr/>
                <p:nvPr/>
              </p:nvGrpSpPr>
              <p:grpSpPr>
                <a:xfrm>
                  <a:off x="2877835" y="2955360"/>
                  <a:ext cx="824334" cy="824334"/>
                  <a:chOff x="3567745" y="3971974"/>
                  <a:chExt cx="1338084" cy="1338084"/>
                </a:xfrm>
              </p:grpSpPr>
              <p:grpSp>
                <p:nvGrpSpPr>
                  <p:cNvPr id="261" name="组合 260">
                    <a:extLst>
                      <a:ext uri="{FF2B5EF4-FFF2-40B4-BE49-F238E27FC236}">
                        <a16:creationId xmlns:a16="http://schemas.microsoft.com/office/drawing/2014/main" id="{A97A42E6-E1CA-4E01-87E3-2F952856D614}"/>
                      </a:ext>
                    </a:extLst>
                  </p:cNvPr>
                  <p:cNvGrpSpPr/>
                  <p:nvPr/>
                </p:nvGrpSpPr>
                <p:grpSpPr>
                  <a:xfrm>
                    <a:off x="3567745" y="3971974"/>
                    <a:ext cx="1338084" cy="1338084"/>
                    <a:chOff x="5213600" y="2517129"/>
                    <a:chExt cx="2023672" cy="2023672"/>
                  </a:xfrm>
                </p:grpSpPr>
                <p:sp>
                  <p:nvSpPr>
                    <p:cNvPr id="263" name="椭圆 262">
                      <a:extLst>
                        <a:ext uri="{FF2B5EF4-FFF2-40B4-BE49-F238E27FC236}">
                          <a16:creationId xmlns:a16="http://schemas.microsoft.com/office/drawing/2014/main" id="{D840AFBA-8FFB-4F5E-BA18-42C521FE31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3600" y="2517129"/>
                      <a:ext cx="2023672" cy="202367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E0E0E0"/>
                        </a:gs>
                      </a:gsLst>
                      <a:lin ang="54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>
                      <a:outerShdw blurRad="279400" dist="2540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64" name="椭圆 263">
                      <a:extLst>
                        <a:ext uri="{FF2B5EF4-FFF2-40B4-BE49-F238E27FC236}">
                          <a16:creationId xmlns:a16="http://schemas.microsoft.com/office/drawing/2014/main" id="{8A23A15C-91A3-484D-991B-9E536483D8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0739" y="2564268"/>
                      <a:ext cx="1929394" cy="192939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DDDEDD"/>
                        </a:gs>
                      </a:gsLst>
                      <a:lin ang="189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62" name="椭圆 261">
                    <a:extLst>
                      <a:ext uri="{FF2B5EF4-FFF2-40B4-BE49-F238E27FC236}">
                        <a16:creationId xmlns:a16="http://schemas.microsoft.com/office/drawing/2014/main" id="{9AE4CFD1-B063-4039-BD54-1EC02A6075B8}"/>
                      </a:ext>
                    </a:extLst>
                  </p:cNvPr>
                  <p:cNvSpPr/>
                  <p:nvPr/>
                </p:nvSpPr>
                <p:spPr>
                  <a:xfrm>
                    <a:off x="3695022" y="4099252"/>
                    <a:ext cx="1083527" cy="1083527"/>
                  </a:xfrm>
                  <a:prstGeom prst="ellipse">
                    <a:avLst/>
                  </a:prstGeom>
                  <a:solidFill>
                    <a:srgbClr val="4F81BD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宋体" panose="02010600030101010101" pitchFamily="2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57" name="Group 64">
                  <a:extLst>
                    <a:ext uri="{FF2B5EF4-FFF2-40B4-BE49-F238E27FC236}">
                      <a16:creationId xmlns:a16="http://schemas.microsoft.com/office/drawing/2014/main" id="{3166357D-32F6-4308-94BE-976A8470F18F}"/>
                    </a:ext>
                  </a:extLst>
                </p:cNvPr>
                <p:cNvGrpSpPr/>
                <p:nvPr/>
              </p:nvGrpSpPr>
              <p:grpSpPr>
                <a:xfrm>
                  <a:off x="3099527" y="3212058"/>
                  <a:ext cx="369596" cy="310939"/>
                  <a:chOff x="5368132" y="2625725"/>
                  <a:chExt cx="465138" cy="391319"/>
                </a:xfrm>
                <a:solidFill>
                  <a:srgbClr val="FFFFFF"/>
                </a:solidFill>
              </p:grpSpPr>
              <p:sp>
                <p:nvSpPr>
                  <p:cNvPr id="258" name="AutoShape 120">
                    <a:extLst>
                      <a:ext uri="{FF2B5EF4-FFF2-40B4-BE49-F238E27FC236}">
                        <a16:creationId xmlns:a16="http://schemas.microsoft.com/office/drawing/2014/main" id="{94FDF68A-F87B-41E3-9D54-25545993FB6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84813" y="2727325"/>
                    <a:ext cx="231775" cy="231775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6948" y="16070"/>
                        </a:moveTo>
                        <a:cubicBezTo>
                          <a:pt x="14037" y="19468"/>
                          <a:pt x="8925" y="19859"/>
                          <a:pt x="5529" y="16948"/>
                        </a:cubicBezTo>
                        <a:cubicBezTo>
                          <a:pt x="2130" y="14038"/>
                          <a:pt x="1740" y="8924"/>
                          <a:pt x="4651" y="5527"/>
                        </a:cubicBezTo>
                        <a:cubicBezTo>
                          <a:pt x="7559" y="2131"/>
                          <a:pt x="12674" y="1740"/>
                          <a:pt x="16070" y="4650"/>
                        </a:cubicBezTo>
                        <a:cubicBezTo>
                          <a:pt x="19466" y="7560"/>
                          <a:pt x="19859" y="12673"/>
                          <a:pt x="16948" y="16070"/>
                        </a:cubicBezTo>
                        <a:moveTo>
                          <a:pt x="10800" y="0"/>
                        </a:moveTo>
                        <a:cubicBezTo>
                          <a:pt x="4833" y="0"/>
                          <a:pt x="0" y="4834"/>
                          <a:pt x="0" y="10800"/>
                        </a:cubicBezTo>
                        <a:cubicBezTo>
                          <a:pt x="0" y="16765"/>
                          <a:pt x="4833" y="21599"/>
                          <a:pt x="10800" y="21599"/>
                        </a:cubicBezTo>
                        <a:cubicBezTo>
                          <a:pt x="16764" y="21599"/>
                          <a:pt x="21600" y="16765"/>
                          <a:pt x="21600" y="10800"/>
                        </a:cubicBezTo>
                        <a:cubicBezTo>
                          <a:pt x="21600" y="4834"/>
                          <a:pt x="16764" y="0"/>
                          <a:pt x="1080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59" name="AutoShape 121">
                    <a:extLst>
                      <a:ext uri="{FF2B5EF4-FFF2-40B4-BE49-F238E27FC236}">
                        <a16:creationId xmlns:a16="http://schemas.microsoft.com/office/drawing/2014/main" id="{08448838-BFE7-4BA4-9FF2-2483967D8E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757" y="2785269"/>
                    <a:ext cx="65088" cy="65088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9200" y="0"/>
                        </a:moveTo>
                        <a:cubicBezTo>
                          <a:pt x="8596" y="0"/>
                          <a:pt x="0" y="8596"/>
                          <a:pt x="0" y="19195"/>
                        </a:cubicBezTo>
                        <a:lnTo>
                          <a:pt x="0" y="19199"/>
                        </a:lnTo>
                        <a:cubicBezTo>
                          <a:pt x="0" y="20524"/>
                          <a:pt x="1068" y="21599"/>
                          <a:pt x="2400" y="21599"/>
                        </a:cubicBezTo>
                        <a:cubicBezTo>
                          <a:pt x="3721" y="21599"/>
                          <a:pt x="4800" y="20524"/>
                          <a:pt x="4800" y="19199"/>
                        </a:cubicBezTo>
                        <a:lnTo>
                          <a:pt x="4800" y="19195"/>
                        </a:lnTo>
                        <a:cubicBezTo>
                          <a:pt x="4800" y="11247"/>
                          <a:pt x="11240" y="4799"/>
                          <a:pt x="19200" y="4799"/>
                        </a:cubicBezTo>
                        <a:cubicBezTo>
                          <a:pt x="20521" y="4799"/>
                          <a:pt x="21600" y="3724"/>
                          <a:pt x="21600" y="2399"/>
                        </a:cubicBezTo>
                        <a:cubicBezTo>
                          <a:pt x="21600" y="1075"/>
                          <a:pt x="20521" y="0"/>
                          <a:pt x="1920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60" name="AutoShape 122">
                    <a:extLst>
                      <a:ext uri="{FF2B5EF4-FFF2-40B4-BE49-F238E27FC236}">
                        <a16:creationId xmlns:a16="http://schemas.microsoft.com/office/drawing/2014/main" id="{8BBBF2D3-6A06-4E6C-AE77-D3925C81D9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68132" y="2625725"/>
                    <a:ext cx="465138" cy="391319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20249" y="19199"/>
                        </a:moveTo>
                        <a:cubicBezTo>
                          <a:pt x="20249" y="19642"/>
                          <a:pt x="19948" y="19999"/>
                          <a:pt x="19575" y="19999"/>
                        </a:cubicBezTo>
                        <a:lnTo>
                          <a:pt x="2024" y="19999"/>
                        </a:lnTo>
                        <a:cubicBezTo>
                          <a:pt x="1651" y="19999"/>
                          <a:pt x="1349" y="19642"/>
                          <a:pt x="1349" y="19199"/>
                        </a:cubicBezTo>
                        <a:lnTo>
                          <a:pt x="1349" y="7200"/>
                        </a:lnTo>
                        <a:cubicBezTo>
                          <a:pt x="1349" y="6809"/>
                          <a:pt x="1588" y="6475"/>
                          <a:pt x="1914" y="6411"/>
                        </a:cubicBezTo>
                        <a:lnTo>
                          <a:pt x="5588" y="5684"/>
                        </a:lnTo>
                        <a:lnTo>
                          <a:pt x="6797" y="2103"/>
                        </a:lnTo>
                        <a:cubicBezTo>
                          <a:pt x="6900" y="1799"/>
                          <a:pt x="7148" y="1600"/>
                          <a:pt x="7424" y="1600"/>
                        </a:cubicBezTo>
                        <a:lnTo>
                          <a:pt x="14174" y="1600"/>
                        </a:lnTo>
                        <a:cubicBezTo>
                          <a:pt x="14450" y="1600"/>
                          <a:pt x="14698" y="1799"/>
                          <a:pt x="14801" y="2103"/>
                        </a:cubicBezTo>
                        <a:lnTo>
                          <a:pt x="16010" y="5684"/>
                        </a:lnTo>
                        <a:lnTo>
                          <a:pt x="19685" y="6411"/>
                        </a:lnTo>
                        <a:cubicBezTo>
                          <a:pt x="20011" y="6475"/>
                          <a:pt x="20249" y="6809"/>
                          <a:pt x="20249" y="7200"/>
                        </a:cubicBezTo>
                        <a:cubicBezTo>
                          <a:pt x="20249" y="7200"/>
                          <a:pt x="20249" y="19199"/>
                          <a:pt x="20249" y="19199"/>
                        </a:cubicBezTo>
                        <a:close/>
                        <a:moveTo>
                          <a:pt x="19907" y="4832"/>
                        </a:moveTo>
                        <a:lnTo>
                          <a:pt x="16981" y="4254"/>
                        </a:lnTo>
                        <a:lnTo>
                          <a:pt x="16054" y="1507"/>
                        </a:lnTo>
                        <a:cubicBezTo>
                          <a:pt x="15745" y="591"/>
                          <a:pt x="15006" y="0"/>
                          <a:pt x="14174" y="0"/>
                        </a:cubicBezTo>
                        <a:lnTo>
                          <a:pt x="7424" y="0"/>
                        </a:lnTo>
                        <a:cubicBezTo>
                          <a:pt x="6593" y="0"/>
                          <a:pt x="5854" y="591"/>
                          <a:pt x="5543" y="1509"/>
                        </a:cubicBezTo>
                        <a:lnTo>
                          <a:pt x="4618" y="4254"/>
                        </a:lnTo>
                        <a:lnTo>
                          <a:pt x="1692" y="4832"/>
                        </a:lnTo>
                        <a:cubicBezTo>
                          <a:pt x="711" y="5025"/>
                          <a:pt x="0" y="6020"/>
                          <a:pt x="0" y="7200"/>
                        </a:cubicBezTo>
                        <a:lnTo>
                          <a:pt x="0" y="19199"/>
                        </a:lnTo>
                        <a:cubicBezTo>
                          <a:pt x="0" y="20523"/>
                          <a:pt x="908" y="21600"/>
                          <a:pt x="2024" y="21600"/>
                        </a:cubicBezTo>
                        <a:lnTo>
                          <a:pt x="19575" y="21600"/>
                        </a:lnTo>
                        <a:cubicBezTo>
                          <a:pt x="20691" y="21600"/>
                          <a:pt x="21600" y="20523"/>
                          <a:pt x="21600" y="19199"/>
                        </a:cubicBezTo>
                        <a:lnTo>
                          <a:pt x="21600" y="7200"/>
                        </a:lnTo>
                        <a:cubicBezTo>
                          <a:pt x="21600" y="6020"/>
                          <a:pt x="20888" y="5025"/>
                          <a:pt x="19907" y="4832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207" name="组合 206">
                <a:extLst>
                  <a:ext uri="{FF2B5EF4-FFF2-40B4-BE49-F238E27FC236}">
                    <a16:creationId xmlns:a16="http://schemas.microsoft.com/office/drawing/2014/main" id="{7A3D6CEC-4045-4CC2-BC2C-09803D2C585F}"/>
                  </a:ext>
                </a:extLst>
              </p:cNvPr>
              <p:cNvGrpSpPr/>
              <p:nvPr/>
            </p:nvGrpSpPr>
            <p:grpSpPr>
              <a:xfrm>
                <a:off x="4627123" y="1672507"/>
                <a:ext cx="1026002" cy="1026002"/>
                <a:chOff x="5801785" y="2730017"/>
                <a:chExt cx="824334" cy="824334"/>
              </a:xfrm>
            </p:grpSpPr>
            <p:grpSp>
              <p:nvGrpSpPr>
                <p:cNvPr id="247" name="组合 246">
                  <a:extLst>
                    <a:ext uri="{FF2B5EF4-FFF2-40B4-BE49-F238E27FC236}">
                      <a16:creationId xmlns:a16="http://schemas.microsoft.com/office/drawing/2014/main" id="{0BA57F77-FDD9-4801-A4D6-12188E608967}"/>
                    </a:ext>
                  </a:extLst>
                </p:cNvPr>
                <p:cNvGrpSpPr/>
                <p:nvPr/>
              </p:nvGrpSpPr>
              <p:grpSpPr>
                <a:xfrm>
                  <a:off x="5801785" y="2730017"/>
                  <a:ext cx="824334" cy="824334"/>
                  <a:chOff x="3567745" y="3971974"/>
                  <a:chExt cx="1338084" cy="1338084"/>
                </a:xfrm>
              </p:grpSpPr>
              <p:grpSp>
                <p:nvGrpSpPr>
                  <p:cNvPr id="252" name="组合 251">
                    <a:extLst>
                      <a:ext uri="{FF2B5EF4-FFF2-40B4-BE49-F238E27FC236}">
                        <a16:creationId xmlns:a16="http://schemas.microsoft.com/office/drawing/2014/main" id="{E876BEA8-EA51-411C-BC93-CE6EDEB7B829}"/>
                      </a:ext>
                    </a:extLst>
                  </p:cNvPr>
                  <p:cNvGrpSpPr/>
                  <p:nvPr/>
                </p:nvGrpSpPr>
                <p:grpSpPr>
                  <a:xfrm>
                    <a:off x="3567745" y="3971974"/>
                    <a:ext cx="1338084" cy="1338084"/>
                    <a:chOff x="5213600" y="2517129"/>
                    <a:chExt cx="2023672" cy="2023672"/>
                  </a:xfrm>
                </p:grpSpPr>
                <p:sp>
                  <p:nvSpPr>
                    <p:cNvPr id="254" name="椭圆 253">
                      <a:extLst>
                        <a:ext uri="{FF2B5EF4-FFF2-40B4-BE49-F238E27FC236}">
                          <a16:creationId xmlns:a16="http://schemas.microsoft.com/office/drawing/2014/main" id="{F0487BA5-C105-475D-85A4-6702D71799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3600" y="2517129"/>
                      <a:ext cx="2023672" cy="202367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E0E0E0"/>
                        </a:gs>
                      </a:gsLst>
                      <a:lin ang="54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>
                      <a:outerShdw blurRad="279400" dist="2540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55" name="椭圆 254">
                      <a:extLst>
                        <a:ext uri="{FF2B5EF4-FFF2-40B4-BE49-F238E27FC236}">
                          <a16:creationId xmlns:a16="http://schemas.microsoft.com/office/drawing/2014/main" id="{043FB951-87EE-4A24-A9A2-7F9696510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0739" y="2564268"/>
                      <a:ext cx="1929394" cy="192939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DDDEDD"/>
                        </a:gs>
                      </a:gsLst>
                      <a:lin ang="189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53" name="椭圆 252">
                    <a:extLst>
                      <a:ext uri="{FF2B5EF4-FFF2-40B4-BE49-F238E27FC236}">
                        <a16:creationId xmlns:a16="http://schemas.microsoft.com/office/drawing/2014/main" id="{4A025523-EDF3-4DEC-B727-554019386E59}"/>
                      </a:ext>
                    </a:extLst>
                  </p:cNvPr>
                  <p:cNvSpPr/>
                  <p:nvPr/>
                </p:nvSpPr>
                <p:spPr>
                  <a:xfrm>
                    <a:off x="3695022" y="4099252"/>
                    <a:ext cx="1083527" cy="1083527"/>
                  </a:xfrm>
                  <a:prstGeom prst="ellipse">
                    <a:avLst/>
                  </a:prstGeom>
                  <a:solidFill>
                    <a:srgbClr val="4F81BD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宋体" panose="02010600030101010101" pitchFamily="2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48" name="Group 60">
                  <a:extLst>
                    <a:ext uri="{FF2B5EF4-FFF2-40B4-BE49-F238E27FC236}">
                      <a16:creationId xmlns:a16="http://schemas.microsoft.com/office/drawing/2014/main" id="{F0652C47-4D46-4BD1-922E-A0355D1642E9}"/>
                    </a:ext>
                  </a:extLst>
                </p:cNvPr>
                <p:cNvGrpSpPr/>
                <p:nvPr/>
              </p:nvGrpSpPr>
              <p:grpSpPr>
                <a:xfrm>
                  <a:off x="6043428" y="2954615"/>
                  <a:ext cx="295540" cy="315495"/>
                  <a:chOff x="9159875" y="1647825"/>
                  <a:chExt cx="434975" cy="464344"/>
                </a:xfrm>
                <a:solidFill>
                  <a:srgbClr val="FFFFFF"/>
                </a:solidFill>
              </p:grpSpPr>
              <p:sp>
                <p:nvSpPr>
                  <p:cNvPr id="249" name="AutoShape 78">
                    <a:extLst>
                      <a:ext uri="{FF2B5EF4-FFF2-40B4-BE49-F238E27FC236}">
                        <a16:creationId xmlns:a16="http://schemas.microsoft.com/office/drawing/2014/main" id="{DA83B30D-B083-461D-9DB5-4C4992289D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159875" y="1647825"/>
                    <a:ext cx="434975" cy="464344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20160" y="18900"/>
                        </a:moveTo>
                        <a:cubicBezTo>
                          <a:pt x="20160" y="19643"/>
                          <a:pt x="19513" y="20249"/>
                          <a:pt x="18720" y="20249"/>
                        </a:cubicBezTo>
                        <a:lnTo>
                          <a:pt x="2880" y="20249"/>
                        </a:lnTo>
                        <a:cubicBezTo>
                          <a:pt x="2086" y="20249"/>
                          <a:pt x="1440" y="19643"/>
                          <a:pt x="1440" y="18900"/>
                        </a:cubicBezTo>
                        <a:lnTo>
                          <a:pt x="1440" y="2700"/>
                        </a:lnTo>
                        <a:cubicBezTo>
                          <a:pt x="1440" y="1955"/>
                          <a:pt x="2086" y="1350"/>
                          <a:pt x="2880" y="1350"/>
                        </a:cubicBezTo>
                        <a:lnTo>
                          <a:pt x="18720" y="1350"/>
                        </a:lnTo>
                        <a:cubicBezTo>
                          <a:pt x="19513" y="1350"/>
                          <a:pt x="20160" y="1955"/>
                          <a:pt x="20160" y="2700"/>
                        </a:cubicBezTo>
                        <a:cubicBezTo>
                          <a:pt x="20160" y="2700"/>
                          <a:pt x="20160" y="18900"/>
                          <a:pt x="20160" y="18900"/>
                        </a:cubicBezTo>
                        <a:close/>
                        <a:moveTo>
                          <a:pt x="18720" y="0"/>
                        </a:moveTo>
                        <a:lnTo>
                          <a:pt x="2880" y="0"/>
                        </a:lnTo>
                        <a:cubicBezTo>
                          <a:pt x="1289" y="0"/>
                          <a:pt x="0" y="1208"/>
                          <a:pt x="0" y="2700"/>
                        </a:cubicBezTo>
                        <a:lnTo>
                          <a:pt x="0" y="18900"/>
                        </a:lnTo>
                        <a:cubicBezTo>
                          <a:pt x="0" y="20391"/>
                          <a:pt x="1289" y="21599"/>
                          <a:pt x="2880" y="21599"/>
                        </a:cubicBezTo>
                        <a:lnTo>
                          <a:pt x="18720" y="21599"/>
                        </a:lnTo>
                        <a:cubicBezTo>
                          <a:pt x="20310" y="21599"/>
                          <a:pt x="21599" y="20391"/>
                          <a:pt x="21599" y="18900"/>
                        </a:cubicBezTo>
                        <a:lnTo>
                          <a:pt x="21599" y="2700"/>
                        </a:lnTo>
                        <a:cubicBezTo>
                          <a:pt x="21599" y="1208"/>
                          <a:pt x="20310" y="0"/>
                          <a:pt x="1872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50" name="AutoShape 79">
                    <a:extLst>
                      <a:ext uri="{FF2B5EF4-FFF2-40B4-BE49-F238E27FC236}">
                        <a16:creationId xmlns:a16="http://schemas.microsoft.com/office/drawing/2014/main" id="{BF277A87-DDBC-49F7-AF53-7549994CB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217819" y="1705769"/>
                    <a:ext cx="319088" cy="290513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7418" y="20519"/>
                        </a:moveTo>
                        <a:lnTo>
                          <a:pt x="14053" y="16248"/>
                        </a:lnTo>
                        <a:lnTo>
                          <a:pt x="16690" y="12959"/>
                        </a:lnTo>
                        <a:lnTo>
                          <a:pt x="20618" y="17689"/>
                        </a:lnTo>
                        <a:lnTo>
                          <a:pt x="20618" y="20519"/>
                        </a:lnTo>
                        <a:cubicBezTo>
                          <a:pt x="20618" y="20519"/>
                          <a:pt x="17418" y="20519"/>
                          <a:pt x="17418" y="20519"/>
                        </a:cubicBezTo>
                        <a:close/>
                        <a:moveTo>
                          <a:pt x="981" y="11446"/>
                        </a:moveTo>
                        <a:lnTo>
                          <a:pt x="4909" y="6479"/>
                        </a:lnTo>
                        <a:lnTo>
                          <a:pt x="12828" y="16353"/>
                        </a:lnTo>
                        <a:lnTo>
                          <a:pt x="13398" y="17064"/>
                        </a:lnTo>
                        <a:lnTo>
                          <a:pt x="16109" y="20519"/>
                        </a:lnTo>
                        <a:lnTo>
                          <a:pt x="981" y="20519"/>
                        </a:lnTo>
                        <a:cubicBezTo>
                          <a:pt x="981" y="20519"/>
                          <a:pt x="981" y="11446"/>
                          <a:pt x="981" y="11446"/>
                        </a:cubicBezTo>
                        <a:close/>
                        <a:moveTo>
                          <a:pt x="20618" y="1080"/>
                        </a:moveTo>
                        <a:lnTo>
                          <a:pt x="20618" y="16058"/>
                        </a:lnTo>
                        <a:lnTo>
                          <a:pt x="17427" y="12244"/>
                        </a:lnTo>
                        <a:cubicBezTo>
                          <a:pt x="17240" y="12012"/>
                          <a:pt x="16972" y="11879"/>
                          <a:pt x="16690" y="11879"/>
                        </a:cubicBezTo>
                        <a:cubicBezTo>
                          <a:pt x="16409" y="11879"/>
                          <a:pt x="16141" y="12012"/>
                          <a:pt x="15954" y="12244"/>
                        </a:cubicBezTo>
                        <a:lnTo>
                          <a:pt x="13399" y="15432"/>
                        </a:lnTo>
                        <a:lnTo>
                          <a:pt x="5645" y="5764"/>
                        </a:lnTo>
                        <a:cubicBezTo>
                          <a:pt x="5458" y="5532"/>
                          <a:pt x="5190" y="5400"/>
                          <a:pt x="4909" y="5400"/>
                        </a:cubicBezTo>
                        <a:cubicBezTo>
                          <a:pt x="4627" y="5400"/>
                          <a:pt x="4359" y="5532"/>
                          <a:pt x="4172" y="5764"/>
                        </a:cubicBezTo>
                        <a:lnTo>
                          <a:pt x="981" y="9812"/>
                        </a:lnTo>
                        <a:lnTo>
                          <a:pt x="981" y="1080"/>
                        </a:lnTo>
                        <a:cubicBezTo>
                          <a:pt x="981" y="1080"/>
                          <a:pt x="20618" y="1080"/>
                          <a:pt x="20618" y="1080"/>
                        </a:cubicBezTo>
                        <a:close/>
                        <a:moveTo>
                          <a:pt x="20618" y="0"/>
                        </a:moveTo>
                        <a:lnTo>
                          <a:pt x="981" y="0"/>
                        </a:lnTo>
                        <a:cubicBezTo>
                          <a:pt x="439" y="0"/>
                          <a:pt x="0" y="483"/>
                          <a:pt x="0" y="1080"/>
                        </a:cubicBezTo>
                        <a:lnTo>
                          <a:pt x="0" y="20519"/>
                        </a:lnTo>
                        <a:cubicBezTo>
                          <a:pt x="0" y="21116"/>
                          <a:pt x="439" y="21599"/>
                          <a:pt x="981" y="21599"/>
                        </a:cubicBezTo>
                        <a:lnTo>
                          <a:pt x="20618" y="21599"/>
                        </a:lnTo>
                        <a:cubicBezTo>
                          <a:pt x="21160" y="21599"/>
                          <a:pt x="21600" y="21116"/>
                          <a:pt x="21600" y="20519"/>
                        </a:cubicBezTo>
                        <a:lnTo>
                          <a:pt x="21600" y="1080"/>
                        </a:lnTo>
                        <a:cubicBezTo>
                          <a:pt x="21600" y="483"/>
                          <a:pt x="21160" y="0"/>
                          <a:pt x="20618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51" name="AutoShape 80">
                    <a:extLst>
                      <a:ext uri="{FF2B5EF4-FFF2-40B4-BE49-F238E27FC236}">
                        <a16:creationId xmlns:a16="http://schemas.microsoft.com/office/drawing/2014/main" id="{2F84E8C2-F953-4686-942D-3A65E07FD6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91650" y="1749425"/>
                    <a:ext cx="87313" cy="87313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3600"/>
                        </a:moveTo>
                        <a:cubicBezTo>
                          <a:pt x="14769" y="3600"/>
                          <a:pt x="17999" y="6827"/>
                          <a:pt x="17999" y="10800"/>
                        </a:cubicBezTo>
                        <a:cubicBezTo>
                          <a:pt x="17999" y="14769"/>
                          <a:pt x="14769" y="18000"/>
                          <a:pt x="10800" y="18000"/>
                        </a:cubicBezTo>
                        <a:cubicBezTo>
                          <a:pt x="6830" y="18000"/>
                          <a:pt x="3600" y="14769"/>
                          <a:pt x="3600" y="10800"/>
                        </a:cubicBezTo>
                        <a:cubicBezTo>
                          <a:pt x="3600" y="6827"/>
                          <a:pt x="6830" y="3600"/>
                          <a:pt x="10800" y="3600"/>
                        </a:cubicBezTo>
                        <a:moveTo>
                          <a:pt x="10800" y="21599"/>
                        </a:moveTo>
                        <a:cubicBezTo>
                          <a:pt x="16766" y="21599"/>
                          <a:pt x="21600" y="16762"/>
                          <a:pt x="21600" y="10800"/>
                        </a:cubicBezTo>
                        <a:cubicBezTo>
                          <a:pt x="21600" y="4833"/>
                          <a:pt x="16766" y="0"/>
                          <a:pt x="10800" y="0"/>
                        </a:cubicBezTo>
                        <a:cubicBezTo>
                          <a:pt x="4833" y="0"/>
                          <a:pt x="0" y="4833"/>
                          <a:pt x="0" y="10800"/>
                        </a:cubicBezTo>
                        <a:cubicBezTo>
                          <a:pt x="0" y="16762"/>
                          <a:pt x="4833" y="21599"/>
                          <a:pt x="10800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208" name="组合 207">
                <a:extLst>
                  <a:ext uri="{FF2B5EF4-FFF2-40B4-BE49-F238E27FC236}">
                    <a16:creationId xmlns:a16="http://schemas.microsoft.com/office/drawing/2014/main" id="{0AAF3FCE-B063-4A10-8693-2A9F1699CE5A}"/>
                  </a:ext>
                </a:extLst>
              </p:cNvPr>
              <p:cNvGrpSpPr/>
              <p:nvPr/>
            </p:nvGrpSpPr>
            <p:grpSpPr>
              <a:xfrm>
                <a:off x="6595889" y="1542451"/>
                <a:ext cx="1133703" cy="1133703"/>
                <a:chOff x="6794223" y="3059119"/>
                <a:chExt cx="1026002" cy="1026002"/>
              </a:xfrm>
            </p:grpSpPr>
            <p:grpSp>
              <p:nvGrpSpPr>
                <p:cNvPr id="232" name="组合 231">
                  <a:extLst>
                    <a:ext uri="{FF2B5EF4-FFF2-40B4-BE49-F238E27FC236}">
                      <a16:creationId xmlns:a16="http://schemas.microsoft.com/office/drawing/2014/main" id="{3D608D07-FD00-4ACA-8E51-AAE470248265}"/>
                    </a:ext>
                  </a:extLst>
                </p:cNvPr>
                <p:cNvGrpSpPr/>
                <p:nvPr/>
              </p:nvGrpSpPr>
              <p:grpSpPr>
                <a:xfrm>
                  <a:off x="6794223" y="3059119"/>
                  <a:ext cx="1026002" cy="1026002"/>
                  <a:chOff x="3567745" y="3971974"/>
                  <a:chExt cx="1338084" cy="1338084"/>
                </a:xfrm>
              </p:grpSpPr>
              <p:grpSp>
                <p:nvGrpSpPr>
                  <p:cNvPr id="243" name="组合 242">
                    <a:extLst>
                      <a:ext uri="{FF2B5EF4-FFF2-40B4-BE49-F238E27FC236}">
                        <a16:creationId xmlns:a16="http://schemas.microsoft.com/office/drawing/2014/main" id="{21809146-ADCD-4443-A6B8-468EF7EB0E10}"/>
                      </a:ext>
                    </a:extLst>
                  </p:cNvPr>
                  <p:cNvGrpSpPr/>
                  <p:nvPr/>
                </p:nvGrpSpPr>
                <p:grpSpPr>
                  <a:xfrm>
                    <a:off x="3567745" y="3971974"/>
                    <a:ext cx="1338084" cy="1338084"/>
                    <a:chOff x="5213600" y="2517129"/>
                    <a:chExt cx="2023672" cy="2023672"/>
                  </a:xfrm>
                </p:grpSpPr>
                <p:sp>
                  <p:nvSpPr>
                    <p:cNvPr id="245" name="椭圆 244">
                      <a:extLst>
                        <a:ext uri="{FF2B5EF4-FFF2-40B4-BE49-F238E27FC236}">
                          <a16:creationId xmlns:a16="http://schemas.microsoft.com/office/drawing/2014/main" id="{43EC3B97-B3E4-4823-BC61-D8D8544233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3600" y="2517129"/>
                      <a:ext cx="2023672" cy="202367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E0E0E0"/>
                        </a:gs>
                      </a:gsLst>
                      <a:lin ang="54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>
                      <a:outerShdw blurRad="279400" dist="2540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46" name="椭圆 245">
                      <a:extLst>
                        <a:ext uri="{FF2B5EF4-FFF2-40B4-BE49-F238E27FC236}">
                          <a16:creationId xmlns:a16="http://schemas.microsoft.com/office/drawing/2014/main" id="{DD9088C0-7DC5-41DB-9A3A-DD2CF5BDED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0739" y="2564268"/>
                      <a:ext cx="1929394" cy="192939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DDDEDD"/>
                        </a:gs>
                      </a:gsLst>
                      <a:lin ang="189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44" name="椭圆 243">
                    <a:extLst>
                      <a:ext uri="{FF2B5EF4-FFF2-40B4-BE49-F238E27FC236}">
                        <a16:creationId xmlns:a16="http://schemas.microsoft.com/office/drawing/2014/main" id="{BFD689AC-0DDE-4AA9-BCC7-AC69E4C052F5}"/>
                      </a:ext>
                    </a:extLst>
                  </p:cNvPr>
                  <p:cNvSpPr/>
                  <p:nvPr/>
                </p:nvSpPr>
                <p:spPr>
                  <a:xfrm>
                    <a:off x="3695022" y="4099252"/>
                    <a:ext cx="1083527" cy="1083527"/>
                  </a:xfrm>
                  <a:prstGeom prst="ellipse">
                    <a:avLst/>
                  </a:prstGeom>
                  <a:solidFill>
                    <a:srgbClr val="4F81BD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宋体" panose="02010600030101010101" pitchFamily="2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33" name="Group 50">
                  <a:extLst>
                    <a:ext uri="{FF2B5EF4-FFF2-40B4-BE49-F238E27FC236}">
                      <a16:creationId xmlns:a16="http://schemas.microsoft.com/office/drawing/2014/main" id="{F6232683-AE94-4EBC-BA42-F95AFD2098A6}"/>
                    </a:ext>
                  </a:extLst>
                </p:cNvPr>
                <p:cNvGrpSpPr/>
                <p:nvPr/>
              </p:nvGrpSpPr>
              <p:grpSpPr>
                <a:xfrm>
                  <a:off x="7120103" y="3381304"/>
                  <a:ext cx="395983" cy="371614"/>
                  <a:chOff x="10074275" y="1647825"/>
                  <a:chExt cx="464344" cy="435769"/>
                </a:xfrm>
                <a:solidFill>
                  <a:srgbClr val="FFFFFF"/>
                </a:solidFill>
              </p:grpSpPr>
              <p:sp>
                <p:nvSpPr>
                  <p:cNvPr id="234" name="AutoShape 69">
                    <a:extLst>
                      <a:ext uri="{FF2B5EF4-FFF2-40B4-BE49-F238E27FC236}">
                        <a16:creationId xmlns:a16="http://schemas.microsoft.com/office/drawing/2014/main" id="{022C9AA8-DBB8-4B5F-901E-EDF6A49BD8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074275" y="1647825"/>
                    <a:ext cx="464344" cy="435769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8223" y="5760"/>
                        </a:moveTo>
                        <a:lnTo>
                          <a:pt x="17548" y="5760"/>
                        </a:lnTo>
                        <a:cubicBezTo>
                          <a:pt x="16804" y="5760"/>
                          <a:pt x="16198" y="5114"/>
                          <a:pt x="16198" y="4320"/>
                        </a:cubicBezTo>
                        <a:lnTo>
                          <a:pt x="16200" y="4320"/>
                        </a:lnTo>
                        <a:lnTo>
                          <a:pt x="16200" y="1440"/>
                        </a:lnTo>
                        <a:lnTo>
                          <a:pt x="20250" y="5760"/>
                        </a:lnTo>
                        <a:cubicBezTo>
                          <a:pt x="20250" y="5760"/>
                          <a:pt x="18223" y="5760"/>
                          <a:pt x="18223" y="5760"/>
                        </a:cubicBezTo>
                        <a:close/>
                        <a:moveTo>
                          <a:pt x="20250" y="19440"/>
                        </a:moveTo>
                        <a:cubicBezTo>
                          <a:pt x="20250" y="19837"/>
                          <a:pt x="19948" y="20160"/>
                          <a:pt x="19575" y="20160"/>
                        </a:cubicBezTo>
                        <a:lnTo>
                          <a:pt x="2024" y="20160"/>
                        </a:lnTo>
                        <a:cubicBezTo>
                          <a:pt x="1651" y="20160"/>
                          <a:pt x="1349" y="19837"/>
                          <a:pt x="1349" y="19440"/>
                        </a:cubicBezTo>
                        <a:lnTo>
                          <a:pt x="1349" y="2160"/>
                        </a:lnTo>
                        <a:cubicBezTo>
                          <a:pt x="1349" y="1762"/>
                          <a:pt x="1651" y="1440"/>
                          <a:pt x="2024" y="1440"/>
                        </a:cubicBezTo>
                        <a:lnTo>
                          <a:pt x="15525" y="1440"/>
                        </a:lnTo>
                        <a:lnTo>
                          <a:pt x="15525" y="4320"/>
                        </a:lnTo>
                        <a:lnTo>
                          <a:pt x="15523" y="4320"/>
                        </a:lnTo>
                        <a:cubicBezTo>
                          <a:pt x="15523" y="5513"/>
                          <a:pt x="16430" y="6480"/>
                          <a:pt x="17548" y="6480"/>
                        </a:cubicBezTo>
                        <a:lnTo>
                          <a:pt x="18223" y="6480"/>
                        </a:lnTo>
                        <a:lnTo>
                          <a:pt x="20250" y="6480"/>
                        </a:lnTo>
                        <a:cubicBezTo>
                          <a:pt x="20250" y="6480"/>
                          <a:pt x="20250" y="19440"/>
                          <a:pt x="20250" y="19440"/>
                        </a:cubicBezTo>
                        <a:close/>
                        <a:moveTo>
                          <a:pt x="21204" y="4741"/>
                        </a:moveTo>
                        <a:lnTo>
                          <a:pt x="17154" y="421"/>
                        </a:lnTo>
                        <a:cubicBezTo>
                          <a:pt x="16901" y="151"/>
                          <a:pt x="16557" y="0"/>
                          <a:pt x="16200" y="0"/>
                        </a:cubicBezTo>
                        <a:lnTo>
                          <a:pt x="2024" y="0"/>
                        </a:lnTo>
                        <a:cubicBezTo>
                          <a:pt x="908" y="0"/>
                          <a:pt x="0" y="968"/>
                          <a:pt x="0" y="2160"/>
                        </a:cubicBezTo>
                        <a:lnTo>
                          <a:pt x="0" y="19440"/>
                        </a:lnTo>
                        <a:cubicBezTo>
                          <a:pt x="0" y="20631"/>
                          <a:pt x="908" y="21600"/>
                          <a:pt x="2024" y="21600"/>
                        </a:cubicBezTo>
                        <a:lnTo>
                          <a:pt x="19575" y="21600"/>
                        </a:lnTo>
                        <a:cubicBezTo>
                          <a:pt x="20691" y="21600"/>
                          <a:pt x="21599" y="20631"/>
                          <a:pt x="21599" y="19440"/>
                        </a:cubicBezTo>
                        <a:lnTo>
                          <a:pt x="21599" y="5760"/>
                        </a:lnTo>
                        <a:cubicBezTo>
                          <a:pt x="21599" y="5378"/>
                          <a:pt x="21457" y="5011"/>
                          <a:pt x="21204" y="4741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35" name="AutoShape 70">
                    <a:extLst>
                      <a:ext uri="{FF2B5EF4-FFF2-40B4-BE49-F238E27FC236}">
                        <a16:creationId xmlns:a16="http://schemas.microsoft.com/office/drawing/2014/main" id="{7943153D-3671-459F-BA7F-D346A8B35F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91763" y="1734344"/>
                    <a:ext cx="87313" cy="15081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800" y="21599"/>
                        </a:moveTo>
                        <a:lnTo>
                          <a:pt x="19800" y="21599"/>
                        </a:lnTo>
                        <a:cubicBezTo>
                          <a:pt x="20791" y="21599"/>
                          <a:pt x="21600" y="16769"/>
                          <a:pt x="21600" y="10800"/>
                        </a:cubicBezTo>
                        <a:cubicBezTo>
                          <a:pt x="21600" y="4830"/>
                          <a:pt x="20791" y="0"/>
                          <a:pt x="19800" y="0"/>
                        </a:cubicBezTo>
                        <a:lnTo>
                          <a:pt x="1800" y="0"/>
                        </a:lnTo>
                        <a:cubicBezTo>
                          <a:pt x="801" y="0"/>
                          <a:pt x="0" y="4830"/>
                          <a:pt x="0" y="10800"/>
                        </a:cubicBezTo>
                        <a:cubicBezTo>
                          <a:pt x="0" y="16769"/>
                          <a:pt x="801" y="21599"/>
                          <a:pt x="1800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36" name="AutoShape 71">
                    <a:extLst>
                      <a:ext uri="{FF2B5EF4-FFF2-40B4-BE49-F238E27FC236}">
                        <a16:creationId xmlns:a16="http://schemas.microsoft.com/office/drawing/2014/main" id="{F45EED3B-14F7-4CD8-9CFD-52860B678B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91763" y="1778000"/>
                    <a:ext cx="87313" cy="15082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800" y="21599"/>
                        </a:moveTo>
                        <a:lnTo>
                          <a:pt x="19800" y="21599"/>
                        </a:lnTo>
                        <a:cubicBezTo>
                          <a:pt x="20791" y="21599"/>
                          <a:pt x="21600" y="16769"/>
                          <a:pt x="21600" y="10800"/>
                        </a:cubicBezTo>
                        <a:cubicBezTo>
                          <a:pt x="21600" y="4830"/>
                          <a:pt x="20791" y="0"/>
                          <a:pt x="19800" y="0"/>
                        </a:cubicBezTo>
                        <a:lnTo>
                          <a:pt x="1800" y="0"/>
                        </a:lnTo>
                        <a:cubicBezTo>
                          <a:pt x="801" y="0"/>
                          <a:pt x="0" y="4830"/>
                          <a:pt x="0" y="10800"/>
                        </a:cubicBezTo>
                        <a:cubicBezTo>
                          <a:pt x="0" y="16769"/>
                          <a:pt x="801" y="21599"/>
                          <a:pt x="1800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37" name="AutoShape 72">
                    <a:extLst>
                      <a:ext uri="{FF2B5EF4-FFF2-40B4-BE49-F238E27FC236}">
                        <a16:creationId xmlns:a16="http://schemas.microsoft.com/office/drawing/2014/main" id="{94AEA3F0-5B7A-49D0-BE5A-F8AA2043E2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91763" y="1821657"/>
                    <a:ext cx="188913" cy="15081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16769"/>
                          <a:pt x="369" y="21599"/>
                          <a:pt x="830" y="21599"/>
                        </a:cubicBezTo>
                        <a:lnTo>
                          <a:pt x="20769" y="21599"/>
                        </a:lnTo>
                        <a:cubicBezTo>
                          <a:pt x="21226" y="21599"/>
                          <a:pt x="21600" y="16769"/>
                          <a:pt x="21600" y="10800"/>
                        </a:cubicBezTo>
                        <a:cubicBezTo>
                          <a:pt x="21600" y="4830"/>
                          <a:pt x="21226" y="0"/>
                          <a:pt x="20769" y="0"/>
                        </a:cubicBezTo>
                        <a:lnTo>
                          <a:pt x="830" y="0"/>
                        </a:lnTo>
                        <a:cubicBezTo>
                          <a:pt x="369" y="0"/>
                          <a:pt x="0" y="4830"/>
                          <a:pt x="0" y="1080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38" name="AutoShape 73">
                    <a:extLst>
                      <a:ext uri="{FF2B5EF4-FFF2-40B4-BE49-F238E27FC236}">
                        <a16:creationId xmlns:a16="http://schemas.microsoft.com/office/drawing/2014/main" id="{4D77202E-E5E8-4F9E-8735-4ADBE9396E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32219" y="1908969"/>
                    <a:ext cx="348456" cy="14288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21150" y="0"/>
                        </a:moveTo>
                        <a:lnTo>
                          <a:pt x="449" y="0"/>
                        </a:lnTo>
                        <a:cubicBezTo>
                          <a:pt x="201" y="0"/>
                          <a:pt x="0" y="4830"/>
                          <a:pt x="0" y="10800"/>
                        </a:cubicBezTo>
                        <a:cubicBezTo>
                          <a:pt x="0" y="16748"/>
                          <a:pt x="201" y="21599"/>
                          <a:pt x="449" y="21599"/>
                        </a:cubicBezTo>
                        <a:lnTo>
                          <a:pt x="21150" y="21599"/>
                        </a:lnTo>
                        <a:cubicBezTo>
                          <a:pt x="21397" y="21599"/>
                          <a:pt x="21599" y="16748"/>
                          <a:pt x="21599" y="10800"/>
                        </a:cubicBezTo>
                        <a:cubicBezTo>
                          <a:pt x="21599" y="4830"/>
                          <a:pt x="21397" y="0"/>
                          <a:pt x="2115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39" name="AutoShape 74">
                    <a:extLst>
                      <a:ext uri="{FF2B5EF4-FFF2-40B4-BE49-F238E27FC236}">
                        <a16:creationId xmlns:a16="http://schemas.microsoft.com/office/drawing/2014/main" id="{16DADA1C-60B0-452A-9662-CE755B6EE6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32219" y="1952625"/>
                    <a:ext cx="348456" cy="14288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21150" y="0"/>
                        </a:moveTo>
                        <a:lnTo>
                          <a:pt x="449" y="0"/>
                        </a:lnTo>
                        <a:cubicBezTo>
                          <a:pt x="201" y="0"/>
                          <a:pt x="0" y="4830"/>
                          <a:pt x="0" y="10800"/>
                        </a:cubicBezTo>
                        <a:cubicBezTo>
                          <a:pt x="0" y="16748"/>
                          <a:pt x="201" y="21599"/>
                          <a:pt x="449" y="21599"/>
                        </a:cubicBezTo>
                        <a:lnTo>
                          <a:pt x="21150" y="21599"/>
                        </a:lnTo>
                        <a:cubicBezTo>
                          <a:pt x="21397" y="21599"/>
                          <a:pt x="21599" y="16748"/>
                          <a:pt x="21599" y="10800"/>
                        </a:cubicBezTo>
                        <a:cubicBezTo>
                          <a:pt x="21599" y="4830"/>
                          <a:pt x="21397" y="0"/>
                          <a:pt x="2115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40" name="AutoShape 75">
                    <a:extLst>
                      <a:ext uri="{FF2B5EF4-FFF2-40B4-BE49-F238E27FC236}">
                        <a16:creationId xmlns:a16="http://schemas.microsoft.com/office/drawing/2014/main" id="{5719BF93-7855-4269-82AF-0BBB3D04DF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32219" y="1996282"/>
                    <a:ext cx="348456" cy="14288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21150" y="0"/>
                        </a:moveTo>
                        <a:lnTo>
                          <a:pt x="449" y="0"/>
                        </a:lnTo>
                        <a:cubicBezTo>
                          <a:pt x="201" y="0"/>
                          <a:pt x="0" y="4830"/>
                          <a:pt x="0" y="10800"/>
                        </a:cubicBezTo>
                        <a:cubicBezTo>
                          <a:pt x="0" y="16748"/>
                          <a:pt x="201" y="21599"/>
                          <a:pt x="449" y="21599"/>
                        </a:cubicBezTo>
                        <a:lnTo>
                          <a:pt x="21150" y="21599"/>
                        </a:lnTo>
                        <a:cubicBezTo>
                          <a:pt x="21397" y="21599"/>
                          <a:pt x="21599" y="16748"/>
                          <a:pt x="21599" y="10800"/>
                        </a:cubicBezTo>
                        <a:cubicBezTo>
                          <a:pt x="21599" y="4830"/>
                          <a:pt x="21397" y="0"/>
                          <a:pt x="2115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41" name="AutoShape 76">
                    <a:extLst>
                      <a:ext uri="{FF2B5EF4-FFF2-40B4-BE49-F238E27FC236}">
                        <a16:creationId xmlns:a16="http://schemas.microsoft.com/office/drawing/2014/main" id="{9D899470-7DE7-4312-8342-00DC7250E5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32219" y="1865313"/>
                    <a:ext cx="348456" cy="14288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21150" y="0"/>
                        </a:moveTo>
                        <a:lnTo>
                          <a:pt x="449" y="0"/>
                        </a:lnTo>
                        <a:cubicBezTo>
                          <a:pt x="201" y="0"/>
                          <a:pt x="0" y="4830"/>
                          <a:pt x="0" y="10800"/>
                        </a:cubicBezTo>
                        <a:cubicBezTo>
                          <a:pt x="0" y="16769"/>
                          <a:pt x="201" y="21599"/>
                          <a:pt x="449" y="21599"/>
                        </a:cubicBezTo>
                        <a:lnTo>
                          <a:pt x="21150" y="21599"/>
                        </a:lnTo>
                        <a:cubicBezTo>
                          <a:pt x="21397" y="21599"/>
                          <a:pt x="21599" y="16769"/>
                          <a:pt x="21599" y="10800"/>
                        </a:cubicBezTo>
                        <a:cubicBezTo>
                          <a:pt x="21599" y="4830"/>
                          <a:pt x="21397" y="0"/>
                          <a:pt x="2115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42" name="AutoShape 77">
                    <a:extLst>
                      <a:ext uri="{FF2B5EF4-FFF2-40B4-BE49-F238E27FC236}">
                        <a16:creationId xmlns:a16="http://schemas.microsoft.com/office/drawing/2014/main" id="{C0951E36-2A84-4FE5-8718-8E55102841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32219" y="1720057"/>
                    <a:ext cx="130969" cy="116681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4799" y="5400"/>
                        </a:moveTo>
                        <a:lnTo>
                          <a:pt x="16800" y="5400"/>
                        </a:lnTo>
                        <a:lnTo>
                          <a:pt x="16800" y="16200"/>
                        </a:lnTo>
                        <a:lnTo>
                          <a:pt x="4799" y="16200"/>
                        </a:lnTo>
                        <a:cubicBezTo>
                          <a:pt x="4799" y="16200"/>
                          <a:pt x="4799" y="5400"/>
                          <a:pt x="4799" y="5400"/>
                        </a:cubicBezTo>
                        <a:close/>
                        <a:moveTo>
                          <a:pt x="2399" y="21599"/>
                        </a:moveTo>
                        <a:lnTo>
                          <a:pt x="19200" y="21599"/>
                        </a:lnTo>
                        <a:cubicBezTo>
                          <a:pt x="20526" y="21599"/>
                          <a:pt x="21599" y="20392"/>
                          <a:pt x="21599" y="18900"/>
                        </a:cubicBezTo>
                        <a:lnTo>
                          <a:pt x="21599" y="2700"/>
                        </a:lnTo>
                        <a:cubicBezTo>
                          <a:pt x="21599" y="1207"/>
                          <a:pt x="20526" y="0"/>
                          <a:pt x="19200" y="0"/>
                        </a:cubicBezTo>
                        <a:lnTo>
                          <a:pt x="2399" y="0"/>
                        </a:lnTo>
                        <a:cubicBezTo>
                          <a:pt x="1073" y="0"/>
                          <a:pt x="0" y="1207"/>
                          <a:pt x="0" y="2700"/>
                        </a:cubicBezTo>
                        <a:lnTo>
                          <a:pt x="0" y="18900"/>
                        </a:lnTo>
                        <a:cubicBezTo>
                          <a:pt x="0" y="20392"/>
                          <a:pt x="1073" y="21599"/>
                          <a:pt x="2399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057572CB-26FC-4561-9F10-EA37535D0161}"/>
                  </a:ext>
                </a:extLst>
              </p:cNvPr>
              <p:cNvGrpSpPr/>
              <p:nvPr/>
            </p:nvGrpSpPr>
            <p:grpSpPr>
              <a:xfrm>
                <a:off x="1236209" y="2021698"/>
                <a:ext cx="688095" cy="688095"/>
                <a:chOff x="2050289" y="3824474"/>
                <a:chExt cx="688095" cy="688095"/>
              </a:xfrm>
            </p:grpSpPr>
            <p:grpSp>
              <p:nvGrpSpPr>
                <p:cNvPr id="219" name="组合 218">
                  <a:extLst>
                    <a:ext uri="{FF2B5EF4-FFF2-40B4-BE49-F238E27FC236}">
                      <a16:creationId xmlns:a16="http://schemas.microsoft.com/office/drawing/2014/main" id="{56779388-B224-424B-B737-8C75537E6B5C}"/>
                    </a:ext>
                  </a:extLst>
                </p:cNvPr>
                <p:cNvGrpSpPr/>
                <p:nvPr/>
              </p:nvGrpSpPr>
              <p:grpSpPr>
                <a:xfrm>
                  <a:off x="2050289" y="3824474"/>
                  <a:ext cx="688095" cy="688095"/>
                  <a:chOff x="3567745" y="3971974"/>
                  <a:chExt cx="1338084" cy="1338084"/>
                </a:xfrm>
              </p:grpSpPr>
              <p:grpSp>
                <p:nvGrpSpPr>
                  <p:cNvPr id="228" name="组合 227">
                    <a:extLst>
                      <a:ext uri="{FF2B5EF4-FFF2-40B4-BE49-F238E27FC236}">
                        <a16:creationId xmlns:a16="http://schemas.microsoft.com/office/drawing/2014/main" id="{EC254269-BEF4-456C-8CA6-9E52EE33AE6D}"/>
                      </a:ext>
                    </a:extLst>
                  </p:cNvPr>
                  <p:cNvGrpSpPr/>
                  <p:nvPr/>
                </p:nvGrpSpPr>
                <p:grpSpPr>
                  <a:xfrm>
                    <a:off x="3567745" y="3971974"/>
                    <a:ext cx="1338084" cy="1338084"/>
                    <a:chOff x="5213600" y="2517129"/>
                    <a:chExt cx="2023672" cy="2023672"/>
                  </a:xfrm>
                </p:grpSpPr>
                <p:sp>
                  <p:nvSpPr>
                    <p:cNvPr id="230" name="椭圆 229">
                      <a:extLst>
                        <a:ext uri="{FF2B5EF4-FFF2-40B4-BE49-F238E27FC236}">
                          <a16:creationId xmlns:a16="http://schemas.microsoft.com/office/drawing/2014/main" id="{9C8AD354-21CA-4D48-BD59-79F4EBC27E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3600" y="2517129"/>
                      <a:ext cx="2023672" cy="202367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E0E0E0"/>
                        </a:gs>
                      </a:gsLst>
                      <a:lin ang="54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>
                      <a:outerShdw blurRad="279400" dist="2540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31" name="椭圆 230">
                      <a:extLst>
                        <a:ext uri="{FF2B5EF4-FFF2-40B4-BE49-F238E27FC236}">
                          <a16:creationId xmlns:a16="http://schemas.microsoft.com/office/drawing/2014/main" id="{7BFC67CB-C379-48E3-AAF7-1AE0CCE19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0739" y="2564268"/>
                      <a:ext cx="1929394" cy="192939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DDDEDD"/>
                        </a:gs>
                      </a:gsLst>
                      <a:lin ang="18900000" scaled="1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29" name="椭圆 228">
                    <a:extLst>
                      <a:ext uri="{FF2B5EF4-FFF2-40B4-BE49-F238E27FC236}">
                        <a16:creationId xmlns:a16="http://schemas.microsoft.com/office/drawing/2014/main" id="{4DE7D32C-2759-4886-A118-0EC1061253FF}"/>
                      </a:ext>
                    </a:extLst>
                  </p:cNvPr>
                  <p:cNvSpPr/>
                  <p:nvPr/>
                </p:nvSpPr>
                <p:spPr>
                  <a:xfrm>
                    <a:off x="3695022" y="4099252"/>
                    <a:ext cx="1083527" cy="1083527"/>
                  </a:xfrm>
                  <a:prstGeom prst="ellipse">
                    <a:avLst/>
                  </a:prstGeom>
                  <a:solidFill>
                    <a:srgbClr val="4F81BD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宋体" panose="02010600030101010101" pitchFamily="2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20" name="Group 68">
                  <a:extLst>
                    <a:ext uri="{FF2B5EF4-FFF2-40B4-BE49-F238E27FC236}">
                      <a16:creationId xmlns:a16="http://schemas.microsoft.com/office/drawing/2014/main" id="{8E8AB4E0-94BC-4CDE-B3A1-B227DB707A3F}"/>
                    </a:ext>
                  </a:extLst>
                </p:cNvPr>
                <p:cNvGrpSpPr/>
                <p:nvPr/>
              </p:nvGrpSpPr>
              <p:grpSpPr>
                <a:xfrm>
                  <a:off x="2208399" y="4049290"/>
                  <a:ext cx="328541" cy="256656"/>
                  <a:chOff x="2581275" y="1710532"/>
                  <a:chExt cx="464344" cy="362744"/>
                </a:xfrm>
                <a:solidFill>
                  <a:srgbClr val="FFFFFF"/>
                </a:solidFill>
              </p:grpSpPr>
              <p:sp>
                <p:nvSpPr>
                  <p:cNvPr id="221" name="AutoShape 140">
                    <a:extLst>
                      <a:ext uri="{FF2B5EF4-FFF2-40B4-BE49-F238E27FC236}">
                        <a16:creationId xmlns:a16="http://schemas.microsoft.com/office/drawing/2014/main" id="{DAED7F3D-945E-4217-AECD-C71A27E064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39219" y="1768475"/>
                    <a:ext cx="290513" cy="235744"/>
                  </a:xfrm>
                  <a:custGeom>
                    <a:avLst/>
                    <a:gdLst>
                      <a:gd name="T0" fmla="+- 0 10800 376"/>
                      <a:gd name="T1" fmla="*/ T0 w 20848"/>
                      <a:gd name="T2" fmla="*/ 10800 h 21600"/>
                      <a:gd name="T3" fmla="+- 0 10800 376"/>
                      <a:gd name="T4" fmla="*/ T3 w 20848"/>
                      <a:gd name="T5" fmla="*/ 10800 h 21600"/>
                      <a:gd name="T6" fmla="+- 0 10800 376"/>
                      <a:gd name="T7" fmla="*/ T6 w 20848"/>
                      <a:gd name="T8" fmla="*/ 10800 h 21600"/>
                      <a:gd name="T9" fmla="+- 0 10800 376"/>
                      <a:gd name="T10" fmla="*/ T9 w 20848"/>
                      <a:gd name="T11" fmla="*/ 10800 h 21600"/>
                    </a:gdLst>
                    <a:ahLst/>
                    <a:cxnLst>
                      <a:cxn ang="0">
                        <a:pos x="T1" y="T2"/>
                      </a:cxn>
                      <a:cxn ang="0">
                        <a:pos x="T4" y="T5"/>
                      </a:cxn>
                      <a:cxn ang="0">
                        <a:pos x="T7" y="T8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0848" h="21600">
                        <a:moveTo>
                          <a:pt x="18728" y="19178"/>
                        </a:moveTo>
                        <a:cubicBezTo>
                          <a:pt x="13191" y="20631"/>
                          <a:pt x="7654" y="20631"/>
                          <a:pt x="2118" y="19178"/>
                        </a:cubicBezTo>
                        <a:cubicBezTo>
                          <a:pt x="678" y="13592"/>
                          <a:pt x="678" y="8008"/>
                          <a:pt x="2118" y="2421"/>
                        </a:cubicBezTo>
                        <a:cubicBezTo>
                          <a:pt x="7654" y="968"/>
                          <a:pt x="13191" y="968"/>
                          <a:pt x="18728" y="2421"/>
                        </a:cubicBezTo>
                        <a:cubicBezTo>
                          <a:pt x="20168" y="8008"/>
                          <a:pt x="20168" y="13592"/>
                          <a:pt x="18728" y="19178"/>
                        </a:cubicBezTo>
                        <a:moveTo>
                          <a:pt x="18938" y="1116"/>
                        </a:moveTo>
                        <a:cubicBezTo>
                          <a:pt x="16114" y="375"/>
                          <a:pt x="13249" y="0"/>
                          <a:pt x="10423" y="0"/>
                        </a:cubicBezTo>
                        <a:cubicBezTo>
                          <a:pt x="7597" y="0"/>
                          <a:pt x="4732" y="375"/>
                          <a:pt x="1908" y="1116"/>
                        </a:cubicBezTo>
                        <a:cubicBezTo>
                          <a:pt x="1543" y="1213"/>
                          <a:pt x="1244" y="1552"/>
                          <a:pt x="1127" y="2004"/>
                        </a:cubicBezTo>
                        <a:cubicBezTo>
                          <a:pt x="-376" y="7841"/>
                          <a:pt x="-376" y="13759"/>
                          <a:pt x="1127" y="19593"/>
                        </a:cubicBezTo>
                        <a:cubicBezTo>
                          <a:pt x="1244" y="20047"/>
                          <a:pt x="1543" y="20386"/>
                          <a:pt x="1908" y="20482"/>
                        </a:cubicBezTo>
                        <a:cubicBezTo>
                          <a:pt x="4732" y="21224"/>
                          <a:pt x="7597" y="21600"/>
                          <a:pt x="10423" y="21600"/>
                        </a:cubicBezTo>
                        <a:cubicBezTo>
                          <a:pt x="13249" y="21600"/>
                          <a:pt x="16114" y="21224"/>
                          <a:pt x="18938" y="20482"/>
                        </a:cubicBezTo>
                        <a:cubicBezTo>
                          <a:pt x="19303" y="20386"/>
                          <a:pt x="19602" y="20047"/>
                          <a:pt x="19719" y="19593"/>
                        </a:cubicBezTo>
                        <a:cubicBezTo>
                          <a:pt x="21223" y="13759"/>
                          <a:pt x="21223" y="7841"/>
                          <a:pt x="19719" y="2004"/>
                        </a:cubicBezTo>
                        <a:cubicBezTo>
                          <a:pt x="19602" y="1552"/>
                          <a:pt x="19303" y="1213"/>
                          <a:pt x="18938" y="1116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22" name="AutoShape 141">
                    <a:extLst>
                      <a:ext uri="{FF2B5EF4-FFF2-40B4-BE49-F238E27FC236}">
                        <a16:creationId xmlns:a16="http://schemas.microsoft.com/office/drawing/2014/main" id="{27348F0F-F7FD-439C-81CF-5A22D6EC30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81275" y="1710532"/>
                    <a:ext cx="464344" cy="362744"/>
                  </a:xfrm>
                  <a:custGeom>
                    <a:avLst/>
                    <a:gdLst>
                      <a:gd name="T0" fmla="+- 0 10800 252"/>
                      <a:gd name="T1" fmla="*/ T0 w 21096"/>
                      <a:gd name="T2" fmla="*/ 10800 h 21600"/>
                      <a:gd name="T3" fmla="+- 0 10800 252"/>
                      <a:gd name="T4" fmla="*/ T3 w 21096"/>
                      <a:gd name="T5" fmla="*/ 10800 h 21600"/>
                      <a:gd name="T6" fmla="+- 0 10800 252"/>
                      <a:gd name="T7" fmla="*/ T6 w 21096"/>
                      <a:gd name="T8" fmla="*/ 10800 h 21600"/>
                      <a:gd name="T9" fmla="+- 0 10800 252"/>
                      <a:gd name="T10" fmla="*/ T9 w 21096"/>
                      <a:gd name="T11" fmla="*/ 10800 h 21600"/>
                    </a:gdLst>
                    <a:ahLst/>
                    <a:cxnLst>
                      <a:cxn ang="0">
                        <a:pos x="T1" y="T2"/>
                      </a:cxn>
                      <a:cxn ang="0">
                        <a:pos x="T4" y="T5"/>
                      </a:cxn>
                      <a:cxn ang="0">
                        <a:pos x="T7" y="T8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096" h="21600">
                        <a:moveTo>
                          <a:pt x="19056" y="18331"/>
                        </a:moveTo>
                        <a:cubicBezTo>
                          <a:pt x="13383" y="19233"/>
                          <a:pt x="7711" y="19233"/>
                          <a:pt x="2038" y="18331"/>
                        </a:cubicBezTo>
                        <a:cubicBezTo>
                          <a:pt x="1074" y="13022"/>
                          <a:pt x="1074" y="7713"/>
                          <a:pt x="2038" y="2404"/>
                        </a:cubicBezTo>
                        <a:cubicBezTo>
                          <a:pt x="7711" y="1502"/>
                          <a:pt x="13383" y="1502"/>
                          <a:pt x="19056" y="2404"/>
                        </a:cubicBezTo>
                        <a:cubicBezTo>
                          <a:pt x="20021" y="7713"/>
                          <a:pt x="20021" y="13022"/>
                          <a:pt x="19056" y="18331"/>
                        </a:cubicBezTo>
                        <a:moveTo>
                          <a:pt x="20338" y="2005"/>
                        </a:moveTo>
                        <a:cubicBezTo>
                          <a:pt x="20211" y="1301"/>
                          <a:pt x="19762" y="776"/>
                          <a:pt x="19215" y="689"/>
                        </a:cubicBezTo>
                        <a:cubicBezTo>
                          <a:pt x="16339" y="232"/>
                          <a:pt x="13423" y="0"/>
                          <a:pt x="10547" y="0"/>
                        </a:cubicBezTo>
                        <a:cubicBezTo>
                          <a:pt x="7671" y="0"/>
                          <a:pt x="4755" y="232"/>
                          <a:pt x="1879" y="689"/>
                        </a:cubicBezTo>
                        <a:cubicBezTo>
                          <a:pt x="1332" y="776"/>
                          <a:pt x="883" y="1301"/>
                          <a:pt x="756" y="2005"/>
                        </a:cubicBezTo>
                        <a:cubicBezTo>
                          <a:pt x="-252" y="7553"/>
                          <a:pt x="-252" y="13181"/>
                          <a:pt x="756" y="18731"/>
                        </a:cubicBezTo>
                        <a:cubicBezTo>
                          <a:pt x="883" y="19434"/>
                          <a:pt x="1332" y="19959"/>
                          <a:pt x="1879" y="20046"/>
                        </a:cubicBezTo>
                        <a:cubicBezTo>
                          <a:pt x="3265" y="20266"/>
                          <a:pt x="4660" y="20429"/>
                          <a:pt x="6055" y="20544"/>
                        </a:cubicBezTo>
                        <a:cubicBezTo>
                          <a:pt x="5979" y="20606"/>
                          <a:pt x="5931" y="20670"/>
                          <a:pt x="5931" y="20735"/>
                        </a:cubicBezTo>
                        <a:cubicBezTo>
                          <a:pt x="5931" y="21213"/>
                          <a:pt x="7997" y="21599"/>
                          <a:pt x="10547" y="21599"/>
                        </a:cubicBezTo>
                        <a:cubicBezTo>
                          <a:pt x="13097" y="21599"/>
                          <a:pt x="15164" y="21213"/>
                          <a:pt x="15164" y="20735"/>
                        </a:cubicBezTo>
                        <a:cubicBezTo>
                          <a:pt x="15164" y="20670"/>
                          <a:pt x="15115" y="20606"/>
                          <a:pt x="15040" y="20544"/>
                        </a:cubicBezTo>
                        <a:cubicBezTo>
                          <a:pt x="16434" y="20429"/>
                          <a:pt x="17830" y="20266"/>
                          <a:pt x="19215" y="20046"/>
                        </a:cubicBezTo>
                        <a:cubicBezTo>
                          <a:pt x="19762" y="19959"/>
                          <a:pt x="20211" y="19434"/>
                          <a:pt x="20338" y="18731"/>
                        </a:cubicBezTo>
                        <a:cubicBezTo>
                          <a:pt x="21347" y="13181"/>
                          <a:pt x="21347" y="7553"/>
                          <a:pt x="20338" y="2005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23" name="AutoShape 142">
                    <a:extLst>
                      <a:ext uri="{FF2B5EF4-FFF2-40B4-BE49-F238E27FC236}">
                        <a16:creationId xmlns:a16="http://schemas.microsoft.com/office/drawing/2014/main" id="{DBB216E9-667F-4467-A712-D18E7857B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4019" y="1783557"/>
                    <a:ext cx="43656" cy="42863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7200"/>
                        </a:moveTo>
                        <a:cubicBezTo>
                          <a:pt x="12779" y="7200"/>
                          <a:pt x="14399" y="8820"/>
                          <a:pt x="14399" y="10800"/>
                        </a:cubicBezTo>
                        <a:cubicBezTo>
                          <a:pt x="14399" y="12779"/>
                          <a:pt x="12779" y="14400"/>
                          <a:pt x="10800" y="14400"/>
                        </a:cubicBezTo>
                        <a:cubicBezTo>
                          <a:pt x="8820" y="14400"/>
                          <a:pt x="7199" y="12779"/>
                          <a:pt x="7199" y="10800"/>
                        </a:cubicBezTo>
                        <a:cubicBezTo>
                          <a:pt x="7199" y="8820"/>
                          <a:pt x="8820" y="7200"/>
                          <a:pt x="10800" y="7200"/>
                        </a:cubicBezTo>
                        <a:moveTo>
                          <a:pt x="10800" y="21599"/>
                        </a:moveTo>
                        <a:cubicBezTo>
                          <a:pt x="16762" y="21599"/>
                          <a:pt x="21600" y="16762"/>
                          <a:pt x="21600" y="10800"/>
                        </a:cubicBezTo>
                        <a:cubicBezTo>
                          <a:pt x="21600" y="4837"/>
                          <a:pt x="16762" y="0"/>
                          <a:pt x="10800" y="0"/>
                        </a:cubicBezTo>
                        <a:cubicBezTo>
                          <a:pt x="4837" y="0"/>
                          <a:pt x="0" y="4837"/>
                          <a:pt x="0" y="10800"/>
                        </a:cubicBezTo>
                        <a:cubicBezTo>
                          <a:pt x="0" y="16762"/>
                          <a:pt x="4837" y="21599"/>
                          <a:pt x="10800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24" name="AutoShape 143">
                    <a:extLst>
                      <a:ext uri="{FF2B5EF4-FFF2-40B4-BE49-F238E27FC236}">
                        <a16:creationId xmlns:a16="http://schemas.microsoft.com/office/drawing/2014/main" id="{1C52D24A-F6FF-44F1-B451-73DA675754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9732" y="1971675"/>
                    <a:ext cx="57944" cy="15082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8899" y="0"/>
                        </a:moveTo>
                        <a:lnTo>
                          <a:pt x="2699" y="0"/>
                        </a:lnTo>
                        <a:cubicBezTo>
                          <a:pt x="1210" y="0"/>
                          <a:pt x="0" y="4841"/>
                          <a:pt x="0" y="10800"/>
                        </a:cubicBezTo>
                        <a:cubicBezTo>
                          <a:pt x="0" y="16758"/>
                          <a:pt x="1210" y="21599"/>
                          <a:pt x="2699" y="21599"/>
                        </a:cubicBezTo>
                        <a:lnTo>
                          <a:pt x="18899" y="21599"/>
                        </a:lnTo>
                        <a:cubicBezTo>
                          <a:pt x="20389" y="21599"/>
                          <a:pt x="21600" y="16758"/>
                          <a:pt x="21600" y="10800"/>
                        </a:cubicBezTo>
                        <a:cubicBezTo>
                          <a:pt x="21600" y="4841"/>
                          <a:pt x="20389" y="0"/>
                          <a:pt x="18899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25" name="AutoShape 144">
                    <a:extLst>
                      <a:ext uri="{FF2B5EF4-FFF2-40B4-BE49-F238E27FC236}">
                        <a16:creationId xmlns:a16="http://schemas.microsoft.com/office/drawing/2014/main" id="{A7BE00A1-32D8-49C2-82CD-ED648BB0CB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4019" y="1928019"/>
                    <a:ext cx="58738" cy="15081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8899" y="0"/>
                        </a:moveTo>
                        <a:lnTo>
                          <a:pt x="2699" y="0"/>
                        </a:lnTo>
                        <a:cubicBezTo>
                          <a:pt x="1210" y="0"/>
                          <a:pt x="0" y="4841"/>
                          <a:pt x="0" y="10800"/>
                        </a:cubicBezTo>
                        <a:cubicBezTo>
                          <a:pt x="0" y="16758"/>
                          <a:pt x="1210" y="21599"/>
                          <a:pt x="2699" y="21599"/>
                        </a:cubicBezTo>
                        <a:lnTo>
                          <a:pt x="18899" y="21599"/>
                        </a:lnTo>
                        <a:cubicBezTo>
                          <a:pt x="20389" y="21599"/>
                          <a:pt x="21600" y="16758"/>
                          <a:pt x="21600" y="10800"/>
                        </a:cubicBezTo>
                        <a:cubicBezTo>
                          <a:pt x="21600" y="4841"/>
                          <a:pt x="20389" y="0"/>
                          <a:pt x="18899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26" name="AutoShape 145">
                    <a:extLst>
                      <a:ext uri="{FF2B5EF4-FFF2-40B4-BE49-F238E27FC236}">
                        <a16:creationId xmlns:a16="http://schemas.microsoft.com/office/drawing/2014/main" id="{B8E2AF4B-5AB7-4C4A-B3D4-6BFAEC7FCF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4019" y="1885157"/>
                    <a:ext cx="58738" cy="14288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8899" y="0"/>
                        </a:moveTo>
                        <a:lnTo>
                          <a:pt x="2699" y="0"/>
                        </a:lnTo>
                        <a:cubicBezTo>
                          <a:pt x="1210" y="0"/>
                          <a:pt x="0" y="4841"/>
                          <a:pt x="0" y="10800"/>
                        </a:cubicBezTo>
                        <a:cubicBezTo>
                          <a:pt x="0" y="16758"/>
                          <a:pt x="1210" y="21599"/>
                          <a:pt x="2699" y="21599"/>
                        </a:cubicBezTo>
                        <a:lnTo>
                          <a:pt x="18899" y="21599"/>
                        </a:lnTo>
                        <a:cubicBezTo>
                          <a:pt x="20389" y="21599"/>
                          <a:pt x="21600" y="16758"/>
                          <a:pt x="21600" y="10800"/>
                        </a:cubicBezTo>
                        <a:cubicBezTo>
                          <a:pt x="21600" y="4841"/>
                          <a:pt x="20389" y="0"/>
                          <a:pt x="18899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  <p:sp>
                <p:nvSpPr>
                  <p:cNvPr id="227" name="AutoShape 146">
                    <a:extLst>
                      <a:ext uri="{FF2B5EF4-FFF2-40B4-BE49-F238E27FC236}">
                        <a16:creationId xmlns:a16="http://schemas.microsoft.com/office/drawing/2014/main" id="{45331ABE-82A2-43EC-897B-623269DF40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7957" y="1826419"/>
                    <a:ext cx="86519" cy="61119"/>
                  </a:xfrm>
                  <a:custGeom>
                    <a:avLst/>
                    <a:gdLst>
                      <a:gd name="T0" fmla="+- 0 10822 44"/>
                      <a:gd name="T1" fmla="*/ T0 w 21556"/>
                      <a:gd name="T2" fmla="+- 0 10826 53"/>
                      <a:gd name="T3" fmla="*/ 10826 h 21547"/>
                      <a:gd name="T4" fmla="+- 0 10822 44"/>
                      <a:gd name="T5" fmla="*/ T4 w 21556"/>
                      <a:gd name="T6" fmla="+- 0 10826 53"/>
                      <a:gd name="T7" fmla="*/ 10826 h 21547"/>
                      <a:gd name="T8" fmla="+- 0 10822 44"/>
                      <a:gd name="T9" fmla="*/ T8 w 21556"/>
                      <a:gd name="T10" fmla="+- 0 10826 53"/>
                      <a:gd name="T11" fmla="*/ 10826 h 21547"/>
                      <a:gd name="T12" fmla="+- 0 10822 44"/>
                      <a:gd name="T13" fmla="*/ T12 w 21556"/>
                      <a:gd name="T14" fmla="+- 0 10826 53"/>
                      <a:gd name="T15" fmla="*/ 10826 h 21547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21556" h="21547">
                        <a:moveTo>
                          <a:pt x="19751" y="2"/>
                        </a:moveTo>
                        <a:lnTo>
                          <a:pt x="3200" y="1845"/>
                        </a:lnTo>
                        <a:cubicBezTo>
                          <a:pt x="2215" y="2010"/>
                          <a:pt x="1272" y="3284"/>
                          <a:pt x="1106" y="4676"/>
                        </a:cubicBezTo>
                        <a:lnTo>
                          <a:pt x="1" y="18986"/>
                        </a:lnTo>
                        <a:cubicBezTo>
                          <a:pt x="-44" y="20398"/>
                          <a:pt x="724" y="21547"/>
                          <a:pt x="1712" y="21547"/>
                        </a:cubicBezTo>
                        <a:cubicBezTo>
                          <a:pt x="2698" y="21547"/>
                          <a:pt x="3542" y="20398"/>
                          <a:pt x="3582" y="18978"/>
                        </a:cubicBezTo>
                        <a:lnTo>
                          <a:pt x="4185" y="9251"/>
                        </a:lnTo>
                        <a:cubicBezTo>
                          <a:pt x="4319" y="7849"/>
                          <a:pt x="5235" y="6592"/>
                          <a:pt x="6220" y="6447"/>
                        </a:cubicBezTo>
                        <a:lnTo>
                          <a:pt x="19751" y="5128"/>
                        </a:lnTo>
                        <a:cubicBezTo>
                          <a:pt x="20743" y="5078"/>
                          <a:pt x="21556" y="3884"/>
                          <a:pt x="21556" y="2467"/>
                        </a:cubicBezTo>
                        <a:cubicBezTo>
                          <a:pt x="21556" y="1055"/>
                          <a:pt x="20743" y="-53"/>
                          <a:pt x="19751" y="2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flat" cmpd="sng">
                        <a:solidFill>
                          <a:srgbClr val="000000"/>
                        </a:solidFill>
                        <a:prstDash val="solid"/>
                        <a:miter lim="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rgbClr val="00000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lIns="19050" tIns="19050" rIns="19050" bIns="19050" anchor="ctr"/>
                  <a:lstStyle/>
                  <a:p>
                    <a:pPr marL="0" marR="0" lvl="0" indent="0" algn="ctr" defTabSz="228600" eaLnBrk="1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微软雅黑" panose="020B0503020204020204" pitchFamily="34" charset="-122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210" name="Straight Arrow Connector 39">
                <a:extLst>
                  <a:ext uri="{FF2B5EF4-FFF2-40B4-BE49-F238E27FC236}">
                    <a16:creationId xmlns:a16="http://schemas.microsoft.com/office/drawing/2014/main" id="{E995B679-5F6C-40BA-8B47-828474554DE5}"/>
                  </a:ext>
                </a:extLst>
              </p:cNvPr>
              <p:cNvCxnSpPr/>
              <p:nvPr/>
            </p:nvCxnSpPr>
            <p:spPr>
              <a:xfrm flipV="1">
                <a:off x="1924749" y="2285998"/>
                <a:ext cx="892705" cy="79526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6060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211" name="Straight Arrow Connector 43">
                <a:extLst>
                  <a:ext uri="{FF2B5EF4-FFF2-40B4-BE49-F238E27FC236}">
                    <a16:creationId xmlns:a16="http://schemas.microsoft.com/office/drawing/2014/main" id="{CC55BDB3-6947-46A6-B57B-589BA8EF338B}"/>
                  </a:ext>
                </a:extLst>
              </p:cNvPr>
              <p:cNvCxnSpPr/>
              <p:nvPr/>
            </p:nvCxnSpPr>
            <p:spPr>
              <a:xfrm flipV="1">
                <a:off x="3650589" y="2190893"/>
                <a:ext cx="967911" cy="95105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6060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212" name="Straight Arrow Connector 46">
                <a:extLst>
                  <a:ext uri="{FF2B5EF4-FFF2-40B4-BE49-F238E27FC236}">
                    <a16:creationId xmlns:a16="http://schemas.microsoft.com/office/drawing/2014/main" id="{5B9637BC-7774-406E-BB58-49DAF13001A6}"/>
                  </a:ext>
                </a:extLst>
              </p:cNvPr>
              <p:cNvCxnSpPr/>
              <p:nvPr/>
            </p:nvCxnSpPr>
            <p:spPr>
              <a:xfrm flipV="1">
                <a:off x="5626591" y="2134325"/>
                <a:ext cx="926254" cy="56568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60606"/>
                </a:solidFill>
                <a:prstDash val="solid"/>
                <a:tailEnd type="triangle"/>
              </a:ln>
              <a:effectLst/>
            </p:spPr>
          </p:cxnSp>
          <p:grpSp>
            <p:nvGrpSpPr>
              <p:cNvPr id="213" name="组合 212">
                <a:extLst>
                  <a:ext uri="{FF2B5EF4-FFF2-40B4-BE49-F238E27FC236}">
                    <a16:creationId xmlns:a16="http://schemas.microsoft.com/office/drawing/2014/main" id="{A506826C-E113-4113-91A6-CDD281ABEEC3}"/>
                  </a:ext>
                </a:extLst>
              </p:cNvPr>
              <p:cNvGrpSpPr/>
              <p:nvPr/>
            </p:nvGrpSpPr>
            <p:grpSpPr>
              <a:xfrm>
                <a:off x="595568" y="2932586"/>
                <a:ext cx="1881812" cy="2756565"/>
                <a:chOff x="1043736" y="1638320"/>
                <a:chExt cx="2047346" cy="2756565"/>
              </a:xfrm>
            </p:grpSpPr>
            <p:sp>
              <p:nvSpPr>
                <p:cNvPr id="217" name="TextBox 204">
                  <a:extLst>
                    <a:ext uri="{FF2B5EF4-FFF2-40B4-BE49-F238E27FC236}">
                      <a16:creationId xmlns:a16="http://schemas.microsoft.com/office/drawing/2014/main" id="{567C714D-ADBA-4BB8-9F4C-9AC671D29E60}"/>
                    </a:ext>
                  </a:extLst>
                </p:cNvPr>
                <p:cNvSpPr txBox="1"/>
                <p:nvPr/>
              </p:nvSpPr>
              <p:spPr>
                <a:xfrm>
                  <a:off x="1043736" y="2001402"/>
                  <a:ext cx="2047346" cy="2393483"/>
                </a:xfrm>
                <a:prstGeom prst="rect">
                  <a:avLst/>
                </a:prstGeom>
                <a:noFill/>
                <a:ln w="12700">
                  <a:solidFill>
                    <a:sysClr val="windowText" lastClr="000000"/>
                  </a:solidFill>
                  <a:prstDash val="lgDash"/>
                </a:ln>
              </p:spPr>
              <p:txBody>
                <a:bodyPr wrap="square" lIns="0" tIns="0" rtlCol="0" anchor="t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重点工作</a:t>
                  </a:r>
                  <a:endPara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 marL="285750" marR="0" lvl="0" indent="-285750" defTabSz="914400" eaLnBrk="1" fontAlgn="base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Char char="Ø"/>
                    <a:tabLst/>
                    <a:defRPr/>
                  </a:pPr>
                  <a:r>
                    <a:rPr kumimoji="0" lang="en-US" altLang="zh-C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ERP</a:t>
                  </a:r>
                  <a:r>
                    <a:rPr kumimoji="0" lang="zh-CN" altLang="en-US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的核算标准化，规范化</a:t>
                  </a:r>
                  <a:endParaRPr kumimoji="0" lang="en-US" altLang="zh-CN" sz="13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 marL="285750" marR="0" lvl="0" indent="-285750" defTabSz="914400" eaLnBrk="1" fontAlgn="base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Char char="Ø"/>
                    <a:tabLst/>
                    <a:defRPr/>
                  </a:pPr>
                  <a:r>
                    <a:rPr kumimoji="0" lang="zh-CN" altLang="en-US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确保报表，报税，报统的及时性和合规性；</a:t>
                  </a:r>
                  <a:endParaRPr kumimoji="0" lang="en-US" altLang="zh-CN" sz="13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 marL="285750" marR="0" lvl="0" indent="-285750" defTabSz="914400" eaLnBrk="1" fontAlgn="base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Char char="Ø"/>
                    <a:tabLst/>
                    <a:defRPr/>
                  </a:pPr>
                  <a:r>
                    <a:rPr kumimoji="0" lang="zh-CN" altLang="en-US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加强资产、资金安全性管理；</a:t>
                  </a:r>
                  <a:endParaRPr kumimoji="0" lang="en-US" altLang="zh-CN" sz="13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 marL="285750" marR="0" lvl="0" indent="-285750" defTabSz="914400" eaLnBrk="1" fontAlgn="base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Char char="Ø"/>
                    <a:tabLst/>
                    <a:defRPr/>
                  </a:pPr>
                  <a:r>
                    <a:rPr kumimoji="0" lang="zh-CN" altLang="en-US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预算管控的合理性和滚动调整；</a:t>
                  </a:r>
                  <a:endParaRPr kumimoji="0" lang="en-US" altLang="zh-CN" sz="13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 marL="285750" marR="0" lvl="0" indent="-285750" defTabSz="914400" eaLnBrk="1" fontAlgn="base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Char char="Ø"/>
                    <a:tabLst/>
                    <a:defRPr/>
                  </a:pPr>
                  <a:r>
                    <a:rPr kumimoji="0" lang="zh-CN" altLang="en-US" sz="13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基础数据支撑，预算与核算口径一致，建立数据仓（资金和基础数据）。</a:t>
                  </a:r>
                  <a:endParaRPr kumimoji="0" lang="en-US" altLang="zh-CN" sz="13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18" name="TextBox 205">
                  <a:extLst>
                    <a:ext uri="{FF2B5EF4-FFF2-40B4-BE49-F238E27FC236}">
                      <a16:creationId xmlns:a16="http://schemas.microsoft.com/office/drawing/2014/main" id="{27F2AF2D-CE3A-4455-BE5B-D6589906CBA9}"/>
                    </a:ext>
                  </a:extLst>
                </p:cNvPr>
                <p:cNvSpPr txBox="1"/>
                <p:nvPr/>
              </p:nvSpPr>
              <p:spPr>
                <a:xfrm>
                  <a:off x="1490816" y="1638320"/>
                  <a:ext cx="1056400" cy="291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cs typeface="+mn-ea"/>
                      <a:sym typeface="+mn-lt"/>
                    </a:rPr>
                    <a:t>基础夯实</a:t>
                  </a:r>
                  <a:endPara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sym typeface="+mn-lt"/>
                  </a:endParaRPr>
                </a:p>
              </p:txBody>
            </p:sp>
          </p:grpSp>
          <p:sp>
            <p:nvSpPr>
              <p:cNvPr id="214" name="TextBox 211">
                <a:extLst>
                  <a:ext uri="{FF2B5EF4-FFF2-40B4-BE49-F238E27FC236}">
                    <a16:creationId xmlns:a16="http://schemas.microsoft.com/office/drawing/2014/main" id="{6F85834A-756F-4DA7-9501-30E2C92B915F}"/>
                  </a:ext>
                </a:extLst>
              </p:cNvPr>
              <p:cNvSpPr txBox="1"/>
              <p:nvPr/>
            </p:nvSpPr>
            <p:spPr>
              <a:xfrm>
                <a:off x="2774723" y="2932586"/>
                <a:ext cx="970987" cy="2912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rPr>
                  <a:t>服务转身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23A16477-CB19-4A88-AD3F-29CA238C74C5}"/>
                  </a:ext>
                </a:extLst>
              </p:cNvPr>
              <p:cNvSpPr txBox="1"/>
              <p:nvPr/>
            </p:nvSpPr>
            <p:spPr>
              <a:xfrm>
                <a:off x="4627329" y="2932586"/>
                <a:ext cx="970987" cy="2912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rPr>
                  <a:t>业财融合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216" name="TextBox 217">
                <a:extLst>
                  <a:ext uri="{FF2B5EF4-FFF2-40B4-BE49-F238E27FC236}">
                    <a16:creationId xmlns:a16="http://schemas.microsoft.com/office/drawing/2014/main" id="{595F457E-B1E3-4A60-862D-06F10539B14E}"/>
                  </a:ext>
                </a:extLst>
              </p:cNvPr>
              <p:cNvSpPr txBox="1"/>
              <p:nvPr/>
            </p:nvSpPr>
            <p:spPr>
              <a:xfrm>
                <a:off x="6684990" y="2932586"/>
                <a:ext cx="970987" cy="2912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+mn-ea"/>
                    <a:sym typeface="+mn-lt"/>
                  </a:rPr>
                  <a:t>价值创造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sym typeface="+mn-lt"/>
                </a:endParaRPr>
              </a:p>
            </p:txBody>
          </p:sp>
        </p:grpSp>
        <p:sp>
          <p:nvSpPr>
            <p:cNvPr id="203" name="TextBox 204">
              <a:extLst>
                <a:ext uri="{FF2B5EF4-FFF2-40B4-BE49-F238E27FC236}">
                  <a16:creationId xmlns:a16="http://schemas.microsoft.com/office/drawing/2014/main" id="{7226D368-D7CB-4999-89EA-3C876F352043}"/>
                </a:ext>
              </a:extLst>
            </p:cNvPr>
            <p:cNvSpPr txBox="1"/>
            <p:nvPr/>
          </p:nvSpPr>
          <p:spPr>
            <a:xfrm>
              <a:off x="3441374" y="3212558"/>
              <a:ext cx="2241918" cy="3034677"/>
            </a:xfrm>
            <a:prstGeom prst="rect">
              <a:avLst/>
            </a:prstGeom>
            <a:noFill/>
            <a:ln w="12700">
              <a:solidFill>
                <a:sysClr val="windowText" lastClr="000000"/>
              </a:solidFill>
              <a:prstDash val="lgDash"/>
            </a:ln>
          </p:spPr>
          <p:txBody>
            <a:bodyPr wrap="square" lIns="0" tIns="0" rtlCol="0" anchor="t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重点工作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明确研发，生产，销售三大主业务流程财务人员分工；</a:t>
              </a:r>
              <a:endPara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思想转变，</a:t>
              </a:r>
              <a:r>
                <a:rPr kumimoji="0" lang="en-US" altLang="zh-CN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BP</a:t>
              </a: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人员主动事前参与业务流程，提供专业的财务解决方案；主动服务和支持；</a:t>
              </a:r>
              <a:endPara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服务转身要提升自身专业能力与技能水平。</a:t>
              </a:r>
              <a:endParaRPr kumimoji="0" lang="en-US" altLang="zh-CN" sz="13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4" name="TextBox 204">
              <a:extLst>
                <a:ext uri="{FF2B5EF4-FFF2-40B4-BE49-F238E27FC236}">
                  <a16:creationId xmlns:a16="http://schemas.microsoft.com/office/drawing/2014/main" id="{A1827867-8CF3-4B61-A403-5198F4B277EB}"/>
                </a:ext>
              </a:extLst>
            </p:cNvPr>
            <p:cNvSpPr txBox="1"/>
            <p:nvPr/>
          </p:nvSpPr>
          <p:spPr>
            <a:xfrm>
              <a:off x="5687345" y="3212976"/>
              <a:ext cx="2241918" cy="3034677"/>
            </a:xfrm>
            <a:prstGeom prst="rect">
              <a:avLst/>
            </a:prstGeom>
            <a:noFill/>
            <a:ln w="12700">
              <a:solidFill>
                <a:sysClr val="windowText" lastClr="000000"/>
              </a:solidFill>
              <a:prstDash val="lgDash"/>
            </a:ln>
          </p:spPr>
          <p:txBody>
            <a:bodyPr wrap="square" lIns="0" tIns="0" rtlCol="0" anchor="t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重点工作</a:t>
              </a:r>
              <a:endParaRPr kumimoji="0" lang="en-US" altLang="zh-CN" sz="13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发挥专业能力，实现与业务的共同目标，同时坚守公司红线；</a:t>
              </a:r>
              <a:endPara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召开经营分析会，识别痛点问题，</a:t>
              </a:r>
              <a:r>
                <a:rPr kumimoji="0" lang="en-US" altLang="zh-CN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E2E</a:t>
              </a: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问题闭环</a:t>
              </a:r>
              <a:endParaRPr kumimoji="0" lang="en-US" altLang="zh-CN" sz="13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建立各领域的财务基线，特别是成本，费用基线；</a:t>
              </a:r>
              <a:endParaRPr kumimoji="0" lang="en-US" altLang="zh-CN" sz="13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业财融合成果要体现在经营改善上。</a:t>
              </a:r>
              <a:endParaRPr kumimoji="0" lang="en-US" altLang="zh-CN" sz="13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D11FD699-6776-48AF-AE9C-E765E6629521}"/>
                </a:ext>
              </a:extLst>
            </p:cNvPr>
            <p:cNvSpPr txBox="1"/>
            <p:nvPr/>
          </p:nvSpPr>
          <p:spPr>
            <a:xfrm>
              <a:off x="7928860" y="3213765"/>
              <a:ext cx="2241918" cy="3034677"/>
            </a:xfrm>
            <a:prstGeom prst="rect">
              <a:avLst/>
            </a:prstGeom>
            <a:noFill/>
            <a:ln w="12700">
              <a:solidFill>
                <a:sysClr val="windowText" lastClr="000000"/>
              </a:solidFill>
              <a:prstDash val="lgDash"/>
            </a:ln>
          </p:spPr>
          <p:txBody>
            <a:bodyPr wrap="square" lIns="0" tIns="0" rtlCol="0" anchor="t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重点工作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管理报表体系</a:t>
              </a: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及分析报告，支撑公司决策；</a:t>
              </a:r>
              <a:endPara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基于客户，产品，项目战略的财务牵引，重点：</a:t>
              </a: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降本增效，运营资产效率提升</a:t>
              </a: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；</a:t>
              </a:r>
              <a:endParaRPr kumimoji="0" lang="en-US" altLang="zh-CN" sz="13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上线</a:t>
              </a:r>
              <a:r>
                <a:rPr kumimoji="0" lang="zh-CN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预算管理工具</a:t>
              </a:r>
              <a:r>
                <a:rPr kumimoji="0" lang="zh-CN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ea"/>
                  <a:sym typeface="+mn-lt"/>
                </a:rPr>
                <a:t>，提高预算管控水平；</a:t>
              </a:r>
              <a:endPara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  <a:p>
              <a:pPr marL="285750" marR="0" lvl="0" indent="-28575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A0AA5CB8-05E4-4DAA-BD3E-0B33084EB160}"/>
              </a:ext>
            </a:extLst>
          </p:cNvPr>
          <p:cNvGrpSpPr/>
          <p:nvPr/>
        </p:nvGrpSpPr>
        <p:grpSpPr>
          <a:xfrm>
            <a:off x="3530344" y="2607830"/>
            <a:ext cx="363475" cy="605146"/>
            <a:chOff x="5521475" y="2607830"/>
            <a:chExt cx="363475" cy="605146"/>
          </a:xfrm>
        </p:grpSpPr>
        <p:sp>
          <p:nvSpPr>
            <p:cNvPr id="266" name="波形 265">
              <a:extLst>
                <a:ext uri="{FF2B5EF4-FFF2-40B4-BE49-F238E27FC236}">
                  <a16:creationId xmlns:a16="http://schemas.microsoft.com/office/drawing/2014/main" id="{D5CD8E8C-15B1-4232-B161-75DCB917B262}"/>
                </a:ext>
              </a:extLst>
            </p:cNvPr>
            <p:cNvSpPr/>
            <p:nvPr/>
          </p:nvSpPr>
          <p:spPr>
            <a:xfrm>
              <a:off x="5524910" y="2607830"/>
              <a:ext cx="360040" cy="298393"/>
            </a:xfrm>
            <a:prstGeom prst="wave">
              <a:avLst/>
            </a:prstGeom>
            <a:solidFill>
              <a:srgbClr val="FF0000"/>
            </a:solidFill>
            <a:ln w="25400" cap="flat" cmpd="sng" algn="ctr">
              <a:noFill/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DB6503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C8263A6A-5792-4C3E-97E3-45DFA55B65AC}"/>
                </a:ext>
              </a:extLst>
            </p:cNvPr>
            <p:cNvCxnSpPr>
              <a:cxnSpLocks/>
            </p:cNvCxnSpPr>
            <p:nvPr/>
          </p:nvCxnSpPr>
          <p:spPr>
            <a:xfrm>
              <a:off x="5521475" y="2661905"/>
              <a:ext cx="0" cy="55107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</a:ln>
            <a:effectLst/>
          </p:spPr>
        </p:cxn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313E22AB-3EDC-4E31-B346-C45482D6F2EB}"/>
              </a:ext>
            </a:extLst>
          </p:cNvPr>
          <p:cNvGrpSpPr/>
          <p:nvPr/>
        </p:nvGrpSpPr>
        <p:grpSpPr>
          <a:xfrm>
            <a:off x="7924807" y="2615362"/>
            <a:ext cx="363475" cy="605146"/>
            <a:chOff x="5521475" y="2607830"/>
            <a:chExt cx="363475" cy="605146"/>
          </a:xfrm>
        </p:grpSpPr>
        <p:sp>
          <p:nvSpPr>
            <p:cNvPr id="269" name="波形 268">
              <a:extLst>
                <a:ext uri="{FF2B5EF4-FFF2-40B4-BE49-F238E27FC236}">
                  <a16:creationId xmlns:a16="http://schemas.microsoft.com/office/drawing/2014/main" id="{20E0511D-5E1C-4F9F-80F1-90CED9EDB113}"/>
                </a:ext>
              </a:extLst>
            </p:cNvPr>
            <p:cNvSpPr/>
            <p:nvPr/>
          </p:nvSpPr>
          <p:spPr>
            <a:xfrm>
              <a:off x="5524910" y="2607830"/>
              <a:ext cx="360040" cy="298393"/>
            </a:xfrm>
            <a:prstGeom prst="wave">
              <a:avLst/>
            </a:prstGeom>
            <a:solidFill>
              <a:srgbClr val="FF0000"/>
            </a:solidFill>
            <a:ln w="25400" cap="flat" cmpd="sng" algn="ctr">
              <a:noFill/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DB6503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20281D8E-D58B-47F3-809B-BBBD02FD7237}"/>
                </a:ext>
              </a:extLst>
            </p:cNvPr>
            <p:cNvCxnSpPr>
              <a:cxnSpLocks/>
            </p:cNvCxnSpPr>
            <p:nvPr/>
          </p:nvCxnSpPr>
          <p:spPr>
            <a:xfrm>
              <a:off x="5521475" y="2661905"/>
              <a:ext cx="0" cy="55107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</a:ln>
            <a:effectLst/>
          </p:spPr>
        </p:cxnSp>
      </p:grpSp>
      <p:sp>
        <p:nvSpPr>
          <p:cNvPr id="271" name="文本框 270">
            <a:extLst>
              <a:ext uri="{FF2B5EF4-FFF2-40B4-BE49-F238E27FC236}">
                <a16:creationId xmlns:a16="http://schemas.microsoft.com/office/drawing/2014/main" id="{151A2202-C6BA-4390-8F46-87C405685D42}"/>
              </a:ext>
            </a:extLst>
          </p:cNvPr>
          <p:cNvSpPr txBox="1"/>
          <p:nvPr/>
        </p:nvSpPr>
        <p:spPr>
          <a:xfrm>
            <a:off x="3411618" y="2282935"/>
            <a:ext cx="624571" cy="276999"/>
          </a:xfrm>
          <a:prstGeom prst="rect">
            <a:avLst/>
          </a:prstGeom>
          <a:solidFill>
            <a:sysClr val="window" lastClr="FFFFFF">
              <a:lumMod val="75000"/>
            </a:sys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rPr>
              <a:t>2024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2A1F37C3-6EBB-4010-BA64-E6B94F412734}"/>
              </a:ext>
            </a:extLst>
          </p:cNvPr>
          <p:cNvSpPr txBox="1"/>
          <p:nvPr/>
        </p:nvSpPr>
        <p:spPr>
          <a:xfrm>
            <a:off x="7724643" y="2311325"/>
            <a:ext cx="692205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</a:rPr>
              <a:t>2025</a:t>
            </a:r>
            <a:endParaRPr lang="zh-CN" altLang="en-US" sz="1200" b="1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289C0A24-9A16-4E0C-9012-785D2C1A6792}"/>
              </a:ext>
            </a:extLst>
          </p:cNvPr>
          <p:cNvGrpSpPr/>
          <p:nvPr/>
        </p:nvGrpSpPr>
        <p:grpSpPr>
          <a:xfrm>
            <a:off x="678179" y="620342"/>
            <a:ext cx="6395712" cy="849821"/>
            <a:chOff x="678179" y="620342"/>
            <a:chExt cx="6395712" cy="849821"/>
          </a:xfrm>
        </p:grpSpPr>
        <p:sp>
          <p:nvSpPr>
            <p:cNvPr id="274" name="Freeform 7">
              <a:extLst>
                <a:ext uri="{FF2B5EF4-FFF2-40B4-BE49-F238E27FC236}">
                  <a16:creationId xmlns:a16="http://schemas.microsoft.com/office/drawing/2014/main" id="{857840C7-05CD-4109-B4AE-3292801B1DD2}"/>
                </a:ext>
              </a:extLst>
            </p:cNvPr>
            <p:cNvSpPr/>
            <p:nvPr/>
          </p:nvSpPr>
          <p:spPr>
            <a:xfrm>
              <a:off x="678179" y="790687"/>
              <a:ext cx="5921613" cy="327670"/>
            </a:xfrm>
            <a:custGeom>
              <a:avLst/>
              <a:gdLst>
                <a:gd name="connsiteX0" fmla="*/ 0 w 6781800"/>
                <a:gd name="connsiteY0" fmla="*/ 299838 h 1215160"/>
                <a:gd name="connsiteX1" fmla="*/ 2705100 w 6781800"/>
                <a:gd name="connsiteY1" fmla="*/ 52188 h 1215160"/>
                <a:gd name="connsiteX2" fmla="*/ 5619750 w 6781800"/>
                <a:gd name="connsiteY2" fmla="*/ 1195188 h 1215160"/>
                <a:gd name="connsiteX3" fmla="*/ 6781800 w 6781800"/>
                <a:gd name="connsiteY3" fmla="*/ 757038 h 1215160"/>
                <a:gd name="connsiteX0" fmla="*/ 0 w 6038850"/>
                <a:gd name="connsiteY0" fmla="*/ 299838 h 1304686"/>
                <a:gd name="connsiteX1" fmla="*/ 2705100 w 6038850"/>
                <a:gd name="connsiteY1" fmla="*/ 52188 h 1304686"/>
                <a:gd name="connsiteX2" fmla="*/ 5619750 w 6038850"/>
                <a:gd name="connsiteY2" fmla="*/ 1195188 h 1304686"/>
                <a:gd name="connsiteX3" fmla="*/ 6038850 w 6038850"/>
                <a:gd name="connsiteY3" fmla="*/ 1176138 h 1304686"/>
                <a:gd name="connsiteX0" fmla="*/ 0 w 6038850"/>
                <a:gd name="connsiteY0" fmla="*/ 287550 h 1218694"/>
                <a:gd name="connsiteX1" fmla="*/ 2705100 w 6038850"/>
                <a:gd name="connsiteY1" fmla="*/ 39900 h 1218694"/>
                <a:gd name="connsiteX2" fmla="*/ 4832350 w 6038850"/>
                <a:gd name="connsiteY2" fmla="*/ 1005100 h 1218694"/>
                <a:gd name="connsiteX3" fmla="*/ 6038850 w 6038850"/>
                <a:gd name="connsiteY3" fmla="*/ 1163850 h 1218694"/>
                <a:gd name="connsiteX0" fmla="*/ 0 w 6038850"/>
                <a:gd name="connsiteY0" fmla="*/ 287550 h 1225494"/>
                <a:gd name="connsiteX1" fmla="*/ 2705100 w 6038850"/>
                <a:gd name="connsiteY1" fmla="*/ 39900 h 1225494"/>
                <a:gd name="connsiteX2" fmla="*/ 4832350 w 6038850"/>
                <a:gd name="connsiteY2" fmla="*/ 1005100 h 1225494"/>
                <a:gd name="connsiteX3" fmla="*/ 6038850 w 6038850"/>
                <a:gd name="connsiteY3" fmla="*/ 1163850 h 1225494"/>
                <a:gd name="connsiteX0" fmla="*/ 0 w 6066351"/>
                <a:gd name="connsiteY0" fmla="*/ 287550 h 1183922"/>
                <a:gd name="connsiteX1" fmla="*/ 2705100 w 6066351"/>
                <a:gd name="connsiteY1" fmla="*/ 39900 h 1183922"/>
                <a:gd name="connsiteX2" fmla="*/ 4832350 w 6066351"/>
                <a:gd name="connsiteY2" fmla="*/ 1005100 h 1183922"/>
                <a:gd name="connsiteX3" fmla="*/ 6066351 w 6066351"/>
                <a:gd name="connsiteY3" fmla="*/ 1101974 h 1183922"/>
                <a:gd name="connsiteX0" fmla="*/ 0 w 6066351"/>
                <a:gd name="connsiteY0" fmla="*/ 287550 h 1204375"/>
                <a:gd name="connsiteX1" fmla="*/ 2705100 w 6066351"/>
                <a:gd name="connsiteY1" fmla="*/ 39900 h 1204375"/>
                <a:gd name="connsiteX2" fmla="*/ 4832350 w 6066351"/>
                <a:gd name="connsiteY2" fmla="*/ 1005100 h 1204375"/>
                <a:gd name="connsiteX3" fmla="*/ 6066351 w 6066351"/>
                <a:gd name="connsiteY3" fmla="*/ 1101974 h 1204375"/>
                <a:gd name="connsiteX0" fmla="*/ 0 w 6066351"/>
                <a:gd name="connsiteY0" fmla="*/ 287550 h 1204375"/>
                <a:gd name="connsiteX1" fmla="*/ 2705100 w 6066351"/>
                <a:gd name="connsiteY1" fmla="*/ 39900 h 1204375"/>
                <a:gd name="connsiteX2" fmla="*/ 4832350 w 6066351"/>
                <a:gd name="connsiteY2" fmla="*/ 1005100 h 1204375"/>
                <a:gd name="connsiteX3" fmla="*/ 6066351 w 6066351"/>
                <a:gd name="connsiteY3" fmla="*/ 1101974 h 1204375"/>
                <a:gd name="connsiteX0" fmla="*/ 0 w 6141978"/>
                <a:gd name="connsiteY0" fmla="*/ 315478 h 1197927"/>
                <a:gd name="connsiteX1" fmla="*/ 2780727 w 6141978"/>
                <a:gd name="connsiteY1" fmla="*/ 33452 h 1197927"/>
                <a:gd name="connsiteX2" fmla="*/ 4907977 w 6141978"/>
                <a:gd name="connsiteY2" fmla="*/ 998652 h 1197927"/>
                <a:gd name="connsiteX3" fmla="*/ 6141978 w 6141978"/>
                <a:gd name="connsiteY3" fmla="*/ 1095526 h 1197927"/>
                <a:gd name="connsiteX0" fmla="*/ 0 w 6141978"/>
                <a:gd name="connsiteY0" fmla="*/ 316169 h 1198618"/>
                <a:gd name="connsiteX1" fmla="*/ 2780727 w 6141978"/>
                <a:gd name="connsiteY1" fmla="*/ 34143 h 1198618"/>
                <a:gd name="connsiteX2" fmla="*/ 4907977 w 6141978"/>
                <a:gd name="connsiteY2" fmla="*/ 999343 h 1198618"/>
                <a:gd name="connsiteX3" fmla="*/ 6141978 w 6141978"/>
                <a:gd name="connsiteY3" fmla="*/ 1096217 h 1198618"/>
                <a:gd name="connsiteX0" fmla="*/ 0 w 6141978"/>
                <a:gd name="connsiteY0" fmla="*/ 318869 h 1201318"/>
                <a:gd name="connsiteX1" fmla="*/ 2780727 w 6141978"/>
                <a:gd name="connsiteY1" fmla="*/ 36843 h 1201318"/>
                <a:gd name="connsiteX2" fmla="*/ 4907977 w 6141978"/>
                <a:gd name="connsiteY2" fmla="*/ 1002043 h 1201318"/>
                <a:gd name="connsiteX3" fmla="*/ 6141978 w 6141978"/>
                <a:gd name="connsiteY3" fmla="*/ 1098917 h 120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41978" h="1201318">
                  <a:moveTo>
                    <a:pt x="0" y="318869"/>
                  </a:moveTo>
                  <a:cubicBezTo>
                    <a:pt x="746733" y="113556"/>
                    <a:pt x="1928355" y="-83894"/>
                    <a:pt x="2780727" y="36843"/>
                  </a:cubicBezTo>
                  <a:cubicBezTo>
                    <a:pt x="3633099" y="157580"/>
                    <a:pt x="4447602" y="755468"/>
                    <a:pt x="4907977" y="1002043"/>
                  </a:cubicBezTo>
                  <a:cubicBezTo>
                    <a:pt x="5368352" y="1221118"/>
                    <a:pt x="5836175" y="1268751"/>
                    <a:pt x="6141978" y="1098917"/>
                  </a:cubicBezTo>
                </a:path>
              </a:pathLst>
            </a:custGeom>
            <a:noFill/>
            <a:ln w="6350" cap="flat" cmpd="sng" algn="ctr">
              <a:solidFill>
                <a:srgbClr val="87102C"/>
              </a:solidFill>
              <a:prstDash val="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75" name="组合 274">
              <a:extLst>
                <a:ext uri="{FF2B5EF4-FFF2-40B4-BE49-F238E27FC236}">
                  <a16:creationId xmlns:a16="http://schemas.microsoft.com/office/drawing/2014/main" id="{42149C63-F6A1-44B7-AFCD-EC8256CD98E2}"/>
                </a:ext>
              </a:extLst>
            </p:cNvPr>
            <p:cNvGrpSpPr/>
            <p:nvPr/>
          </p:nvGrpSpPr>
          <p:grpSpPr>
            <a:xfrm rot="2743464">
              <a:off x="6331240" y="727512"/>
              <a:ext cx="849821" cy="635481"/>
              <a:chOff x="6054436" y="2516682"/>
              <a:chExt cx="849821" cy="635481"/>
            </a:xfrm>
          </p:grpSpPr>
          <p:sp>
            <p:nvSpPr>
              <p:cNvPr id="276" name="Freeform 133">
                <a:extLst>
                  <a:ext uri="{FF2B5EF4-FFF2-40B4-BE49-F238E27FC236}">
                    <a16:creationId xmlns:a16="http://schemas.microsoft.com/office/drawing/2014/main" id="{53D957E0-4E6D-40DE-B11E-30F7CB6AC147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116557" y="2900581"/>
                <a:ext cx="189461" cy="313703"/>
              </a:xfrm>
              <a:custGeom>
                <a:avLst/>
                <a:gdLst>
                  <a:gd name="T0" fmla="*/ 7566 w 397"/>
                  <a:gd name="T1" fmla="*/ 1009717 h 659"/>
                  <a:gd name="T2" fmla="*/ 0 w 397"/>
                  <a:gd name="T3" fmla="*/ 1009717 h 659"/>
                  <a:gd name="T4" fmla="*/ 0 w 397"/>
                  <a:gd name="T5" fmla="*/ 1009717 h 659"/>
                  <a:gd name="T6" fmla="*/ 11348 w 397"/>
                  <a:gd name="T7" fmla="*/ 1021020 h 659"/>
                  <a:gd name="T8" fmla="*/ 15131 w 397"/>
                  <a:gd name="T9" fmla="*/ 1062464 h 659"/>
                  <a:gd name="T10" fmla="*/ 18914 w 397"/>
                  <a:gd name="T11" fmla="*/ 1069999 h 659"/>
                  <a:gd name="T12" fmla="*/ 181575 w 397"/>
                  <a:gd name="T13" fmla="*/ 1574858 h 659"/>
                  <a:gd name="T14" fmla="*/ 348019 w 397"/>
                  <a:gd name="T15" fmla="*/ 1092605 h 659"/>
                  <a:gd name="T16" fmla="*/ 650644 w 397"/>
                  <a:gd name="T17" fmla="*/ 1661513 h 659"/>
                  <a:gd name="T18" fmla="*/ 548508 w 397"/>
                  <a:gd name="T19" fmla="*/ 2124928 h 659"/>
                  <a:gd name="T20" fmla="*/ 760345 w 397"/>
                  <a:gd name="T21" fmla="*/ 2482850 h 659"/>
                  <a:gd name="T22" fmla="*/ 650644 w 397"/>
                  <a:gd name="T23" fmla="*/ 2275632 h 659"/>
                  <a:gd name="T24" fmla="*/ 688472 w 397"/>
                  <a:gd name="T25" fmla="*/ 1989294 h 659"/>
                  <a:gd name="T26" fmla="*/ 866264 w 397"/>
                  <a:gd name="T27" fmla="*/ 1740632 h 659"/>
                  <a:gd name="T28" fmla="*/ 1028925 w 397"/>
                  <a:gd name="T29" fmla="*/ 1454295 h 659"/>
                  <a:gd name="T30" fmla="*/ 1059187 w 397"/>
                  <a:gd name="T31" fmla="*/ 1363872 h 659"/>
                  <a:gd name="T32" fmla="*/ 1161323 w 397"/>
                  <a:gd name="T33" fmla="*/ 1823520 h 659"/>
                  <a:gd name="T34" fmla="*/ 1229414 w 397"/>
                  <a:gd name="T35" fmla="*/ 1529647 h 659"/>
                  <a:gd name="T36" fmla="*/ 1399640 w 397"/>
                  <a:gd name="T37" fmla="*/ 745985 h 659"/>
                  <a:gd name="T38" fmla="*/ 714951 w 397"/>
                  <a:gd name="T39" fmla="*/ 0 h 659"/>
                  <a:gd name="T40" fmla="*/ 11348 w 397"/>
                  <a:gd name="T41" fmla="*/ 956971 h 659"/>
                  <a:gd name="T42" fmla="*/ 7566 w 397"/>
                  <a:gd name="T43" fmla="*/ 1009717 h 65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97" h="659">
                    <a:moveTo>
                      <a:pt x="2" y="268"/>
                    </a:moveTo>
                    <a:cubicBezTo>
                      <a:pt x="2" y="267"/>
                      <a:pt x="0" y="264"/>
                      <a:pt x="0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69"/>
                      <a:pt x="2" y="270"/>
                      <a:pt x="3" y="271"/>
                    </a:cubicBezTo>
                    <a:cubicBezTo>
                      <a:pt x="3" y="275"/>
                      <a:pt x="4" y="278"/>
                      <a:pt x="4" y="282"/>
                    </a:cubicBezTo>
                    <a:cubicBezTo>
                      <a:pt x="5" y="283"/>
                      <a:pt x="5" y="283"/>
                      <a:pt x="5" y="284"/>
                    </a:cubicBezTo>
                    <a:cubicBezTo>
                      <a:pt x="10" y="335"/>
                      <a:pt x="25" y="381"/>
                      <a:pt x="48" y="418"/>
                    </a:cubicBezTo>
                    <a:cubicBezTo>
                      <a:pt x="23" y="377"/>
                      <a:pt x="37" y="299"/>
                      <a:pt x="92" y="290"/>
                    </a:cubicBezTo>
                    <a:cubicBezTo>
                      <a:pt x="158" y="280"/>
                      <a:pt x="169" y="399"/>
                      <a:pt x="172" y="441"/>
                    </a:cubicBezTo>
                    <a:cubicBezTo>
                      <a:pt x="174" y="484"/>
                      <a:pt x="145" y="521"/>
                      <a:pt x="145" y="564"/>
                    </a:cubicBezTo>
                    <a:cubicBezTo>
                      <a:pt x="145" y="613"/>
                      <a:pt x="170" y="653"/>
                      <a:pt x="201" y="659"/>
                    </a:cubicBezTo>
                    <a:cubicBezTo>
                      <a:pt x="187" y="656"/>
                      <a:pt x="174" y="616"/>
                      <a:pt x="172" y="604"/>
                    </a:cubicBezTo>
                    <a:cubicBezTo>
                      <a:pt x="168" y="580"/>
                      <a:pt x="175" y="551"/>
                      <a:pt x="182" y="528"/>
                    </a:cubicBezTo>
                    <a:cubicBezTo>
                      <a:pt x="190" y="501"/>
                      <a:pt x="211" y="483"/>
                      <a:pt x="229" y="462"/>
                    </a:cubicBezTo>
                    <a:cubicBezTo>
                      <a:pt x="247" y="440"/>
                      <a:pt x="262" y="414"/>
                      <a:pt x="272" y="386"/>
                    </a:cubicBezTo>
                    <a:cubicBezTo>
                      <a:pt x="275" y="378"/>
                      <a:pt x="278" y="370"/>
                      <a:pt x="280" y="362"/>
                    </a:cubicBezTo>
                    <a:cubicBezTo>
                      <a:pt x="284" y="420"/>
                      <a:pt x="307" y="484"/>
                      <a:pt x="307" y="484"/>
                    </a:cubicBezTo>
                    <a:cubicBezTo>
                      <a:pt x="299" y="437"/>
                      <a:pt x="325" y="406"/>
                      <a:pt x="325" y="406"/>
                    </a:cubicBezTo>
                    <a:cubicBezTo>
                      <a:pt x="397" y="291"/>
                      <a:pt x="370" y="198"/>
                      <a:pt x="370" y="198"/>
                    </a:cubicBezTo>
                    <a:cubicBezTo>
                      <a:pt x="351" y="85"/>
                      <a:pt x="277" y="0"/>
                      <a:pt x="189" y="0"/>
                    </a:cubicBezTo>
                    <a:cubicBezTo>
                      <a:pt x="87" y="0"/>
                      <a:pt x="3" y="114"/>
                      <a:pt x="3" y="254"/>
                    </a:cubicBezTo>
                    <a:cubicBezTo>
                      <a:pt x="3" y="258"/>
                      <a:pt x="2" y="263"/>
                      <a:pt x="2" y="268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77" name="Freeform 134">
                <a:extLst>
                  <a:ext uri="{FF2B5EF4-FFF2-40B4-BE49-F238E27FC236}">
                    <a16:creationId xmlns:a16="http://schemas.microsoft.com/office/drawing/2014/main" id="{E81A0313-86F9-45F2-BA42-EE41B00D512D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176406" y="2915096"/>
                <a:ext cx="154413" cy="197568"/>
              </a:xfrm>
              <a:custGeom>
                <a:avLst/>
                <a:gdLst>
                  <a:gd name="T0" fmla="*/ 581760 w 324"/>
                  <a:gd name="T1" fmla="*/ 0 h 415"/>
                  <a:gd name="T2" fmla="*/ 1148410 w 324"/>
                  <a:gd name="T3" fmla="*/ 648083 h 415"/>
                  <a:gd name="T4" fmla="*/ 1152187 w 324"/>
                  <a:gd name="T5" fmla="*/ 655619 h 415"/>
                  <a:gd name="T6" fmla="*/ 1152187 w 324"/>
                  <a:gd name="T7" fmla="*/ 663154 h 415"/>
                  <a:gd name="T8" fmla="*/ 1042635 w 324"/>
                  <a:gd name="T9" fmla="*/ 1273558 h 415"/>
                  <a:gd name="T10" fmla="*/ 963304 w 324"/>
                  <a:gd name="T11" fmla="*/ 983428 h 415"/>
                  <a:gd name="T12" fmla="*/ 868863 w 324"/>
                  <a:gd name="T13" fmla="*/ 1137913 h 415"/>
                  <a:gd name="T14" fmla="*/ 642203 w 324"/>
                  <a:gd name="T15" fmla="*/ 1552384 h 415"/>
                  <a:gd name="T16" fmla="*/ 630870 w 324"/>
                  <a:gd name="T17" fmla="*/ 1563688 h 415"/>
                  <a:gd name="T18" fmla="*/ 630870 w 324"/>
                  <a:gd name="T19" fmla="*/ 1541080 h 415"/>
                  <a:gd name="T20" fmla="*/ 245548 w 324"/>
                  <a:gd name="T21" fmla="*/ 859086 h 415"/>
                  <a:gd name="T22" fmla="*/ 196439 w 324"/>
                  <a:gd name="T23" fmla="*/ 862854 h 415"/>
                  <a:gd name="T24" fmla="*/ 7555 w 324"/>
                  <a:gd name="T25" fmla="*/ 964588 h 415"/>
                  <a:gd name="T26" fmla="*/ 3778 w 324"/>
                  <a:gd name="T27" fmla="*/ 945749 h 415"/>
                  <a:gd name="T28" fmla="*/ 3778 w 324"/>
                  <a:gd name="T29" fmla="*/ 938213 h 415"/>
                  <a:gd name="T30" fmla="*/ 0 w 324"/>
                  <a:gd name="T31" fmla="*/ 900534 h 415"/>
                  <a:gd name="T32" fmla="*/ 0 w 324"/>
                  <a:gd name="T33" fmla="*/ 889230 h 415"/>
                  <a:gd name="T34" fmla="*/ 0 w 324"/>
                  <a:gd name="T35" fmla="*/ 840247 h 415"/>
                  <a:gd name="T36" fmla="*/ 581760 w 324"/>
                  <a:gd name="T37" fmla="*/ 0 h 4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4" h="415">
                    <a:moveTo>
                      <a:pt x="154" y="0"/>
                    </a:moveTo>
                    <a:cubicBezTo>
                      <a:pt x="225" y="0"/>
                      <a:pt x="288" y="73"/>
                      <a:pt x="304" y="172"/>
                    </a:cubicBezTo>
                    <a:cubicBezTo>
                      <a:pt x="305" y="174"/>
                      <a:pt x="305" y="174"/>
                      <a:pt x="305" y="174"/>
                    </a:cubicBezTo>
                    <a:cubicBezTo>
                      <a:pt x="305" y="176"/>
                      <a:pt x="305" y="176"/>
                      <a:pt x="305" y="176"/>
                    </a:cubicBezTo>
                    <a:cubicBezTo>
                      <a:pt x="306" y="179"/>
                      <a:pt x="324" y="248"/>
                      <a:pt x="276" y="338"/>
                    </a:cubicBezTo>
                    <a:cubicBezTo>
                      <a:pt x="276" y="335"/>
                      <a:pt x="256" y="263"/>
                      <a:pt x="255" y="261"/>
                    </a:cubicBezTo>
                    <a:cubicBezTo>
                      <a:pt x="256" y="270"/>
                      <a:pt x="235" y="292"/>
                      <a:pt x="230" y="302"/>
                    </a:cubicBezTo>
                    <a:cubicBezTo>
                      <a:pt x="209" y="338"/>
                      <a:pt x="198" y="379"/>
                      <a:pt x="170" y="412"/>
                    </a:cubicBezTo>
                    <a:cubicBezTo>
                      <a:pt x="169" y="413"/>
                      <a:pt x="168" y="414"/>
                      <a:pt x="167" y="415"/>
                    </a:cubicBezTo>
                    <a:cubicBezTo>
                      <a:pt x="167" y="413"/>
                      <a:pt x="167" y="411"/>
                      <a:pt x="167" y="409"/>
                    </a:cubicBezTo>
                    <a:cubicBezTo>
                      <a:pt x="159" y="260"/>
                      <a:pt x="107" y="228"/>
                      <a:pt x="65" y="228"/>
                    </a:cubicBezTo>
                    <a:cubicBezTo>
                      <a:pt x="61" y="228"/>
                      <a:pt x="57" y="229"/>
                      <a:pt x="52" y="229"/>
                    </a:cubicBezTo>
                    <a:cubicBezTo>
                      <a:pt x="33" y="232"/>
                      <a:pt x="15" y="242"/>
                      <a:pt x="2" y="256"/>
                    </a:cubicBezTo>
                    <a:cubicBezTo>
                      <a:pt x="2" y="254"/>
                      <a:pt x="1" y="253"/>
                      <a:pt x="1" y="251"/>
                    </a:cubicBezTo>
                    <a:cubicBezTo>
                      <a:pt x="1" y="249"/>
                      <a:pt x="1" y="249"/>
                      <a:pt x="1" y="249"/>
                    </a:cubicBezTo>
                    <a:cubicBezTo>
                      <a:pt x="1" y="246"/>
                      <a:pt x="1" y="242"/>
                      <a:pt x="0" y="239"/>
                    </a:cubicBezTo>
                    <a:cubicBezTo>
                      <a:pt x="0" y="239"/>
                      <a:pt x="0" y="236"/>
                      <a:pt x="0" y="236"/>
                    </a:cubicBezTo>
                    <a:cubicBezTo>
                      <a:pt x="0" y="231"/>
                      <a:pt x="0" y="227"/>
                      <a:pt x="0" y="223"/>
                    </a:cubicBezTo>
                    <a:cubicBezTo>
                      <a:pt x="0" y="100"/>
                      <a:pt x="69" y="0"/>
                      <a:pt x="15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x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78" name="Freeform 135">
                <a:extLst>
                  <a:ext uri="{FF2B5EF4-FFF2-40B4-BE49-F238E27FC236}">
                    <a16:creationId xmlns:a16="http://schemas.microsoft.com/office/drawing/2014/main" id="{04926072-B50C-4506-B23B-1A39BA44DB74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216128" y="2926935"/>
                <a:ext cx="101140" cy="142811"/>
              </a:xfrm>
              <a:custGeom>
                <a:avLst/>
                <a:gdLst>
                  <a:gd name="T0" fmla="*/ 162607 w 212"/>
                  <a:gd name="T1" fmla="*/ 535009 h 300"/>
                  <a:gd name="T2" fmla="*/ 128573 w 212"/>
                  <a:gd name="T3" fmla="*/ 535009 h 300"/>
                  <a:gd name="T4" fmla="*/ 3782 w 212"/>
                  <a:gd name="T5" fmla="*/ 599059 h 300"/>
                  <a:gd name="T6" fmla="*/ 3782 w 212"/>
                  <a:gd name="T7" fmla="*/ 587756 h 300"/>
                  <a:gd name="T8" fmla="*/ 3782 w 212"/>
                  <a:gd name="T9" fmla="*/ 583988 h 300"/>
                  <a:gd name="T10" fmla="*/ 0 w 212"/>
                  <a:gd name="T11" fmla="*/ 557615 h 300"/>
                  <a:gd name="T12" fmla="*/ 0 w 212"/>
                  <a:gd name="T13" fmla="*/ 550079 h 300"/>
                  <a:gd name="T14" fmla="*/ 0 w 212"/>
                  <a:gd name="T15" fmla="*/ 523706 h 300"/>
                  <a:gd name="T16" fmla="*/ 381936 w 212"/>
                  <a:gd name="T17" fmla="*/ 0 h 300"/>
                  <a:gd name="T18" fmla="*/ 752528 w 212"/>
                  <a:gd name="T19" fmla="*/ 403140 h 300"/>
                  <a:gd name="T20" fmla="*/ 756309 w 212"/>
                  <a:gd name="T21" fmla="*/ 406908 h 300"/>
                  <a:gd name="T22" fmla="*/ 756309 w 212"/>
                  <a:gd name="T23" fmla="*/ 410676 h 300"/>
                  <a:gd name="T24" fmla="*/ 684460 w 212"/>
                  <a:gd name="T25" fmla="*/ 791210 h 300"/>
                  <a:gd name="T26" fmla="*/ 631518 w 212"/>
                  <a:gd name="T27" fmla="*/ 610362 h 300"/>
                  <a:gd name="T28" fmla="*/ 567232 w 212"/>
                  <a:gd name="T29" fmla="*/ 704554 h 300"/>
                  <a:gd name="T30" fmla="*/ 457567 w 212"/>
                  <a:gd name="T31" fmla="*/ 1130300 h 300"/>
                  <a:gd name="T32" fmla="*/ 162607 w 212"/>
                  <a:gd name="T33" fmla="*/ 535009 h 30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2" h="300">
                    <a:moveTo>
                      <a:pt x="43" y="142"/>
                    </a:moveTo>
                    <a:cubicBezTo>
                      <a:pt x="40" y="142"/>
                      <a:pt x="37" y="142"/>
                      <a:pt x="34" y="142"/>
                    </a:cubicBezTo>
                    <a:cubicBezTo>
                      <a:pt x="21" y="144"/>
                      <a:pt x="10" y="150"/>
                      <a:pt x="1" y="159"/>
                    </a:cubicBezTo>
                    <a:cubicBezTo>
                      <a:pt x="1" y="158"/>
                      <a:pt x="1" y="157"/>
                      <a:pt x="1" y="156"/>
                    </a:cubicBezTo>
                    <a:cubicBezTo>
                      <a:pt x="1" y="155"/>
                      <a:pt x="1" y="155"/>
                      <a:pt x="1" y="155"/>
                    </a:cubicBezTo>
                    <a:cubicBezTo>
                      <a:pt x="0" y="152"/>
                      <a:pt x="0" y="150"/>
                      <a:pt x="0" y="148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0" y="143"/>
                      <a:pt x="0" y="141"/>
                      <a:pt x="0" y="139"/>
                    </a:cubicBezTo>
                    <a:cubicBezTo>
                      <a:pt x="0" y="62"/>
                      <a:pt x="45" y="0"/>
                      <a:pt x="101" y="0"/>
                    </a:cubicBezTo>
                    <a:cubicBezTo>
                      <a:pt x="147" y="0"/>
                      <a:pt x="189" y="45"/>
                      <a:pt x="199" y="107"/>
                    </a:cubicBezTo>
                    <a:cubicBezTo>
                      <a:pt x="200" y="108"/>
                      <a:pt x="200" y="108"/>
                      <a:pt x="200" y="108"/>
                    </a:cubicBez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1" y="111"/>
                      <a:pt x="212" y="154"/>
                      <a:pt x="181" y="210"/>
                    </a:cubicBezTo>
                    <a:cubicBezTo>
                      <a:pt x="181" y="208"/>
                      <a:pt x="167" y="164"/>
                      <a:pt x="167" y="162"/>
                    </a:cubicBezTo>
                    <a:cubicBezTo>
                      <a:pt x="168" y="168"/>
                      <a:pt x="154" y="181"/>
                      <a:pt x="150" y="187"/>
                    </a:cubicBezTo>
                    <a:cubicBezTo>
                      <a:pt x="137" y="210"/>
                      <a:pt x="126" y="275"/>
                      <a:pt x="121" y="300"/>
                    </a:cubicBezTo>
                    <a:cubicBezTo>
                      <a:pt x="121" y="300"/>
                      <a:pt x="94" y="134"/>
                      <a:pt x="43" y="142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79" name="Freeform 107">
                <a:extLst>
                  <a:ext uri="{FF2B5EF4-FFF2-40B4-BE49-F238E27FC236}">
                    <a16:creationId xmlns:a16="http://schemas.microsoft.com/office/drawing/2014/main" id="{400E66D4-9E3D-4727-84B2-7F6A642E173C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219230" y="2666090"/>
                <a:ext cx="183510" cy="293579"/>
              </a:xfrm>
              <a:custGeom>
                <a:avLst/>
                <a:gdLst>
                  <a:gd name="T0" fmla="*/ 587375 w 312"/>
                  <a:gd name="T1" fmla="*/ 0 h 495"/>
                  <a:gd name="T2" fmla="*/ 1174750 w 312"/>
                  <a:gd name="T3" fmla="*/ 597631 h 495"/>
                  <a:gd name="T4" fmla="*/ 1174750 w 312"/>
                  <a:gd name="T5" fmla="*/ 612666 h 495"/>
                  <a:gd name="T6" fmla="*/ 1174750 w 312"/>
                  <a:gd name="T7" fmla="*/ 612666 h 495"/>
                  <a:gd name="T8" fmla="*/ 798228 w 312"/>
                  <a:gd name="T9" fmla="*/ 1804170 h 495"/>
                  <a:gd name="T10" fmla="*/ 779401 w 312"/>
                  <a:gd name="T11" fmla="*/ 1826722 h 495"/>
                  <a:gd name="T12" fmla="*/ 779401 w 312"/>
                  <a:gd name="T13" fmla="*/ 1826722 h 495"/>
                  <a:gd name="T14" fmla="*/ 779401 w 312"/>
                  <a:gd name="T15" fmla="*/ 1826722 h 495"/>
                  <a:gd name="T16" fmla="*/ 692801 w 312"/>
                  <a:gd name="T17" fmla="*/ 1860550 h 495"/>
                  <a:gd name="T18" fmla="*/ 579845 w 312"/>
                  <a:gd name="T19" fmla="*/ 1762824 h 495"/>
                  <a:gd name="T20" fmla="*/ 587375 w 312"/>
                  <a:gd name="T21" fmla="*/ 1740272 h 495"/>
                  <a:gd name="T22" fmla="*/ 587375 w 312"/>
                  <a:gd name="T23" fmla="*/ 1740272 h 495"/>
                  <a:gd name="T24" fmla="*/ 621262 w 312"/>
                  <a:gd name="T25" fmla="*/ 1559855 h 495"/>
                  <a:gd name="T26" fmla="*/ 459357 w 312"/>
                  <a:gd name="T27" fmla="*/ 1168952 h 495"/>
                  <a:gd name="T28" fmla="*/ 459357 w 312"/>
                  <a:gd name="T29" fmla="*/ 1165193 h 495"/>
                  <a:gd name="T30" fmla="*/ 158139 w 312"/>
                  <a:gd name="T31" fmla="*/ 992293 h 495"/>
                  <a:gd name="T32" fmla="*/ 0 w 312"/>
                  <a:gd name="T33" fmla="*/ 590114 h 495"/>
                  <a:gd name="T34" fmla="*/ 587375 w 312"/>
                  <a:gd name="T35" fmla="*/ 0 h 4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000 w 10000"/>
                  <a:gd name="connsiteY10" fmla="*/ 9354 h 10000"/>
                  <a:gd name="connsiteX11" fmla="*/ 5288 w 10000"/>
                  <a:gd name="connsiteY11" fmla="*/ 8384 h 10000"/>
                  <a:gd name="connsiteX12" fmla="*/ 3910 w 10000"/>
                  <a:gd name="connsiteY12" fmla="*/ 6283 h 10000"/>
                  <a:gd name="connsiteX13" fmla="*/ 3910 w 10000"/>
                  <a:gd name="connsiteY13" fmla="*/ 6263 h 10000"/>
                  <a:gd name="connsiteX14" fmla="*/ 1346 w 10000"/>
                  <a:gd name="connsiteY14" fmla="*/ 5333 h 10000"/>
                  <a:gd name="connsiteX15" fmla="*/ 0 w 10000"/>
                  <a:gd name="connsiteY15" fmla="*/ 3172 h 10000"/>
                  <a:gd name="connsiteX16" fmla="*/ 5000 w 10000"/>
                  <a:gd name="connsiteY16" fmla="*/ 0 h 10000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288 w 10000"/>
                  <a:gd name="connsiteY10" fmla="*/ 8384 h 10000"/>
                  <a:gd name="connsiteX11" fmla="*/ 3910 w 10000"/>
                  <a:gd name="connsiteY11" fmla="*/ 6283 h 10000"/>
                  <a:gd name="connsiteX12" fmla="*/ 3910 w 10000"/>
                  <a:gd name="connsiteY12" fmla="*/ 6263 h 10000"/>
                  <a:gd name="connsiteX13" fmla="*/ 1346 w 10000"/>
                  <a:gd name="connsiteY13" fmla="*/ 5333 h 10000"/>
                  <a:gd name="connsiteX14" fmla="*/ 0 w 10000"/>
                  <a:gd name="connsiteY14" fmla="*/ 3172 h 10000"/>
                  <a:gd name="connsiteX15" fmla="*/ 5000 w 10000"/>
                  <a:gd name="connsiteY15" fmla="*/ 0 h 10000"/>
                  <a:gd name="connsiteX0" fmla="*/ 5000 w 10000"/>
                  <a:gd name="connsiteY0" fmla="*/ 0 h 10086"/>
                  <a:gd name="connsiteX1" fmla="*/ 10000 w 10000"/>
                  <a:gd name="connsiteY1" fmla="*/ 3212 h 10086"/>
                  <a:gd name="connsiteX2" fmla="*/ 10000 w 10000"/>
                  <a:gd name="connsiteY2" fmla="*/ 3293 h 10086"/>
                  <a:gd name="connsiteX3" fmla="*/ 10000 w 10000"/>
                  <a:gd name="connsiteY3" fmla="*/ 3293 h 10086"/>
                  <a:gd name="connsiteX4" fmla="*/ 6795 w 10000"/>
                  <a:gd name="connsiteY4" fmla="*/ 9697 h 10086"/>
                  <a:gd name="connsiteX5" fmla="*/ 6635 w 10000"/>
                  <a:gd name="connsiteY5" fmla="*/ 9818 h 10086"/>
                  <a:gd name="connsiteX6" fmla="*/ 6635 w 10000"/>
                  <a:gd name="connsiteY6" fmla="*/ 9818 h 10086"/>
                  <a:gd name="connsiteX7" fmla="*/ 6635 w 10000"/>
                  <a:gd name="connsiteY7" fmla="*/ 9818 h 10086"/>
                  <a:gd name="connsiteX8" fmla="*/ 5897 w 10000"/>
                  <a:gd name="connsiteY8" fmla="*/ 10000 h 10086"/>
                  <a:gd name="connsiteX9" fmla="*/ 5288 w 10000"/>
                  <a:gd name="connsiteY9" fmla="*/ 8384 h 10086"/>
                  <a:gd name="connsiteX10" fmla="*/ 3910 w 10000"/>
                  <a:gd name="connsiteY10" fmla="*/ 6283 h 10086"/>
                  <a:gd name="connsiteX11" fmla="*/ 3910 w 10000"/>
                  <a:gd name="connsiteY11" fmla="*/ 6263 h 10086"/>
                  <a:gd name="connsiteX12" fmla="*/ 1346 w 10000"/>
                  <a:gd name="connsiteY12" fmla="*/ 5333 h 10086"/>
                  <a:gd name="connsiteX13" fmla="*/ 0 w 10000"/>
                  <a:gd name="connsiteY13" fmla="*/ 3172 h 10086"/>
                  <a:gd name="connsiteX14" fmla="*/ 5000 w 10000"/>
                  <a:gd name="connsiteY14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86">
                    <a:moveTo>
                      <a:pt x="5000" y="0"/>
                    </a:moveTo>
                    <a:cubicBezTo>
                      <a:pt x="7756" y="0"/>
                      <a:pt x="10000" y="1455"/>
                      <a:pt x="10000" y="3212"/>
                    </a:cubicBezTo>
                    <a:lnTo>
                      <a:pt x="10000" y="3293"/>
                    </a:lnTo>
                    <a:lnTo>
                      <a:pt x="10000" y="3293"/>
                    </a:lnTo>
                    <a:cubicBezTo>
                      <a:pt x="10000" y="5717"/>
                      <a:pt x="8814" y="7859"/>
                      <a:pt x="6795" y="9697"/>
                    </a:cubicBezTo>
                    <a:cubicBezTo>
                      <a:pt x="6731" y="9737"/>
                      <a:pt x="6699" y="9778"/>
                      <a:pt x="6635" y="9818"/>
                    </a:cubicBezTo>
                    <a:lnTo>
                      <a:pt x="6635" y="9818"/>
                    </a:lnTo>
                    <a:lnTo>
                      <a:pt x="6635" y="9818"/>
                    </a:lnTo>
                    <a:cubicBezTo>
                      <a:pt x="6442" y="9919"/>
                      <a:pt x="6121" y="10239"/>
                      <a:pt x="5897" y="10000"/>
                    </a:cubicBezTo>
                    <a:cubicBezTo>
                      <a:pt x="5673" y="9761"/>
                      <a:pt x="5619" y="9003"/>
                      <a:pt x="5288" y="8384"/>
                    </a:cubicBezTo>
                    <a:cubicBezTo>
                      <a:pt x="5064" y="7556"/>
                      <a:pt x="4744" y="6848"/>
                      <a:pt x="3910" y="6283"/>
                    </a:cubicBezTo>
                    <a:lnTo>
                      <a:pt x="3910" y="6263"/>
                    </a:lnTo>
                    <a:cubicBezTo>
                      <a:pt x="3237" y="5818"/>
                      <a:pt x="2340" y="5475"/>
                      <a:pt x="1346" y="5333"/>
                    </a:cubicBezTo>
                    <a:cubicBezTo>
                      <a:pt x="513" y="4768"/>
                      <a:pt x="0" y="4000"/>
                      <a:pt x="0" y="3172"/>
                    </a:cubicBezTo>
                    <a:cubicBezTo>
                      <a:pt x="0" y="1414"/>
                      <a:pt x="2244" y="0"/>
                      <a:pt x="500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80" name="Freeform 107">
                <a:extLst>
                  <a:ext uri="{FF2B5EF4-FFF2-40B4-BE49-F238E27FC236}">
                    <a16:creationId xmlns:a16="http://schemas.microsoft.com/office/drawing/2014/main" id="{5D4935C8-19E9-4B7A-A486-9123FB568E31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6369742" y="2816602"/>
                <a:ext cx="183510" cy="293579"/>
              </a:xfrm>
              <a:custGeom>
                <a:avLst/>
                <a:gdLst>
                  <a:gd name="T0" fmla="*/ 587375 w 312"/>
                  <a:gd name="T1" fmla="*/ 0 h 495"/>
                  <a:gd name="T2" fmla="*/ 1174750 w 312"/>
                  <a:gd name="T3" fmla="*/ 597631 h 495"/>
                  <a:gd name="T4" fmla="*/ 1174750 w 312"/>
                  <a:gd name="T5" fmla="*/ 612666 h 495"/>
                  <a:gd name="T6" fmla="*/ 1174750 w 312"/>
                  <a:gd name="T7" fmla="*/ 612666 h 495"/>
                  <a:gd name="T8" fmla="*/ 798228 w 312"/>
                  <a:gd name="T9" fmla="*/ 1804170 h 495"/>
                  <a:gd name="T10" fmla="*/ 779401 w 312"/>
                  <a:gd name="T11" fmla="*/ 1826722 h 495"/>
                  <a:gd name="T12" fmla="*/ 779401 w 312"/>
                  <a:gd name="T13" fmla="*/ 1826722 h 495"/>
                  <a:gd name="T14" fmla="*/ 779401 w 312"/>
                  <a:gd name="T15" fmla="*/ 1826722 h 495"/>
                  <a:gd name="T16" fmla="*/ 692801 w 312"/>
                  <a:gd name="T17" fmla="*/ 1860550 h 495"/>
                  <a:gd name="T18" fmla="*/ 579845 w 312"/>
                  <a:gd name="T19" fmla="*/ 1762824 h 495"/>
                  <a:gd name="T20" fmla="*/ 587375 w 312"/>
                  <a:gd name="T21" fmla="*/ 1740272 h 495"/>
                  <a:gd name="T22" fmla="*/ 587375 w 312"/>
                  <a:gd name="T23" fmla="*/ 1740272 h 495"/>
                  <a:gd name="T24" fmla="*/ 621262 w 312"/>
                  <a:gd name="T25" fmla="*/ 1559855 h 495"/>
                  <a:gd name="T26" fmla="*/ 459357 w 312"/>
                  <a:gd name="T27" fmla="*/ 1168952 h 495"/>
                  <a:gd name="T28" fmla="*/ 459357 w 312"/>
                  <a:gd name="T29" fmla="*/ 1165193 h 495"/>
                  <a:gd name="T30" fmla="*/ 158139 w 312"/>
                  <a:gd name="T31" fmla="*/ 992293 h 495"/>
                  <a:gd name="T32" fmla="*/ 0 w 312"/>
                  <a:gd name="T33" fmla="*/ 590114 h 495"/>
                  <a:gd name="T34" fmla="*/ 587375 w 312"/>
                  <a:gd name="T35" fmla="*/ 0 h 4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000 w 10000"/>
                  <a:gd name="connsiteY10" fmla="*/ 9354 h 10000"/>
                  <a:gd name="connsiteX11" fmla="*/ 5288 w 10000"/>
                  <a:gd name="connsiteY11" fmla="*/ 8384 h 10000"/>
                  <a:gd name="connsiteX12" fmla="*/ 3910 w 10000"/>
                  <a:gd name="connsiteY12" fmla="*/ 6283 h 10000"/>
                  <a:gd name="connsiteX13" fmla="*/ 3910 w 10000"/>
                  <a:gd name="connsiteY13" fmla="*/ 6263 h 10000"/>
                  <a:gd name="connsiteX14" fmla="*/ 1346 w 10000"/>
                  <a:gd name="connsiteY14" fmla="*/ 5333 h 10000"/>
                  <a:gd name="connsiteX15" fmla="*/ 0 w 10000"/>
                  <a:gd name="connsiteY15" fmla="*/ 3172 h 10000"/>
                  <a:gd name="connsiteX16" fmla="*/ 5000 w 10000"/>
                  <a:gd name="connsiteY16" fmla="*/ 0 h 10000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288 w 10000"/>
                  <a:gd name="connsiteY10" fmla="*/ 8384 h 10000"/>
                  <a:gd name="connsiteX11" fmla="*/ 3910 w 10000"/>
                  <a:gd name="connsiteY11" fmla="*/ 6283 h 10000"/>
                  <a:gd name="connsiteX12" fmla="*/ 3910 w 10000"/>
                  <a:gd name="connsiteY12" fmla="*/ 6263 h 10000"/>
                  <a:gd name="connsiteX13" fmla="*/ 1346 w 10000"/>
                  <a:gd name="connsiteY13" fmla="*/ 5333 h 10000"/>
                  <a:gd name="connsiteX14" fmla="*/ 0 w 10000"/>
                  <a:gd name="connsiteY14" fmla="*/ 3172 h 10000"/>
                  <a:gd name="connsiteX15" fmla="*/ 5000 w 10000"/>
                  <a:gd name="connsiteY15" fmla="*/ 0 h 10000"/>
                  <a:gd name="connsiteX0" fmla="*/ 5000 w 10000"/>
                  <a:gd name="connsiteY0" fmla="*/ 0 h 10086"/>
                  <a:gd name="connsiteX1" fmla="*/ 10000 w 10000"/>
                  <a:gd name="connsiteY1" fmla="*/ 3212 h 10086"/>
                  <a:gd name="connsiteX2" fmla="*/ 10000 w 10000"/>
                  <a:gd name="connsiteY2" fmla="*/ 3293 h 10086"/>
                  <a:gd name="connsiteX3" fmla="*/ 10000 w 10000"/>
                  <a:gd name="connsiteY3" fmla="*/ 3293 h 10086"/>
                  <a:gd name="connsiteX4" fmla="*/ 6795 w 10000"/>
                  <a:gd name="connsiteY4" fmla="*/ 9697 h 10086"/>
                  <a:gd name="connsiteX5" fmla="*/ 6635 w 10000"/>
                  <a:gd name="connsiteY5" fmla="*/ 9818 h 10086"/>
                  <a:gd name="connsiteX6" fmla="*/ 6635 w 10000"/>
                  <a:gd name="connsiteY6" fmla="*/ 9818 h 10086"/>
                  <a:gd name="connsiteX7" fmla="*/ 6635 w 10000"/>
                  <a:gd name="connsiteY7" fmla="*/ 9818 h 10086"/>
                  <a:gd name="connsiteX8" fmla="*/ 5897 w 10000"/>
                  <a:gd name="connsiteY8" fmla="*/ 10000 h 10086"/>
                  <a:gd name="connsiteX9" fmla="*/ 5288 w 10000"/>
                  <a:gd name="connsiteY9" fmla="*/ 8384 h 10086"/>
                  <a:gd name="connsiteX10" fmla="*/ 3910 w 10000"/>
                  <a:gd name="connsiteY10" fmla="*/ 6283 h 10086"/>
                  <a:gd name="connsiteX11" fmla="*/ 3910 w 10000"/>
                  <a:gd name="connsiteY11" fmla="*/ 6263 h 10086"/>
                  <a:gd name="connsiteX12" fmla="*/ 1346 w 10000"/>
                  <a:gd name="connsiteY12" fmla="*/ 5333 h 10086"/>
                  <a:gd name="connsiteX13" fmla="*/ 0 w 10000"/>
                  <a:gd name="connsiteY13" fmla="*/ 3172 h 10086"/>
                  <a:gd name="connsiteX14" fmla="*/ 5000 w 10000"/>
                  <a:gd name="connsiteY14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86">
                    <a:moveTo>
                      <a:pt x="5000" y="0"/>
                    </a:moveTo>
                    <a:cubicBezTo>
                      <a:pt x="7756" y="0"/>
                      <a:pt x="10000" y="1455"/>
                      <a:pt x="10000" y="3212"/>
                    </a:cubicBezTo>
                    <a:lnTo>
                      <a:pt x="10000" y="3293"/>
                    </a:lnTo>
                    <a:lnTo>
                      <a:pt x="10000" y="3293"/>
                    </a:lnTo>
                    <a:cubicBezTo>
                      <a:pt x="10000" y="5717"/>
                      <a:pt x="8814" y="7859"/>
                      <a:pt x="6795" y="9697"/>
                    </a:cubicBezTo>
                    <a:cubicBezTo>
                      <a:pt x="6731" y="9737"/>
                      <a:pt x="6699" y="9778"/>
                      <a:pt x="6635" y="9818"/>
                    </a:cubicBezTo>
                    <a:lnTo>
                      <a:pt x="6635" y="9818"/>
                    </a:lnTo>
                    <a:lnTo>
                      <a:pt x="6635" y="9818"/>
                    </a:lnTo>
                    <a:cubicBezTo>
                      <a:pt x="6442" y="9919"/>
                      <a:pt x="6121" y="10239"/>
                      <a:pt x="5897" y="10000"/>
                    </a:cubicBezTo>
                    <a:cubicBezTo>
                      <a:pt x="5673" y="9761"/>
                      <a:pt x="5619" y="9003"/>
                      <a:pt x="5288" y="8384"/>
                    </a:cubicBezTo>
                    <a:cubicBezTo>
                      <a:pt x="5064" y="7556"/>
                      <a:pt x="4744" y="6848"/>
                      <a:pt x="3910" y="6283"/>
                    </a:cubicBezTo>
                    <a:lnTo>
                      <a:pt x="3910" y="6263"/>
                    </a:lnTo>
                    <a:cubicBezTo>
                      <a:pt x="3237" y="5818"/>
                      <a:pt x="2340" y="5475"/>
                      <a:pt x="1346" y="5333"/>
                    </a:cubicBezTo>
                    <a:cubicBezTo>
                      <a:pt x="513" y="4768"/>
                      <a:pt x="0" y="4000"/>
                      <a:pt x="0" y="3172"/>
                    </a:cubicBezTo>
                    <a:cubicBezTo>
                      <a:pt x="0" y="1414"/>
                      <a:pt x="2244" y="0"/>
                      <a:pt x="500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81" name="Freeform 108">
                <a:extLst>
                  <a:ext uri="{FF2B5EF4-FFF2-40B4-BE49-F238E27FC236}">
                    <a16:creationId xmlns:a16="http://schemas.microsoft.com/office/drawing/2014/main" id="{EC527475-CD51-44A4-9741-555B649E4547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6407803" y="2370881"/>
                <a:ext cx="350653" cy="642255"/>
              </a:xfrm>
              <a:custGeom>
                <a:avLst/>
                <a:gdLst>
                  <a:gd name="T0" fmla="*/ 1122363 w 596"/>
                  <a:gd name="T1" fmla="*/ 4105275 h 1092"/>
                  <a:gd name="T2" fmla="*/ 598844 w 596"/>
                  <a:gd name="T3" fmla="*/ 4105275 h 1092"/>
                  <a:gd name="T4" fmla="*/ 79093 w 596"/>
                  <a:gd name="T5" fmla="*/ 1928577 h 1092"/>
                  <a:gd name="T6" fmla="*/ 1122363 w 596"/>
                  <a:gd name="T7" fmla="*/ 0 h 1092"/>
                  <a:gd name="T8" fmla="*/ 1126129 w 596"/>
                  <a:gd name="T9" fmla="*/ 0 h 1092"/>
                  <a:gd name="T10" fmla="*/ 2165632 w 596"/>
                  <a:gd name="T11" fmla="*/ 1928577 h 1092"/>
                  <a:gd name="T12" fmla="*/ 1645881 w 596"/>
                  <a:gd name="T13" fmla="*/ 4105275 h 1092"/>
                  <a:gd name="T14" fmla="*/ 1122363 w 596"/>
                  <a:gd name="T15" fmla="*/ 4105275 h 10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6" h="1092">
                    <a:moveTo>
                      <a:pt x="298" y="1092"/>
                    </a:moveTo>
                    <a:cubicBezTo>
                      <a:pt x="159" y="1092"/>
                      <a:pt x="159" y="1092"/>
                      <a:pt x="159" y="1092"/>
                    </a:cubicBezTo>
                    <a:cubicBezTo>
                      <a:pt x="31" y="824"/>
                      <a:pt x="21" y="513"/>
                      <a:pt x="21" y="513"/>
                    </a:cubicBezTo>
                    <a:cubicBezTo>
                      <a:pt x="0" y="212"/>
                      <a:pt x="298" y="0"/>
                      <a:pt x="298" y="0"/>
                    </a:cubicBezTo>
                    <a:cubicBezTo>
                      <a:pt x="299" y="0"/>
                      <a:pt x="299" y="0"/>
                      <a:pt x="299" y="0"/>
                    </a:cubicBezTo>
                    <a:cubicBezTo>
                      <a:pt x="299" y="0"/>
                      <a:pt x="596" y="212"/>
                      <a:pt x="575" y="513"/>
                    </a:cubicBezTo>
                    <a:cubicBezTo>
                      <a:pt x="575" y="513"/>
                      <a:pt x="566" y="824"/>
                      <a:pt x="437" y="1092"/>
                    </a:cubicBezTo>
                    <a:lnTo>
                      <a:pt x="298" y="1092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82" name="Oval 113">
                <a:extLst>
                  <a:ext uri="{FF2B5EF4-FFF2-40B4-BE49-F238E27FC236}">
                    <a16:creationId xmlns:a16="http://schemas.microsoft.com/office/drawing/2014/main" id="{03193DD3-E367-4CF3-825B-28C9F3673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6568043" y="2592693"/>
                <a:ext cx="117123" cy="114085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83" name="Oval 116">
                <a:extLst>
                  <a:ext uri="{FF2B5EF4-FFF2-40B4-BE49-F238E27FC236}">
                    <a16:creationId xmlns:a16="http://schemas.microsoft.com/office/drawing/2014/main" id="{C12F0DCB-4AE4-46CE-BBED-78DBFE676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6500229" y="2704639"/>
                <a:ext cx="70303" cy="72640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84" name="Oval 119">
                <a:extLst>
                  <a:ext uri="{FF2B5EF4-FFF2-40B4-BE49-F238E27FC236}">
                    <a16:creationId xmlns:a16="http://schemas.microsoft.com/office/drawing/2014/main" id="{464B2575-9873-4055-8835-4DEE7E820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6447912" y="2785652"/>
                <a:ext cx="43239" cy="42313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85" name="Rectangle 27">
                <a:extLst>
                  <a:ext uri="{FF2B5EF4-FFF2-40B4-BE49-F238E27FC236}">
                    <a16:creationId xmlns:a16="http://schemas.microsoft.com/office/drawing/2014/main" id="{0A9FEECD-DC8B-4BA3-B45B-3D4FEB7973A8}"/>
                  </a:ext>
                </a:extLst>
              </p:cNvPr>
              <p:cNvSpPr/>
              <p:nvPr/>
            </p:nvSpPr>
            <p:spPr>
              <a:xfrm rot="2700000">
                <a:off x="6301683" y="2909543"/>
                <a:ext cx="71523" cy="43830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B4456730-E8ED-4583-9F67-67BA0B1F611B}"/>
              </a:ext>
            </a:extLst>
          </p:cNvPr>
          <p:cNvGrpSpPr/>
          <p:nvPr/>
        </p:nvGrpSpPr>
        <p:grpSpPr>
          <a:xfrm rot="5400000">
            <a:off x="-2057842" y="2994288"/>
            <a:ext cx="5060162" cy="849821"/>
            <a:chOff x="1924462" y="620342"/>
            <a:chExt cx="5149429" cy="849821"/>
          </a:xfrm>
        </p:grpSpPr>
        <p:sp>
          <p:nvSpPr>
            <p:cNvPr id="287" name="Freeform 7">
              <a:extLst>
                <a:ext uri="{FF2B5EF4-FFF2-40B4-BE49-F238E27FC236}">
                  <a16:creationId xmlns:a16="http://schemas.microsoft.com/office/drawing/2014/main" id="{FA1B333A-0D6A-4C4C-80ED-2BA108DFB69F}"/>
                </a:ext>
              </a:extLst>
            </p:cNvPr>
            <p:cNvSpPr/>
            <p:nvPr/>
          </p:nvSpPr>
          <p:spPr>
            <a:xfrm>
              <a:off x="1924462" y="759842"/>
              <a:ext cx="4625875" cy="327670"/>
            </a:xfrm>
            <a:custGeom>
              <a:avLst/>
              <a:gdLst>
                <a:gd name="connsiteX0" fmla="*/ 0 w 6781800"/>
                <a:gd name="connsiteY0" fmla="*/ 299838 h 1215160"/>
                <a:gd name="connsiteX1" fmla="*/ 2705100 w 6781800"/>
                <a:gd name="connsiteY1" fmla="*/ 52188 h 1215160"/>
                <a:gd name="connsiteX2" fmla="*/ 5619750 w 6781800"/>
                <a:gd name="connsiteY2" fmla="*/ 1195188 h 1215160"/>
                <a:gd name="connsiteX3" fmla="*/ 6781800 w 6781800"/>
                <a:gd name="connsiteY3" fmla="*/ 757038 h 1215160"/>
                <a:gd name="connsiteX0" fmla="*/ 0 w 6038850"/>
                <a:gd name="connsiteY0" fmla="*/ 299838 h 1304686"/>
                <a:gd name="connsiteX1" fmla="*/ 2705100 w 6038850"/>
                <a:gd name="connsiteY1" fmla="*/ 52188 h 1304686"/>
                <a:gd name="connsiteX2" fmla="*/ 5619750 w 6038850"/>
                <a:gd name="connsiteY2" fmla="*/ 1195188 h 1304686"/>
                <a:gd name="connsiteX3" fmla="*/ 6038850 w 6038850"/>
                <a:gd name="connsiteY3" fmla="*/ 1176138 h 1304686"/>
                <a:gd name="connsiteX0" fmla="*/ 0 w 6038850"/>
                <a:gd name="connsiteY0" fmla="*/ 287550 h 1218694"/>
                <a:gd name="connsiteX1" fmla="*/ 2705100 w 6038850"/>
                <a:gd name="connsiteY1" fmla="*/ 39900 h 1218694"/>
                <a:gd name="connsiteX2" fmla="*/ 4832350 w 6038850"/>
                <a:gd name="connsiteY2" fmla="*/ 1005100 h 1218694"/>
                <a:gd name="connsiteX3" fmla="*/ 6038850 w 6038850"/>
                <a:gd name="connsiteY3" fmla="*/ 1163850 h 1218694"/>
                <a:gd name="connsiteX0" fmla="*/ 0 w 6038850"/>
                <a:gd name="connsiteY0" fmla="*/ 287550 h 1225494"/>
                <a:gd name="connsiteX1" fmla="*/ 2705100 w 6038850"/>
                <a:gd name="connsiteY1" fmla="*/ 39900 h 1225494"/>
                <a:gd name="connsiteX2" fmla="*/ 4832350 w 6038850"/>
                <a:gd name="connsiteY2" fmla="*/ 1005100 h 1225494"/>
                <a:gd name="connsiteX3" fmla="*/ 6038850 w 6038850"/>
                <a:gd name="connsiteY3" fmla="*/ 1163850 h 1225494"/>
                <a:gd name="connsiteX0" fmla="*/ 0 w 6066351"/>
                <a:gd name="connsiteY0" fmla="*/ 287550 h 1183922"/>
                <a:gd name="connsiteX1" fmla="*/ 2705100 w 6066351"/>
                <a:gd name="connsiteY1" fmla="*/ 39900 h 1183922"/>
                <a:gd name="connsiteX2" fmla="*/ 4832350 w 6066351"/>
                <a:gd name="connsiteY2" fmla="*/ 1005100 h 1183922"/>
                <a:gd name="connsiteX3" fmla="*/ 6066351 w 6066351"/>
                <a:gd name="connsiteY3" fmla="*/ 1101974 h 1183922"/>
                <a:gd name="connsiteX0" fmla="*/ 0 w 6066351"/>
                <a:gd name="connsiteY0" fmla="*/ 287550 h 1204375"/>
                <a:gd name="connsiteX1" fmla="*/ 2705100 w 6066351"/>
                <a:gd name="connsiteY1" fmla="*/ 39900 h 1204375"/>
                <a:gd name="connsiteX2" fmla="*/ 4832350 w 6066351"/>
                <a:gd name="connsiteY2" fmla="*/ 1005100 h 1204375"/>
                <a:gd name="connsiteX3" fmla="*/ 6066351 w 6066351"/>
                <a:gd name="connsiteY3" fmla="*/ 1101974 h 1204375"/>
                <a:gd name="connsiteX0" fmla="*/ 0 w 6066351"/>
                <a:gd name="connsiteY0" fmla="*/ 287550 h 1204375"/>
                <a:gd name="connsiteX1" fmla="*/ 2705100 w 6066351"/>
                <a:gd name="connsiteY1" fmla="*/ 39900 h 1204375"/>
                <a:gd name="connsiteX2" fmla="*/ 4832350 w 6066351"/>
                <a:gd name="connsiteY2" fmla="*/ 1005100 h 1204375"/>
                <a:gd name="connsiteX3" fmla="*/ 6066351 w 6066351"/>
                <a:gd name="connsiteY3" fmla="*/ 1101974 h 1204375"/>
                <a:gd name="connsiteX0" fmla="*/ 0 w 6141978"/>
                <a:gd name="connsiteY0" fmla="*/ 315478 h 1197927"/>
                <a:gd name="connsiteX1" fmla="*/ 2780727 w 6141978"/>
                <a:gd name="connsiteY1" fmla="*/ 33452 h 1197927"/>
                <a:gd name="connsiteX2" fmla="*/ 4907977 w 6141978"/>
                <a:gd name="connsiteY2" fmla="*/ 998652 h 1197927"/>
                <a:gd name="connsiteX3" fmla="*/ 6141978 w 6141978"/>
                <a:gd name="connsiteY3" fmla="*/ 1095526 h 1197927"/>
                <a:gd name="connsiteX0" fmla="*/ 0 w 6141978"/>
                <a:gd name="connsiteY0" fmla="*/ 316169 h 1198618"/>
                <a:gd name="connsiteX1" fmla="*/ 2780727 w 6141978"/>
                <a:gd name="connsiteY1" fmla="*/ 34143 h 1198618"/>
                <a:gd name="connsiteX2" fmla="*/ 4907977 w 6141978"/>
                <a:gd name="connsiteY2" fmla="*/ 999343 h 1198618"/>
                <a:gd name="connsiteX3" fmla="*/ 6141978 w 6141978"/>
                <a:gd name="connsiteY3" fmla="*/ 1096217 h 1198618"/>
                <a:gd name="connsiteX0" fmla="*/ 0 w 6141978"/>
                <a:gd name="connsiteY0" fmla="*/ 318869 h 1201318"/>
                <a:gd name="connsiteX1" fmla="*/ 2780727 w 6141978"/>
                <a:gd name="connsiteY1" fmla="*/ 36843 h 1201318"/>
                <a:gd name="connsiteX2" fmla="*/ 4907977 w 6141978"/>
                <a:gd name="connsiteY2" fmla="*/ 1002043 h 1201318"/>
                <a:gd name="connsiteX3" fmla="*/ 6141978 w 6141978"/>
                <a:gd name="connsiteY3" fmla="*/ 1098917 h 120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41978" h="1201318">
                  <a:moveTo>
                    <a:pt x="0" y="318869"/>
                  </a:moveTo>
                  <a:cubicBezTo>
                    <a:pt x="746733" y="113556"/>
                    <a:pt x="1928355" y="-83894"/>
                    <a:pt x="2780727" y="36843"/>
                  </a:cubicBezTo>
                  <a:cubicBezTo>
                    <a:pt x="3633099" y="157580"/>
                    <a:pt x="4447602" y="755468"/>
                    <a:pt x="4907977" y="1002043"/>
                  </a:cubicBezTo>
                  <a:cubicBezTo>
                    <a:pt x="5368352" y="1221118"/>
                    <a:pt x="5836175" y="1268751"/>
                    <a:pt x="6141978" y="1098917"/>
                  </a:cubicBezTo>
                </a:path>
              </a:pathLst>
            </a:custGeom>
            <a:noFill/>
            <a:ln w="6350" cap="flat" cmpd="sng" algn="ctr">
              <a:solidFill>
                <a:srgbClr val="87102C"/>
              </a:solidFill>
              <a:prstDash val="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34ADD8CC-758B-451A-AFA2-A7B798EFCEFE}"/>
                </a:ext>
              </a:extLst>
            </p:cNvPr>
            <p:cNvGrpSpPr/>
            <p:nvPr/>
          </p:nvGrpSpPr>
          <p:grpSpPr>
            <a:xfrm rot="2743464">
              <a:off x="6331240" y="727512"/>
              <a:ext cx="849821" cy="635481"/>
              <a:chOff x="6054436" y="2516682"/>
              <a:chExt cx="849821" cy="635481"/>
            </a:xfrm>
          </p:grpSpPr>
          <p:sp>
            <p:nvSpPr>
              <p:cNvPr id="289" name="Freeform 133">
                <a:extLst>
                  <a:ext uri="{FF2B5EF4-FFF2-40B4-BE49-F238E27FC236}">
                    <a16:creationId xmlns:a16="http://schemas.microsoft.com/office/drawing/2014/main" id="{C1E78C23-6EA1-41CF-9B30-B3958D92CFC9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116557" y="2900581"/>
                <a:ext cx="189461" cy="313703"/>
              </a:xfrm>
              <a:custGeom>
                <a:avLst/>
                <a:gdLst>
                  <a:gd name="T0" fmla="*/ 7566 w 397"/>
                  <a:gd name="T1" fmla="*/ 1009717 h 659"/>
                  <a:gd name="T2" fmla="*/ 0 w 397"/>
                  <a:gd name="T3" fmla="*/ 1009717 h 659"/>
                  <a:gd name="T4" fmla="*/ 0 w 397"/>
                  <a:gd name="T5" fmla="*/ 1009717 h 659"/>
                  <a:gd name="T6" fmla="*/ 11348 w 397"/>
                  <a:gd name="T7" fmla="*/ 1021020 h 659"/>
                  <a:gd name="T8" fmla="*/ 15131 w 397"/>
                  <a:gd name="T9" fmla="*/ 1062464 h 659"/>
                  <a:gd name="T10" fmla="*/ 18914 w 397"/>
                  <a:gd name="T11" fmla="*/ 1069999 h 659"/>
                  <a:gd name="T12" fmla="*/ 181575 w 397"/>
                  <a:gd name="T13" fmla="*/ 1574858 h 659"/>
                  <a:gd name="T14" fmla="*/ 348019 w 397"/>
                  <a:gd name="T15" fmla="*/ 1092605 h 659"/>
                  <a:gd name="T16" fmla="*/ 650644 w 397"/>
                  <a:gd name="T17" fmla="*/ 1661513 h 659"/>
                  <a:gd name="T18" fmla="*/ 548508 w 397"/>
                  <a:gd name="T19" fmla="*/ 2124928 h 659"/>
                  <a:gd name="T20" fmla="*/ 760345 w 397"/>
                  <a:gd name="T21" fmla="*/ 2482850 h 659"/>
                  <a:gd name="T22" fmla="*/ 650644 w 397"/>
                  <a:gd name="T23" fmla="*/ 2275632 h 659"/>
                  <a:gd name="T24" fmla="*/ 688472 w 397"/>
                  <a:gd name="T25" fmla="*/ 1989294 h 659"/>
                  <a:gd name="T26" fmla="*/ 866264 w 397"/>
                  <a:gd name="T27" fmla="*/ 1740632 h 659"/>
                  <a:gd name="T28" fmla="*/ 1028925 w 397"/>
                  <a:gd name="T29" fmla="*/ 1454295 h 659"/>
                  <a:gd name="T30" fmla="*/ 1059187 w 397"/>
                  <a:gd name="T31" fmla="*/ 1363872 h 659"/>
                  <a:gd name="T32" fmla="*/ 1161323 w 397"/>
                  <a:gd name="T33" fmla="*/ 1823520 h 659"/>
                  <a:gd name="T34" fmla="*/ 1229414 w 397"/>
                  <a:gd name="T35" fmla="*/ 1529647 h 659"/>
                  <a:gd name="T36" fmla="*/ 1399640 w 397"/>
                  <a:gd name="T37" fmla="*/ 745985 h 659"/>
                  <a:gd name="T38" fmla="*/ 714951 w 397"/>
                  <a:gd name="T39" fmla="*/ 0 h 659"/>
                  <a:gd name="T40" fmla="*/ 11348 w 397"/>
                  <a:gd name="T41" fmla="*/ 956971 h 659"/>
                  <a:gd name="T42" fmla="*/ 7566 w 397"/>
                  <a:gd name="T43" fmla="*/ 1009717 h 65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97" h="659">
                    <a:moveTo>
                      <a:pt x="2" y="268"/>
                    </a:moveTo>
                    <a:cubicBezTo>
                      <a:pt x="2" y="267"/>
                      <a:pt x="0" y="264"/>
                      <a:pt x="0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69"/>
                      <a:pt x="2" y="270"/>
                      <a:pt x="3" y="271"/>
                    </a:cubicBezTo>
                    <a:cubicBezTo>
                      <a:pt x="3" y="275"/>
                      <a:pt x="4" y="278"/>
                      <a:pt x="4" y="282"/>
                    </a:cubicBezTo>
                    <a:cubicBezTo>
                      <a:pt x="5" y="283"/>
                      <a:pt x="5" y="283"/>
                      <a:pt x="5" y="284"/>
                    </a:cubicBezTo>
                    <a:cubicBezTo>
                      <a:pt x="10" y="335"/>
                      <a:pt x="25" y="381"/>
                      <a:pt x="48" y="418"/>
                    </a:cubicBezTo>
                    <a:cubicBezTo>
                      <a:pt x="23" y="377"/>
                      <a:pt x="37" y="299"/>
                      <a:pt x="92" y="290"/>
                    </a:cubicBezTo>
                    <a:cubicBezTo>
                      <a:pt x="158" y="280"/>
                      <a:pt x="169" y="399"/>
                      <a:pt x="172" y="441"/>
                    </a:cubicBezTo>
                    <a:cubicBezTo>
                      <a:pt x="174" y="484"/>
                      <a:pt x="145" y="521"/>
                      <a:pt x="145" y="564"/>
                    </a:cubicBezTo>
                    <a:cubicBezTo>
                      <a:pt x="145" y="613"/>
                      <a:pt x="170" y="653"/>
                      <a:pt x="201" y="659"/>
                    </a:cubicBezTo>
                    <a:cubicBezTo>
                      <a:pt x="187" y="656"/>
                      <a:pt x="174" y="616"/>
                      <a:pt x="172" y="604"/>
                    </a:cubicBezTo>
                    <a:cubicBezTo>
                      <a:pt x="168" y="580"/>
                      <a:pt x="175" y="551"/>
                      <a:pt x="182" y="528"/>
                    </a:cubicBezTo>
                    <a:cubicBezTo>
                      <a:pt x="190" y="501"/>
                      <a:pt x="211" y="483"/>
                      <a:pt x="229" y="462"/>
                    </a:cubicBezTo>
                    <a:cubicBezTo>
                      <a:pt x="247" y="440"/>
                      <a:pt x="262" y="414"/>
                      <a:pt x="272" y="386"/>
                    </a:cubicBezTo>
                    <a:cubicBezTo>
                      <a:pt x="275" y="378"/>
                      <a:pt x="278" y="370"/>
                      <a:pt x="280" y="362"/>
                    </a:cubicBezTo>
                    <a:cubicBezTo>
                      <a:pt x="284" y="420"/>
                      <a:pt x="307" y="484"/>
                      <a:pt x="307" y="484"/>
                    </a:cubicBezTo>
                    <a:cubicBezTo>
                      <a:pt x="299" y="437"/>
                      <a:pt x="325" y="406"/>
                      <a:pt x="325" y="406"/>
                    </a:cubicBezTo>
                    <a:cubicBezTo>
                      <a:pt x="397" y="291"/>
                      <a:pt x="370" y="198"/>
                      <a:pt x="370" y="198"/>
                    </a:cubicBezTo>
                    <a:cubicBezTo>
                      <a:pt x="351" y="85"/>
                      <a:pt x="277" y="0"/>
                      <a:pt x="189" y="0"/>
                    </a:cubicBezTo>
                    <a:cubicBezTo>
                      <a:pt x="87" y="0"/>
                      <a:pt x="3" y="114"/>
                      <a:pt x="3" y="254"/>
                    </a:cubicBezTo>
                    <a:cubicBezTo>
                      <a:pt x="3" y="258"/>
                      <a:pt x="2" y="263"/>
                      <a:pt x="2" y="268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0" name="Freeform 134">
                <a:extLst>
                  <a:ext uri="{FF2B5EF4-FFF2-40B4-BE49-F238E27FC236}">
                    <a16:creationId xmlns:a16="http://schemas.microsoft.com/office/drawing/2014/main" id="{2026798E-88BB-4965-A3EC-957F27536265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176406" y="2915096"/>
                <a:ext cx="154413" cy="197568"/>
              </a:xfrm>
              <a:custGeom>
                <a:avLst/>
                <a:gdLst>
                  <a:gd name="T0" fmla="*/ 581760 w 324"/>
                  <a:gd name="T1" fmla="*/ 0 h 415"/>
                  <a:gd name="T2" fmla="*/ 1148410 w 324"/>
                  <a:gd name="T3" fmla="*/ 648083 h 415"/>
                  <a:gd name="T4" fmla="*/ 1152187 w 324"/>
                  <a:gd name="T5" fmla="*/ 655619 h 415"/>
                  <a:gd name="T6" fmla="*/ 1152187 w 324"/>
                  <a:gd name="T7" fmla="*/ 663154 h 415"/>
                  <a:gd name="T8" fmla="*/ 1042635 w 324"/>
                  <a:gd name="T9" fmla="*/ 1273558 h 415"/>
                  <a:gd name="T10" fmla="*/ 963304 w 324"/>
                  <a:gd name="T11" fmla="*/ 983428 h 415"/>
                  <a:gd name="T12" fmla="*/ 868863 w 324"/>
                  <a:gd name="T13" fmla="*/ 1137913 h 415"/>
                  <a:gd name="T14" fmla="*/ 642203 w 324"/>
                  <a:gd name="T15" fmla="*/ 1552384 h 415"/>
                  <a:gd name="T16" fmla="*/ 630870 w 324"/>
                  <a:gd name="T17" fmla="*/ 1563688 h 415"/>
                  <a:gd name="T18" fmla="*/ 630870 w 324"/>
                  <a:gd name="T19" fmla="*/ 1541080 h 415"/>
                  <a:gd name="T20" fmla="*/ 245548 w 324"/>
                  <a:gd name="T21" fmla="*/ 859086 h 415"/>
                  <a:gd name="T22" fmla="*/ 196439 w 324"/>
                  <a:gd name="T23" fmla="*/ 862854 h 415"/>
                  <a:gd name="T24" fmla="*/ 7555 w 324"/>
                  <a:gd name="T25" fmla="*/ 964588 h 415"/>
                  <a:gd name="T26" fmla="*/ 3778 w 324"/>
                  <a:gd name="T27" fmla="*/ 945749 h 415"/>
                  <a:gd name="T28" fmla="*/ 3778 w 324"/>
                  <a:gd name="T29" fmla="*/ 938213 h 415"/>
                  <a:gd name="T30" fmla="*/ 0 w 324"/>
                  <a:gd name="T31" fmla="*/ 900534 h 415"/>
                  <a:gd name="T32" fmla="*/ 0 w 324"/>
                  <a:gd name="T33" fmla="*/ 889230 h 415"/>
                  <a:gd name="T34" fmla="*/ 0 w 324"/>
                  <a:gd name="T35" fmla="*/ 840247 h 415"/>
                  <a:gd name="T36" fmla="*/ 581760 w 324"/>
                  <a:gd name="T37" fmla="*/ 0 h 4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4" h="415">
                    <a:moveTo>
                      <a:pt x="154" y="0"/>
                    </a:moveTo>
                    <a:cubicBezTo>
                      <a:pt x="225" y="0"/>
                      <a:pt x="288" y="73"/>
                      <a:pt x="304" y="172"/>
                    </a:cubicBezTo>
                    <a:cubicBezTo>
                      <a:pt x="305" y="174"/>
                      <a:pt x="305" y="174"/>
                      <a:pt x="305" y="174"/>
                    </a:cubicBezTo>
                    <a:cubicBezTo>
                      <a:pt x="305" y="176"/>
                      <a:pt x="305" y="176"/>
                      <a:pt x="305" y="176"/>
                    </a:cubicBezTo>
                    <a:cubicBezTo>
                      <a:pt x="306" y="179"/>
                      <a:pt x="324" y="248"/>
                      <a:pt x="276" y="338"/>
                    </a:cubicBezTo>
                    <a:cubicBezTo>
                      <a:pt x="276" y="335"/>
                      <a:pt x="256" y="263"/>
                      <a:pt x="255" y="261"/>
                    </a:cubicBezTo>
                    <a:cubicBezTo>
                      <a:pt x="256" y="270"/>
                      <a:pt x="235" y="292"/>
                      <a:pt x="230" y="302"/>
                    </a:cubicBezTo>
                    <a:cubicBezTo>
                      <a:pt x="209" y="338"/>
                      <a:pt x="198" y="379"/>
                      <a:pt x="170" y="412"/>
                    </a:cubicBezTo>
                    <a:cubicBezTo>
                      <a:pt x="169" y="413"/>
                      <a:pt x="168" y="414"/>
                      <a:pt x="167" y="415"/>
                    </a:cubicBezTo>
                    <a:cubicBezTo>
                      <a:pt x="167" y="413"/>
                      <a:pt x="167" y="411"/>
                      <a:pt x="167" y="409"/>
                    </a:cubicBezTo>
                    <a:cubicBezTo>
                      <a:pt x="159" y="260"/>
                      <a:pt x="107" y="228"/>
                      <a:pt x="65" y="228"/>
                    </a:cubicBezTo>
                    <a:cubicBezTo>
                      <a:pt x="61" y="228"/>
                      <a:pt x="57" y="229"/>
                      <a:pt x="52" y="229"/>
                    </a:cubicBezTo>
                    <a:cubicBezTo>
                      <a:pt x="33" y="232"/>
                      <a:pt x="15" y="242"/>
                      <a:pt x="2" y="256"/>
                    </a:cubicBezTo>
                    <a:cubicBezTo>
                      <a:pt x="2" y="254"/>
                      <a:pt x="1" y="253"/>
                      <a:pt x="1" y="251"/>
                    </a:cubicBezTo>
                    <a:cubicBezTo>
                      <a:pt x="1" y="249"/>
                      <a:pt x="1" y="249"/>
                      <a:pt x="1" y="249"/>
                    </a:cubicBezTo>
                    <a:cubicBezTo>
                      <a:pt x="1" y="246"/>
                      <a:pt x="1" y="242"/>
                      <a:pt x="0" y="239"/>
                    </a:cubicBezTo>
                    <a:cubicBezTo>
                      <a:pt x="0" y="239"/>
                      <a:pt x="0" y="236"/>
                      <a:pt x="0" y="236"/>
                    </a:cubicBezTo>
                    <a:cubicBezTo>
                      <a:pt x="0" y="231"/>
                      <a:pt x="0" y="227"/>
                      <a:pt x="0" y="223"/>
                    </a:cubicBezTo>
                    <a:cubicBezTo>
                      <a:pt x="0" y="100"/>
                      <a:pt x="69" y="0"/>
                      <a:pt x="15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x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1" name="Freeform 135">
                <a:extLst>
                  <a:ext uri="{FF2B5EF4-FFF2-40B4-BE49-F238E27FC236}">
                    <a16:creationId xmlns:a16="http://schemas.microsoft.com/office/drawing/2014/main" id="{EA7A1521-6C82-405E-B0EC-854B5CEF83E1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216128" y="2926935"/>
                <a:ext cx="101140" cy="142811"/>
              </a:xfrm>
              <a:custGeom>
                <a:avLst/>
                <a:gdLst>
                  <a:gd name="T0" fmla="*/ 162607 w 212"/>
                  <a:gd name="T1" fmla="*/ 535009 h 300"/>
                  <a:gd name="T2" fmla="*/ 128573 w 212"/>
                  <a:gd name="T3" fmla="*/ 535009 h 300"/>
                  <a:gd name="T4" fmla="*/ 3782 w 212"/>
                  <a:gd name="T5" fmla="*/ 599059 h 300"/>
                  <a:gd name="T6" fmla="*/ 3782 w 212"/>
                  <a:gd name="T7" fmla="*/ 587756 h 300"/>
                  <a:gd name="T8" fmla="*/ 3782 w 212"/>
                  <a:gd name="T9" fmla="*/ 583988 h 300"/>
                  <a:gd name="T10" fmla="*/ 0 w 212"/>
                  <a:gd name="T11" fmla="*/ 557615 h 300"/>
                  <a:gd name="T12" fmla="*/ 0 w 212"/>
                  <a:gd name="T13" fmla="*/ 550079 h 300"/>
                  <a:gd name="T14" fmla="*/ 0 w 212"/>
                  <a:gd name="T15" fmla="*/ 523706 h 300"/>
                  <a:gd name="T16" fmla="*/ 381936 w 212"/>
                  <a:gd name="T17" fmla="*/ 0 h 300"/>
                  <a:gd name="T18" fmla="*/ 752528 w 212"/>
                  <a:gd name="T19" fmla="*/ 403140 h 300"/>
                  <a:gd name="T20" fmla="*/ 756309 w 212"/>
                  <a:gd name="T21" fmla="*/ 406908 h 300"/>
                  <a:gd name="T22" fmla="*/ 756309 w 212"/>
                  <a:gd name="T23" fmla="*/ 410676 h 300"/>
                  <a:gd name="T24" fmla="*/ 684460 w 212"/>
                  <a:gd name="T25" fmla="*/ 791210 h 300"/>
                  <a:gd name="T26" fmla="*/ 631518 w 212"/>
                  <a:gd name="T27" fmla="*/ 610362 h 300"/>
                  <a:gd name="T28" fmla="*/ 567232 w 212"/>
                  <a:gd name="T29" fmla="*/ 704554 h 300"/>
                  <a:gd name="T30" fmla="*/ 457567 w 212"/>
                  <a:gd name="T31" fmla="*/ 1130300 h 300"/>
                  <a:gd name="T32" fmla="*/ 162607 w 212"/>
                  <a:gd name="T33" fmla="*/ 535009 h 30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2" h="300">
                    <a:moveTo>
                      <a:pt x="43" y="142"/>
                    </a:moveTo>
                    <a:cubicBezTo>
                      <a:pt x="40" y="142"/>
                      <a:pt x="37" y="142"/>
                      <a:pt x="34" y="142"/>
                    </a:cubicBezTo>
                    <a:cubicBezTo>
                      <a:pt x="21" y="144"/>
                      <a:pt x="10" y="150"/>
                      <a:pt x="1" y="159"/>
                    </a:cubicBezTo>
                    <a:cubicBezTo>
                      <a:pt x="1" y="158"/>
                      <a:pt x="1" y="157"/>
                      <a:pt x="1" y="156"/>
                    </a:cubicBezTo>
                    <a:cubicBezTo>
                      <a:pt x="1" y="155"/>
                      <a:pt x="1" y="155"/>
                      <a:pt x="1" y="155"/>
                    </a:cubicBezTo>
                    <a:cubicBezTo>
                      <a:pt x="0" y="152"/>
                      <a:pt x="0" y="150"/>
                      <a:pt x="0" y="148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0" y="143"/>
                      <a:pt x="0" y="141"/>
                      <a:pt x="0" y="139"/>
                    </a:cubicBezTo>
                    <a:cubicBezTo>
                      <a:pt x="0" y="62"/>
                      <a:pt x="45" y="0"/>
                      <a:pt x="101" y="0"/>
                    </a:cubicBezTo>
                    <a:cubicBezTo>
                      <a:pt x="147" y="0"/>
                      <a:pt x="189" y="45"/>
                      <a:pt x="199" y="107"/>
                    </a:cubicBezTo>
                    <a:cubicBezTo>
                      <a:pt x="200" y="108"/>
                      <a:pt x="200" y="108"/>
                      <a:pt x="200" y="108"/>
                    </a:cubicBez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1" y="111"/>
                      <a:pt x="212" y="154"/>
                      <a:pt x="181" y="210"/>
                    </a:cubicBezTo>
                    <a:cubicBezTo>
                      <a:pt x="181" y="208"/>
                      <a:pt x="167" y="164"/>
                      <a:pt x="167" y="162"/>
                    </a:cubicBezTo>
                    <a:cubicBezTo>
                      <a:pt x="168" y="168"/>
                      <a:pt x="154" y="181"/>
                      <a:pt x="150" y="187"/>
                    </a:cubicBezTo>
                    <a:cubicBezTo>
                      <a:pt x="137" y="210"/>
                      <a:pt x="126" y="275"/>
                      <a:pt x="121" y="300"/>
                    </a:cubicBezTo>
                    <a:cubicBezTo>
                      <a:pt x="121" y="300"/>
                      <a:pt x="94" y="134"/>
                      <a:pt x="43" y="142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2" name="Freeform 107">
                <a:extLst>
                  <a:ext uri="{FF2B5EF4-FFF2-40B4-BE49-F238E27FC236}">
                    <a16:creationId xmlns:a16="http://schemas.microsoft.com/office/drawing/2014/main" id="{B8CD89F2-C659-43B1-8DA6-F776CC0D9D9C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 flipH="1">
                <a:off x="6219230" y="2666090"/>
                <a:ext cx="183510" cy="293579"/>
              </a:xfrm>
              <a:custGeom>
                <a:avLst/>
                <a:gdLst>
                  <a:gd name="T0" fmla="*/ 587375 w 312"/>
                  <a:gd name="T1" fmla="*/ 0 h 495"/>
                  <a:gd name="T2" fmla="*/ 1174750 w 312"/>
                  <a:gd name="T3" fmla="*/ 597631 h 495"/>
                  <a:gd name="T4" fmla="*/ 1174750 w 312"/>
                  <a:gd name="T5" fmla="*/ 612666 h 495"/>
                  <a:gd name="T6" fmla="*/ 1174750 w 312"/>
                  <a:gd name="T7" fmla="*/ 612666 h 495"/>
                  <a:gd name="T8" fmla="*/ 798228 w 312"/>
                  <a:gd name="T9" fmla="*/ 1804170 h 495"/>
                  <a:gd name="T10" fmla="*/ 779401 w 312"/>
                  <a:gd name="T11" fmla="*/ 1826722 h 495"/>
                  <a:gd name="T12" fmla="*/ 779401 w 312"/>
                  <a:gd name="T13" fmla="*/ 1826722 h 495"/>
                  <a:gd name="T14" fmla="*/ 779401 w 312"/>
                  <a:gd name="T15" fmla="*/ 1826722 h 495"/>
                  <a:gd name="T16" fmla="*/ 692801 w 312"/>
                  <a:gd name="T17" fmla="*/ 1860550 h 495"/>
                  <a:gd name="T18" fmla="*/ 579845 w 312"/>
                  <a:gd name="T19" fmla="*/ 1762824 h 495"/>
                  <a:gd name="T20" fmla="*/ 587375 w 312"/>
                  <a:gd name="T21" fmla="*/ 1740272 h 495"/>
                  <a:gd name="T22" fmla="*/ 587375 w 312"/>
                  <a:gd name="T23" fmla="*/ 1740272 h 495"/>
                  <a:gd name="T24" fmla="*/ 621262 w 312"/>
                  <a:gd name="T25" fmla="*/ 1559855 h 495"/>
                  <a:gd name="T26" fmla="*/ 459357 w 312"/>
                  <a:gd name="T27" fmla="*/ 1168952 h 495"/>
                  <a:gd name="T28" fmla="*/ 459357 w 312"/>
                  <a:gd name="T29" fmla="*/ 1165193 h 495"/>
                  <a:gd name="T30" fmla="*/ 158139 w 312"/>
                  <a:gd name="T31" fmla="*/ 992293 h 495"/>
                  <a:gd name="T32" fmla="*/ 0 w 312"/>
                  <a:gd name="T33" fmla="*/ 590114 h 495"/>
                  <a:gd name="T34" fmla="*/ 587375 w 312"/>
                  <a:gd name="T35" fmla="*/ 0 h 4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000 w 10000"/>
                  <a:gd name="connsiteY10" fmla="*/ 9354 h 10000"/>
                  <a:gd name="connsiteX11" fmla="*/ 5288 w 10000"/>
                  <a:gd name="connsiteY11" fmla="*/ 8384 h 10000"/>
                  <a:gd name="connsiteX12" fmla="*/ 3910 w 10000"/>
                  <a:gd name="connsiteY12" fmla="*/ 6283 h 10000"/>
                  <a:gd name="connsiteX13" fmla="*/ 3910 w 10000"/>
                  <a:gd name="connsiteY13" fmla="*/ 6263 h 10000"/>
                  <a:gd name="connsiteX14" fmla="*/ 1346 w 10000"/>
                  <a:gd name="connsiteY14" fmla="*/ 5333 h 10000"/>
                  <a:gd name="connsiteX15" fmla="*/ 0 w 10000"/>
                  <a:gd name="connsiteY15" fmla="*/ 3172 h 10000"/>
                  <a:gd name="connsiteX16" fmla="*/ 5000 w 10000"/>
                  <a:gd name="connsiteY16" fmla="*/ 0 h 10000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288 w 10000"/>
                  <a:gd name="connsiteY10" fmla="*/ 8384 h 10000"/>
                  <a:gd name="connsiteX11" fmla="*/ 3910 w 10000"/>
                  <a:gd name="connsiteY11" fmla="*/ 6283 h 10000"/>
                  <a:gd name="connsiteX12" fmla="*/ 3910 w 10000"/>
                  <a:gd name="connsiteY12" fmla="*/ 6263 h 10000"/>
                  <a:gd name="connsiteX13" fmla="*/ 1346 w 10000"/>
                  <a:gd name="connsiteY13" fmla="*/ 5333 h 10000"/>
                  <a:gd name="connsiteX14" fmla="*/ 0 w 10000"/>
                  <a:gd name="connsiteY14" fmla="*/ 3172 h 10000"/>
                  <a:gd name="connsiteX15" fmla="*/ 5000 w 10000"/>
                  <a:gd name="connsiteY15" fmla="*/ 0 h 10000"/>
                  <a:gd name="connsiteX0" fmla="*/ 5000 w 10000"/>
                  <a:gd name="connsiteY0" fmla="*/ 0 h 10086"/>
                  <a:gd name="connsiteX1" fmla="*/ 10000 w 10000"/>
                  <a:gd name="connsiteY1" fmla="*/ 3212 h 10086"/>
                  <a:gd name="connsiteX2" fmla="*/ 10000 w 10000"/>
                  <a:gd name="connsiteY2" fmla="*/ 3293 h 10086"/>
                  <a:gd name="connsiteX3" fmla="*/ 10000 w 10000"/>
                  <a:gd name="connsiteY3" fmla="*/ 3293 h 10086"/>
                  <a:gd name="connsiteX4" fmla="*/ 6795 w 10000"/>
                  <a:gd name="connsiteY4" fmla="*/ 9697 h 10086"/>
                  <a:gd name="connsiteX5" fmla="*/ 6635 w 10000"/>
                  <a:gd name="connsiteY5" fmla="*/ 9818 h 10086"/>
                  <a:gd name="connsiteX6" fmla="*/ 6635 w 10000"/>
                  <a:gd name="connsiteY6" fmla="*/ 9818 h 10086"/>
                  <a:gd name="connsiteX7" fmla="*/ 6635 w 10000"/>
                  <a:gd name="connsiteY7" fmla="*/ 9818 h 10086"/>
                  <a:gd name="connsiteX8" fmla="*/ 5897 w 10000"/>
                  <a:gd name="connsiteY8" fmla="*/ 10000 h 10086"/>
                  <a:gd name="connsiteX9" fmla="*/ 5288 w 10000"/>
                  <a:gd name="connsiteY9" fmla="*/ 8384 h 10086"/>
                  <a:gd name="connsiteX10" fmla="*/ 3910 w 10000"/>
                  <a:gd name="connsiteY10" fmla="*/ 6283 h 10086"/>
                  <a:gd name="connsiteX11" fmla="*/ 3910 w 10000"/>
                  <a:gd name="connsiteY11" fmla="*/ 6263 h 10086"/>
                  <a:gd name="connsiteX12" fmla="*/ 1346 w 10000"/>
                  <a:gd name="connsiteY12" fmla="*/ 5333 h 10086"/>
                  <a:gd name="connsiteX13" fmla="*/ 0 w 10000"/>
                  <a:gd name="connsiteY13" fmla="*/ 3172 h 10086"/>
                  <a:gd name="connsiteX14" fmla="*/ 5000 w 10000"/>
                  <a:gd name="connsiteY14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86">
                    <a:moveTo>
                      <a:pt x="5000" y="0"/>
                    </a:moveTo>
                    <a:cubicBezTo>
                      <a:pt x="7756" y="0"/>
                      <a:pt x="10000" y="1455"/>
                      <a:pt x="10000" y="3212"/>
                    </a:cubicBezTo>
                    <a:lnTo>
                      <a:pt x="10000" y="3293"/>
                    </a:lnTo>
                    <a:lnTo>
                      <a:pt x="10000" y="3293"/>
                    </a:lnTo>
                    <a:cubicBezTo>
                      <a:pt x="10000" y="5717"/>
                      <a:pt x="8814" y="7859"/>
                      <a:pt x="6795" y="9697"/>
                    </a:cubicBezTo>
                    <a:cubicBezTo>
                      <a:pt x="6731" y="9737"/>
                      <a:pt x="6699" y="9778"/>
                      <a:pt x="6635" y="9818"/>
                    </a:cubicBezTo>
                    <a:lnTo>
                      <a:pt x="6635" y="9818"/>
                    </a:lnTo>
                    <a:lnTo>
                      <a:pt x="6635" y="9818"/>
                    </a:lnTo>
                    <a:cubicBezTo>
                      <a:pt x="6442" y="9919"/>
                      <a:pt x="6121" y="10239"/>
                      <a:pt x="5897" y="10000"/>
                    </a:cubicBezTo>
                    <a:cubicBezTo>
                      <a:pt x="5673" y="9761"/>
                      <a:pt x="5619" y="9003"/>
                      <a:pt x="5288" y="8384"/>
                    </a:cubicBezTo>
                    <a:cubicBezTo>
                      <a:pt x="5064" y="7556"/>
                      <a:pt x="4744" y="6848"/>
                      <a:pt x="3910" y="6283"/>
                    </a:cubicBezTo>
                    <a:lnTo>
                      <a:pt x="3910" y="6263"/>
                    </a:lnTo>
                    <a:cubicBezTo>
                      <a:pt x="3237" y="5818"/>
                      <a:pt x="2340" y="5475"/>
                      <a:pt x="1346" y="5333"/>
                    </a:cubicBezTo>
                    <a:cubicBezTo>
                      <a:pt x="513" y="4768"/>
                      <a:pt x="0" y="4000"/>
                      <a:pt x="0" y="3172"/>
                    </a:cubicBezTo>
                    <a:cubicBezTo>
                      <a:pt x="0" y="1414"/>
                      <a:pt x="2244" y="0"/>
                      <a:pt x="500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3" name="Freeform 107">
                <a:extLst>
                  <a:ext uri="{FF2B5EF4-FFF2-40B4-BE49-F238E27FC236}">
                    <a16:creationId xmlns:a16="http://schemas.microsoft.com/office/drawing/2014/main" id="{CD16E93C-2EEA-4F5F-B5CA-13FD2CE27F10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6369742" y="2816602"/>
                <a:ext cx="183510" cy="293579"/>
              </a:xfrm>
              <a:custGeom>
                <a:avLst/>
                <a:gdLst>
                  <a:gd name="T0" fmla="*/ 587375 w 312"/>
                  <a:gd name="T1" fmla="*/ 0 h 495"/>
                  <a:gd name="T2" fmla="*/ 1174750 w 312"/>
                  <a:gd name="T3" fmla="*/ 597631 h 495"/>
                  <a:gd name="T4" fmla="*/ 1174750 w 312"/>
                  <a:gd name="T5" fmla="*/ 612666 h 495"/>
                  <a:gd name="T6" fmla="*/ 1174750 w 312"/>
                  <a:gd name="T7" fmla="*/ 612666 h 495"/>
                  <a:gd name="T8" fmla="*/ 798228 w 312"/>
                  <a:gd name="T9" fmla="*/ 1804170 h 495"/>
                  <a:gd name="T10" fmla="*/ 779401 w 312"/>
                  <a:gd name="T11" fmla="*/ 1826722 h 495"/>
                  <a:gd name="T12" fmla="*/ 779401 w 312"/>
                  <a:gd name="T13" fmla="*/ 1826722 h 495"/>
                  <a:gd name="T14" fmla="*/ 779401 w 312"/>
                  <a:gd name="T15" fmla="*/ 1826722 h 495"/>
                  <a:gd name="T16" fmla="*/ 692801 w 312"/>
                  <a:gd name="T17" fmla="*/ 1860550 h 495"/>
                  <a:gd name="T18" fmla="*/ 579845 w 312"/>
                  <a:gd name="T19" fmla="*/ 1762824 h 495"/>
                  <a:gd name="T20" fmla="*/ 587375 w 312"/>
                  <a:gd name="T21" fmla="*/ 1740272 h 495"/>
                  <a:gd name="T22" fmla="*/ 587375 w 312"/>
                  <a:gd name="T23" fmla="*/ 1740272 h 495"/>
                  <a:gd name="T24" fmla="*/ 621262 w 312"/>
                  <a:gd name="T25" fmla="*/ 1559855 h 495"/>
                  <a:gd name="T26" fmla="*/ 459357 w 312"/>
                  <a:gd name="T27" fmla="*/ 1168952 h 495"/>
                  <a:gd name="T28" fmla="*/ 459357 w 312"/>
                  <a:gd name="T29" fmla="*/ 1165193 h 495"/>
                  <a:gd name="T30" fmla="*/ 158139 w 312"/>
                  <a:gd name="T31" fmla="*/ 992293 h 495"/>
                  <a:gd name="T32" fmla="*/ 0 w 312"/>
                  <a:gd name="T33" fmla="*/ 590114 h 495"/>
                  <a:gd name="T34" fmla="*/ 587375 w 312"/>
                  <a:gd name="T35" fmla="*/ 0 h 4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000 w 10000"/>
                  <a:gd name="connsiteY10" fmla="*/ 9354 h 10000"/>
                  <a:gd name="connsiteX11" fmla="*/ 5288 w 10000"/>
                  <a:gd name="connsiteY11" fmla="*/ 8384 h 10000"/>
                  <a:gd name="connsiteX12" fmla="*/ 3910 w 10000"/>
                  <a:gd name="connsiteY12" fmla="*/ 6283 h 10000"/>
                  <a:gd name="connsiteX13" fmla="*/ 3910 w 10000"/>
                  <a:gd name="connsiteY13" fmla="*/ 6263 h 10000"/>
                  <a:gd name="connsiteX14" fmla="*/ 1346 w 10000"/>
                  <a:gd name="connsiteY14" fmla="*/ 5333 h 10000"/>
                  <a:gd name="connsiteX15" fmla="*/ 0 w 10000"/>
                  <a:gd name="connsiteY15" fmla="*/ 3172 h 10000"/>
                  <a:gd name="connsiteX16" fmla="*/ 5000 w 10000"/>
                  <a:gd name="connsiteY16" fmla="*/ 0 h 10000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288 w 10000"/>
                  <a:gd name="connsiteY10" fmla="*/ 8384 h 10000"/>
                  <a:gd name="connsiteX11" fmla="*/ 3910 w 10000"/>
                  <a:gd name="connsiteY11" fmla="*/ 6283 h 10000"/>
                  <a:gd name="connsiteX12" fmla="*/ 3910 w 10000"/>
                  <a:gd name="connsiteY12" fmla="*/ 6263 h 10000"/>
                  <a:gd name="connsiteX13" fmla="*/ 1346 w 10000"/>
                  <a:gd name="connsiteY13" fmla="*/ 5333 h 10000"/>
                  <a:gd name="connsiteX14" fmla="*/ 0 w 10000"/>
                  <a:gd name="connsiteY14" fmla="*/ 3172 h 10000"/>
                  <a:gd name="connsiteX15" fmla="*/ 5000 w 10000"/>
                  <a:gd name="connsiteY15" fmla="*/ 0 h 10000"/>
                  <a:gd name="connsiteX0" fmla="*/ 5000 w 10000"/>
                  <a:gd name="connsiteY0" fmla="*/ 0 h 10086"/>
                  <a:gd name="connsiteX1" fmla="*/ 10000 w 10000"/>
                  <a:gd name="connsiteY1" fmla="*/ 3212 h 10086"/>
                  <a:gd name="connsiteX2" fmla="*/ 10000 w 10000"/>
                  <a:gd name="connsiteY2" fmla="*/ 3293 h 10086"/>
                  <a:gd name="connsiteX3" fmla="*/ 10000 w 10000"/>
                  <a:gd name="connsiteY3" fmla="*/ 3293 h 10086"/>
                  <a:gd name="connsiteX4" fmla="*/ 6795 w 10000"/>
                  <a:gd name="connsiteY4" fmla="*/ 9697 h 10086"/>
                  <a:gd name="connsiteX5" fmla="*/ 6635 w 10000"/>
                  <a:gd name="connsiteY5" fmla="*/ 9818 h 10086"/>
                  <a:gd name="connsiteX6" fmla="*/ 6635 w 10000"/>
                  <a:gd name="connsiteY6" fmla="*/ 9818 h 10086"/>
                  <a:gd name="connsiteX7" fmla="*/ 6635 w 10000"/>
                  <a:gd name="connsiteY7" fmla="*/ 9818 h 10086"/>
                  <a:gd name="connsiteX8" fmla="*/ 5897 w 10000"/>
                  <a:gd name="connsiteY8" fmla="*/ 10000 h 10086"/>
                  <a:gd name="connsiteX9" fmla="*/ 5288 w 10000"/>
                  <a:gd name="connsiteY9" fmla="*/ 8384 h 10086"/>
                  <a:gd name="connsiteX10" fmla="*/ 3910 w 10000"/>
                  <a:gd name="connsiteY10" fmla="*/ 6283 h 10086"/>
                  <a:gd name="connsiteX11" fmla="*/ 3910 w 10000"/>
                  <a:gd name="connsiteY11" fmla="*/ 6263 h 10086"/>
                  <a:gd name="connsiteX12" fmla="*/ 1346 w 10000"/>
                  <a:gd name="connsiteY12" fmla="*/ 5333 h 10086"/>
                  <a:gd name="connsiteX13" fmla="*/ 0 w 10000"/>
                  <a:gd name="connsiteY13" fmla="*/ 3172 h 10086"/>
                  <a:gd name="connsiteX14" fmla="*/ 5000 w 10000"/>
                  <a:gd name="connsiteY14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86">
                    <a:moveTo>
                      <a:pt x="5000" y="0"/>
                    </a:moveTo>
                    <a:cubicBezTo>
                      <a:pt x="7756" y="0"/>
                      <a:pt x="10000" y="1455"/>
                      <a:pt x="10000" y="3212"/>
                    </a:cubicBezTo>
                    <a:lnTo>
                      <a:pt x="10000" y="3293"/>
                    </a:lnTo>
                    <a:lnTo>
                      <a:pt x="10000" y="3293"/>
                    </a:lnTo>
                    <a:cubicBezTo>
                      <a:pt x="10000" y="5717"/>
                      <a:pt x="8814" y="7859"/>
                      <a:pt x="6795" y="9697"/>
                    </a:cubicBezTo>
                    <a:cubicBezTo>
                      <a:pt x="6731" y="9737"/>
                      <a:pt x="6699" y="9778"/>
                      <a:pt x="6635" y="9818"/>
                    </a:cubicBezTo>
                    <a:lnTo>
                      <a:pt x="6635" y="9818"/>
                    </a:lnTo>
                    <a:lnTo>
                      <a:pt x="6635" y="9818"/>
                    </a:lnTo>
                    <a:cubicBezTo>
                      <a:pt x="6442" y="9919"/>
                      <a:pt x="6121" y="10239"/>
                      <a:pt x="5897" y="10000"/>
                    </a:cubicBezTo>
                    <a:cubicBezTo>
                      <a:pt x="5673" y="9761"/>
                      <a:pt x="5619" y="9003"/>
                      <a:pt x="5288" y="8384"/>
                    </a:cubicBezTo>
                    <a:cubicBezTo>
                      <a:pt x="5064" y="7556"/>
                      <a:pt x="4744" y="6848"/>
                      <a:pt x="3910" y="6283"/>
                    </a:cubicBezTo>
                    <a:lnTo>
                      <a:pt x="3910" y="6263"/>
                    </a:lnTo>
                    <a:cubicBezTo>
                      <a:pt x="3237" y="5818"/>
                      <a:pt x="2340" y="5475"/>
                      <a:pt x="1346" y="5333"/>
                    </a:cubicBezTo>
                    <a:cubicBezTo>
                      <a:pt x="513" y="4768"/>
                      <a:pt x="0" y="4000"/>
                      <a:pt x="0" y="3172"/>
                    </a:cubicBezTo>
                    <a:cubicBezTo>
                      <a:pt x="0" y="1414"/>
                      <a:pt x="2244" y="0"/>
                      <a:pt x="500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4" name="Freeform 108">
                <a:extLst>
                  <a:ext uri="{FF2B5EF4-FFF2-40B4-BE49-F238E27FC236}">
                    <a16:creationId xmlns:a16="http://schemas.microsoft.com/office/drawing/2014/main" id="{8AD651CF-BC8D-49DF-AAFF-EA5EA3903D39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6407803" y="2370881"/>
                <a:ext cx="350653" cy="642255"/>
              </a:xfrm>
              <a:custGeom>
                <a:avLst/>
                <a:gdLst>
                  <a:gd name="T0" fmla="*/ 1122363 w 596"/>
                  <a:gd name="T1" fmla="*/ 4105275 h 1092"/>
                  <a:gd name="T2" fmla="*/ 598844 w 596"/>
                  <a:gd name="T3" fmla="*/ 4105275 h 1092"/>
                  <a:gd name="T4" fmla="*/ 79093 w 596"/>
                  <a:gd name="T5" fmla="*/ 1928577 h 1092"/>
                  <a:gd name="T6" fmla="*/ 1122363 w 596"/>
                  <a:gd name="T7" fmla="*/ 0 h 1092"/>
                  <a:gd name="T8" fmla="*/ 1126129 w 596"/>
                  <a:gd name="T9" fmla="*/ 0 h 1092"/>
                  <a:gd name="T10" fmla="*/ 2165632 w 596"/>
                  <a:gd name="T11" fmla="*/ 1928577 h 1092"/>
                  <a:gd name="T12" fmla="*/ 1645881 w 596"/>
                  <a:gd name="T13" fmla="*/ 4105275 h 1092"/>
                  <a:gd name="T14" fmla="*/ 1122363 w 596"/>
                  <a:gd name="T15" fmla="*/ 4105275 h 10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6" h="1092">
                    <a:moveTo>
                      <a:pt x="298" y="1092"/>
                    </a:moveTo>
                    <a:cubicBezTo>
                      <a:pt x="159" y="1092"/>
                      <a:pt x="159" y="1092"/>
                      <a:pt x="159" y="1092"/>
                    </a:cubicBezTo>
                    <a:cubicBezTo>
                      <a:pt x="31" y="824"/>
                      <a:pt x="21" y="513"/>
                      <a:pt x="21" y="513"/>
                    </a:cubicBezTo>
                    <a:cubicBezTo>
                      <a:pt x="0" y="212"/>
                      <a:pt x="298" y="0"/>
                      <a:pt x="298" y="0"/>
                    </a:cubicBezTo>
                    <a:cubicBezTo>
                      <a:pt x="299" y="0"/>
                      <a:pt x="299" y="0"/>
                      <a:pt x="299" y="0"/>
                    </a:cubicBezTo>
                    <a:cubicBezTo>
                      <a:pt x="299" y="0"/>
                      <a:pt x="596" y="212"/>
                      <a:pt x="575" y="513"/>
                    </a:cubicBezTo>
                    <a:cubicBezTo>
                      <a:pt x="575" y="513"/>
                      <a:pt x="566" y="824"/>
                      <a:pt x="437" y="1092"/>
                    </a:cubicBezTo>
                    <a:lnTo>
                      <a:pt x="298" y="1092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5" name="Oval 113">
                <a:extLst>
                  <a:ext uri="{FF2B5EF4-FFF2-40B4-BE49-F238E27FC236}">
                    <a16:creationId xmlns:a16="http://schemas.microsoft.com/office/drawing/2014/main" id="{B160F4F6-3A48-4824-95D4-2BF640FC2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6568043" y="2592693"/>
                <a:ext cx="117123" cy="114085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6" name="Oval 116">
                <a:extLst>
                  <a:ext uri="{FF2B5EF4-FFF2-40B4-BE49-F238E27FC236}">
                    <a16:creationId xmlns:a16="http://schemas.microsoft.com/office/drawing/2014/main" id="{89764CA6-D8B2-4B62-8166-F17117AA5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6500229" y="2704639"/>
                <a:ext cx="70303" cy="72640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7" name="Oval 119">
                <a:extLst>
                  <a:ext uri="{FF2B5EF4-FFF2-40B4-BE49-F238E27FC236}">
                    <a16:creationId xmlns:a16="http://schemas.microsoft.com/office/drawing/2014/main" id="{092E6426-18D8-45B9-BC06-DA42388FD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6447912" y="2785652"/>
                <a:ext cx="43239" cy="42313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8" name="Rectangle 27">
                <a:extLst>
                  <a:ext uri="{FF2B5EF4-FFF2-40B4-BE49-F238E27FC236}">
                    <a16:creationId xmlns:a16="http://schemas.microsoft.com/office/drawing/2014/main" id="{40E848BB-AB6A-4D62-B13D-1FA9DCF8278F}"/>
                  </a:ext>
                </a:extLst>
              </p:cNvPr>
              <p:cNvSpPr/>
              <p:nvPr/>
            </p:nvSpPr>
            <p:spPr>
              <a:xfrm rot="2700000">
                <a:off x="6301683" y="2909543"/>
                <a:ext cx="71523" cy="43830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510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FCD8A6-5456-47C0-9155-356ED860175F}"/>
              </a:ext>
            </a:extLst>
          </p:cNvPr>
          <p:cNvSpPr txBox="1"/>
          <p:nvPr/>
        </p:nvSpPr>
        <p:spPr>
          <a:xfrm>
            <a:off x="403587" y="49453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25-26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年新的挑战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—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财经组织与个人能力是否支撑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IPO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8F4B20-8BFB-40BF-A65A-7F41685DE572}"/>
              </a:ext>
            </a:extLst>
          </p:cNvPr>
          <p:cNvSpPr txBox="1"/>
          <p:nvPr/>
        </p:nvSpPr>
        <p:spPr>
          <a:xfrm>
            <a:off x="277586" y="1085850"/>
            <a:ext cx="117402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对财经管理部的要求：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一、财务合规与审计应对能力</a:t>
            </a:r>
            <a:endParaRPr lang="en-US" altLang="zh-CN" b="1" dirty="0"/>
          </a:p>
          <a:p>
            <a:endParaRPr lang="zh-CN" altLang="en-US" b="1" dirty="0"/>
          </a:p>
          <a:p>
            <a:r>
              <a:rPr lang="zh-CN" altLang="en-US" b="1" dirty="0"/>
              <a:t>历史数据清理与追溯调整</a:t>
            </a:r>
            <a:endParaRPr lang="zh-CN" altLang="en-US" dirty="0"/>
          </a:p>
          <a:p>
            <a:pPr lvl="1"/>
            <a:r>
              <a:rPr lang="zh-CN" altLang="en-US" dirty="0"/>
              <a:t>能对过去</a:t>
            </a:r>
            <a:r>
              <a:rPr lang="en-US" altLang="zh-CN" dirty="0"/>
              <a:t>3</a:t>
            </a:r>
            <a:r>
              <a:rPr lang="zh-CN" altLang="en-US" dirty="0"/>
              <a:t>年（或更久）的财务数据进行合规性复核，调整不合规操作（如收入确认、成本分摊、关联交易）。</a:t>
            </a:r>
          </a:p>
          <a:p>
            <a:pPr lvl="1"/>
            <a:r>
              <a:rPr lang="zh-CN" altLang="en-US" dirty="0"/>
              <a:t>解决税务补缴、账外收支、个人卡流水等历史遗留问题。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审计高强度配合</a:t>
            </a:r>
            <a:endParaRPr lang="zh-CN" altLang="en-US" dirty="0"/>
          </a:p>
          <a:p>
            <a:pPr lvl="1"/>
            <a:r>
              <a:rPr lang="zh-CN" altLang="en-US" dirty="0"/>
              <a:t>快速响应会计师事务所的审计需求（如提供底稿、解释差异）；</a:t>
            </a:r>
          </a:p>
          <a:p>
            <a:pPr lvl="1"/>
            <a:r>
              <a:rPr lang="zh-CN" altLang="en-US" dirty="0"/>
              <a:t>处理关键审计事项（如收入真实性、存货盘点、资产减值）。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准则切换能力</a:t>
            </a:r>
            <a:endParaRPr lang="zh-CN" altLang="en-US" dirty="0"/>
          </a:p>
          <a:p>
            <a:pPr lvl="1"/>
            <a:r>
              <a:rPr lang="zh-CN" altLang="en-US" dirty="0"/>
              <a:t>从企业会计准则（</a:t>
            </a:r>
            <a:r>
              <a:rPr lang="en-US" altLang="zh-CN" dirty="0"/>
              <a:t>CAS</a:t>
            </a:r>
            <a:r>
              <a:rPr lang="zh-CN" altLang="en-US" dirty="0"/>
              <a:t>）切换到国际准则（</a:t>
            </a:r>
            <a:r>
              <a:rPr lang="en-US" altLang="zh-CN" dirty="0"/>
              <a:t>IFRS</a:t>
            </a:r>
            <a:r>
              <a:rPr lang="zh-CN" altLang="en-US" dirty="0"/>
              <a:t>）或反向调整（如港股</a:t>
            </a:r>
            <a:r>
              <a:rPr lang="en-US" altLang="zh-CN" dirty="0"/>
              <a:t>/A</a:t>
            </a:r>
            <a:r>
              <a:rPr lang="zh-CN" altLang="en-US" dirty="0"/>
              <a:t>股上市）；</a:t>
            </a:r>
          </a:p>
          <a:p>
            <a:pPr lvl="1"/>
            <a:r>
              <a:rPr lang="zh-CN" altLang="en-US" dirty="0"/>
              <a:t>掌握新收入准则（</a:t>
            </a:r>
            <a:r>
              <a:rPr lang="en-US" altLang="zh-CN" dirty="0"/>
              <a:t>CAS 14</a:t>
            </a:r>
            <a:r>
              <a:rPr lang="zh-CN" altLang="en-US" dirty="0"/>
              <a:t>）、租赁准则（</a:t>
            </a:r>
            <a:r>
              <a:rPr lang="en-US" altLang="zh-CN" dirty="0"/>
              <a:t>CAS 21</a:t>
            </a:r>
            <a:r>
              <a:rPr lang="zh-CN" altLang="en-US" dirty="0"/>
              <a:t>）等对报表的影响。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22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23BED7-A4A7-48A3-820B-B521CBA6B753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对财经管理部的组织能力要求：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E71F7-CB44-49FB-9DDD-BC8A5893E5C1}"/>
              </a:ext>
            </a:extLst>
          </p:cNvPr>
          <p:cNvSpPr/>
          <p:nvPr/>
        </p:nvSpPr>
        <p:spPr>
          <a:xfrm>
            <a:off x="269421" y="1028343"/>
            <a:ext cx="113973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二、内控与风险管理能力</a:t>
            </a:r>
            <a:endParaRPr lang="en-US" altLang="zh-CN" b="1" dirty="0">
              <a:solidFill>
                <a:srgbClr val="404040"/>
              </a:solidFill>
              <a:latin typeface="quote-cjk-patch"/>
            </a:endParaRPr>
          </a:p>
          <a:p>
            <a:endParaRPr lang="zh-CN" altLang="en-US" b="1" dirty="0">
              <a:solidFill>
                <a:srgbClr val="404040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上市级内控体系搭建</a:t>
            </a: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建立符合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《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企业内部控制基本规范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》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及配套指引的流程（如销售与收款、采购与付款循环）；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通过内控审计（如取得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《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内控鉴证报告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》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）。</a:t>
            </a:r>
            <a:endParaRPr lang="en-US" altLang="zh-CN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业务财务一体化管控</a:t>
            </a: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确保业务端数据（如销售合同、发货单）与财务数据完全匹配，避免“业财脱节”；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识别并整改业务中的合规风险（如经销商压货、刷单等）。</a:t>
            </a:r>
            <a:endParaRPr lang="en-US" altLang="zh-CN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反舞弊与资金监控</a:t>
            </a: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建立资金流水核查机制，确保无股东资金占用、体外循环；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配合中介完成“资金流水穿透式检查”（覆盖所有关联方及关键人员）。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62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23BED7-A4A7-48A3-820B-B521CBA6B753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对财经管理部的组织能力要求：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E71F7-CB44-49FB-9DDD-BC8A5893E5C1}"/>
              </a:ext>
            </a:extLst>
          </p:cNvPr>
          <p:cNvSpPr/>
          <p:nvPr/>
        </p:nvSpPr>
        <p:spPr>
          <a:xfrm>
            <a:off x="269421" y="1028343"/>
            <a:ext cx="113973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三、资本市场信息披露能力</a:t>
            </a:r>
            <a:endParaRPr lang="en-US" altLang="zh-CN" b="1" dirty="0"/>
          </a:p>
          <a:p>
            <a:endParaRPr lang="zh-CN" altLang="en-US" b="1" dirty="0"/>
          </a:p>
          <a:p>
            <a:r>
              <a:rPr lang="zh-CN" altLang="en-US" b="1" dirty="0"/>
              <a:t>招股书财务章节编制</a:t>
            </a:r>
            <a:endParaRPr lang="zh-CN" altLang="en-US" dirty="0"/>
          </a:p>
          <a:p>
            <a:pPr lvl="1"/>
            <a:r>
              <a:rPr lang="zh-CN" altLang="en-US" dirty="0"/>
              <a:t>能将财务数据转化为投资者可理解的语言（如毛利率波动分析、现金流预测）；</a:t>
            </a:r>
          </a:p>
          <a:p>
            <a:pPr lvl="1"/>
            <a:r>
              <a:rPr lang="zh-CN" altLang="en-US" dirty="0"/>
              <a:t>确保财务信息披露符合</a:t>
            </a:r>
            <a:r>
              <a:rPr lang="en-US" altLang="zh-CN" dirty="0"/>
              <a:t>《</a:t>
            </a:r>
            <a:r>
              <a:rPr lang="zh-CN" altLang="en-US" dirty="0"/>
              <a:t>公开发行证券的公司信息披露内容与格式准则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问询函应对能力</a:t>
            </a:r>
            <a:endParaRPr lang="zh-CN" altLang="en-US" dirty="0"/>
          </a:p>
          <a:p>
            <a:pPr lvl="1"/>
            <a:r>
              <a:rPr lang="zh-CN" altLang="en-US" dirty="0"/>
              <a:t>快速分解监管问询中的财务问题（如收入增长合理性、应收账款异常）；</a:t>
            </a:r>
          </a:p>
          <a:p>
            <a:pPr lvl="1"/>
            <a:r>
              <a:rPr lang="zh-CN" altLang="en-US" dirty="0"/>
              <a:t>组织跨部门协作提供证据链（如客户访谈记录、物流单据）。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财务故事包装</a:t>
            </a:r>
            <a:endParaRPr lang="zh-CN" altLang="en-US" dirty="0"/>
          </a:p>
          <a:p>
            <a:pPr lvl="1"/>
            <a:r>
              <a:rPr lang="zh-CN" altLang="en-US" dirty="0"/>
              <a:t>通过财务数据凸显企业投资亮点（如研发投入占比、细分市场毛利率优势）；</a:t>
            </a:r>
          </a:p>
          <a:p>
            <a:pPr lvl="1"/>
            <a:r>
              <a:rPr lang="zh-CN" altLang="en-US" dirty="0"/>
              <a:t>避免数据矛盾（如招股书与纳税申报表差异）。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460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23BED7-A4A7-48A3-820B-B521CBA6B753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对财经管理部的组织能力要求：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E71F7-CB44-49FB-9DDD-BC8A5893E5C1}"/>
              </a:ext>
            </a:extLst>
          </p:cNvPr>
          <p:cNvSpPr/>
          <p:nvPr/>
        </p:nvSpPr>
        <p:spPr>
          <a:xfrm>
            <a:off x="269421" y="1028343"/>
            <a:ext cx="113973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四、资本运作与估值能力</a:t>
            </a:r>
            <a:endParaRPr lang="en-US" altLang="zh-CN" b="1" dirty="0"/>
          </a:p>
          <a:p>
            <a:endParaRPr lang="zh-CN" altLang="en-US" b="1" dirty="0"/>
          </a:p>
          <a:p>
            <a:r>
              <a:rPr lang="zh-CN" altLang="en-US" b="1" dirty="0"/>
              <a:t>募投项目财务测算</a:t>
            </a:r>
            <a:endParaRPr lang="zh-CN" altLang="en-US" dirty="0"/>
          </a:p>
          <a:p>
            <a:pPr lvl="1"/>
            <a:r>
              <a:rPr lang="zh-CN" altLang="en-US" dirty="0"/>
              <a:t>设计募投项目的财务模型（如产能扩张对应的收入、成本预测）；</a:t>
            </a:r>
          </a:p>
          <a:p>
            <a:pPr lvl="1"/>
            <a:r>
              <a:rPr lang="zh-CN" altLang="en-US" dirty="0"/>
              <a:t>确保测算逻辑严谨（避免“过度包装”引发监管质疑）。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估值基础支持</a:t>
            </a:r>
            <a:endParaRPr lang="zh-CN" altLang="en-US" dirty="0"/>
          </a:p>
          <a:p>
            <a:pPr lvl="1"/>
            <a:r>
              <a:rPr lang="zh-CN" altLang="en-US" dirty="0"/>
              <a:t>提供</a:t>
            </a:r>
            <a:r>
              <a:rPr lang="en-US" altLang="zh-CN" dirty="0"/>
              <a:t>PE/PS</a:t>
            </a:r>
            <a:r>
              <a:rPr lang="zh-CN" altLang="en-US" dirty="0"/>
              <a:t>等估值所需的财务参数（如</a:t>
            </a:r>
            <a:r>
              <a:rPr lang="en-US" altLang="zh-CN" dirty="0"/>
              <a:t>EBITDA</a:t>
            </a:r>
            <a:r>
              <a:rPr lang="zh-CN" altLang="en-US" dirty="0"/>
              <a:t>、自由现金流）；</a:t>
            </a:r>
          </a:p>
          <a:p>
            <a:pPr lvl="1"/>
            <a:r>
              <a:rPr lang="zh-CN" altLang="en-US" dirty="0"/>
              <a:t>分析同行业上市公司财务指标对标。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en-US" altLang="zh-CN" b="1" dirty="0"/>
              <a:t>ESG</a:t>
            </a:r>
            <a:r>
              <a:rPr lang="zh-CN" altLang="en-US" b="1" dirty="0"/>
              <a:t>与可持续发展披露</a:t>
            </a:r>
            <a:endParaRPr lang="zh-CN" altLang="en-US" dirty="0"/>
          </a:p>
          <a:p>
            <a:pPr lvl="1"/>
            <a:r>
              <a:rPr lang="zh-CN" altLang="en-US" dirty="0"/>
              <a:t>提前准备</a:t>
            </a:r>
            <a:r>
              <a:rPr lang="en-US" altLang="zh-CN" dirty="0"/>
              <a:t>ESG</a:t>
            </a:r>
            <a:r>
              <a:rPr lang="zh-CN" altLang="en-US" dirty="0"/>
              <a:t>相关财务数据（如环保投入、供应链碳足迹）；</a:t>
            </a:r>
          </a:p>
          <a:p>
            <a:pPr lvl="1"/>
            <a:r>
              <a:rPr lang="zh-CN" altLang="en-US" dirty="0"/>
              <a:t>适应国际资本市场对非财务信息的要求（如港股</a:t>
            </a:r>
            <a:r>
              <a:rPr lang="en-US" altLang="zh-CN" dirty="0"/>
              <a:t>ISSB</a:t>
            </a:r>
            <a:r>
              <a:rPr lang="zh-CN" altLang="en-US" dirty="0"/>
              <a:t>准则）。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532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23BED7-A4A7-48A3-820B-B521CBA6B753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对财经管理部的组织能力要求：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3A6432-2733-4329-AB18-10CE8C9FB8CC}"/>
              </a:ext>
            </a:extLst>
          </p:cNvPr>
          <p:cNvSpPr/>
          <p:nvPr/>
        </p:nvSpPr>
        <p:spPr>
          <a:xfrm>
            <a:off x="531267" y="929491"/>
            <a:ext cx="111844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五、跨部门与中介协调能力</a:t>
            </a:r>
            <a:endParaRPr lang="en-US" altLang="zh-CN" b="1" dirty="0">
              <a:solidFill>
                <a:srgbClr val="404040"/>
              </a:solidFill>
              <a:latin typeface="quote-cjk-patch"/>
            </a:endParaRPr>
          </a:p>
          <a:p>
            <a:endParaRPr lang="zh-CN" altLang="en-US" b="1" dirty="0">
              <a:solidFill>
                <a:srgbClr val="404040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中介机构协同</a:t>
            </a: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主导券商、律师、审计师的沟通，高效解决分歧（如会计政策选择）；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理解各中介的核心诉求（如券商关注故事性，审计关注谨慎性）。</a:t>
            </a:r>
            <a:endParaRPr lang="en-US" altLang="zh-CN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业务部门教育</a:t>
            </a: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培训业务团队配合财务需求（如合同条款需符合收入确认条件）；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推动业务端流程改造（如销售返利系统化计提）。</a:t>
            </a:r>
            <a:endParaRPr lang="en-US" altLang="zh-CN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监管沟通预判</a:t>
            </a:r>
            <a:endParaRPr lang="zh-CN" altLang="en-US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熟悉交易所审核关注点（如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A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股侧重持续盈利能力，美股侧重风险披露）；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提前模拟监管问答（如毛利率高于同行业的解释）。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700203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9AAAB5-B84E-4667-8DFB-E208DF4049A5}"/>
              </a:ext>
            </a:extLst>
          </p:cNvPr>
          <p:cNvSpPr/>
          <p:nvPr/>
        </p:nvSpPr>
        <p:spPr>
          <a:xfrm>
            <a:off x="588417" y="1525483"/>
            <a:ext cx="1118448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六、系统与数字化能力</a:t>
            </a:r>
            <a:endParaRPr lang="en-US" altLang="zh-CN" b="1" dirty="0"/>
          </a:p>
          <a:p>
            <a:endParaRPr lang="zh-CN" altLang="en-US" b="1" dirty="0"/>
          </a:p>
          <a:p>
            <a:r>
              <a:rPr lang="en-US" altLang="zh-CN" b="1" dirty="0"/>
              <a:t>ERP</a:t>
            </a:r>
            <a:r>
              <a:rPr lang="zh-CN" altLang="en-US" b="1" dirty="0"/>
              <a:t>系统升级</a:t>
            </a:r>
            <a:endParaRPr lang="zh-CN" altLang="en-US" dirty="0"/>
          </a:p>
          <a:p>
            <a:pPr lvl="1"/>
            <a:r>
              <a:rPr lang="zh-CN" altLang="en-US" dirty="0"/>
              <a:t>实现财务系统与业务系统（</a:t>
            </a:r>
            <a:r>
              <a:rPr lang="en-US" altLang="zh-CN" dirty="0"/>
              <a:t>CRM</a:t>
            </a:r>
            <a:r>
              <a:rPr lang="zh-CN" altLang="en-US" dirty="0"/>
              <a:t>、</a:t>
            </a:r>
            <a:r>
              <a:rPr lang="en-US" altLang="zh-CN" dirty="0"/>
              <a:t>SCM</a:t>
            </a:r>
            <a:r>
              <a:rPr lang="zh-CN" altLang="en-US" dirty="0"/>
              <a:t>）无缝对接，确保数据可追溯；</a:t>
            </a:r>
          </a:p>
          <a:p>
            <a:pPr lvl="1"/>
            <a:r>
              <a:rPr lang="zh-CN" altLang="en-US" dirty="0"/>
              <a:t>满足审计线索要求（如凭证</a:t>
            </a:r>
            <a:r>
              <a:rPr lang="en-US" altLang="zh-CN" dirty="0"/>
              <a:t>-</a:t>
            </a:r>
            <a:r>
              <a:rPr lang="zh-CN" altLang="en-US" dirty="0"/>
              <a:t>报表</a:t>
            </a:r>
            <a:r>
              <a:rPr lang="en-US" altLang="zh-CN" dirty="0"/>
              <a:t>-</a:t>
            </a:r>
            <a:r>
              <a:rPr lang="zh-CN" altLang="en-US" dirty="0"/>
              <a:t>业务单据全链条穿透）。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r>
              <a:rPr lang="en-US" altLang="zh-CN" b="1" dirty="0"/>
              <a:t>IPO</a:t>
            </a:r>
            <a:r>
              <a:rPr lang="zh-CN" altLang="en-US" b="1" dirty="0"/>
              <a:t>专项工具应用</a:t>
            </a:r>
            <a:endParaRPr lang="zh-CN" altLang="en-US" dirty="0"/>
          </a:p>
          <a:p>
            <a:pPr lvl="1"/>
            <a:r>
              <a:rPr lang="zh-CN" altLang="en-US" dirty="0"/>
              <a:t>使用审计底稿软件（如</a:t>
            </a:r>
            <a:r>
              <a:rPr lang="en-US" altLang="zh-CN" dirty="0"/>
              <a:t>CaseWare</a:t>
            </a:r>
            <a:r>
              <a:rPr lang="zh-CN" altLang="en-US" dirty="0"/>
              <a:t>）、信息披露平台（如</a:t>
            </a:r>
            <a:r>
              <a:rPr lang="en-US" altLang="zh-CN" dirty="0"/>
              <a:t>A</a:t>
            </a:r>
            <a:r>
              <a:rPr lang="zh-CN" altLang="en-US" dirty="0"/>
              <a:t>股</a:t>
            </a:r>
            <a:r>
              <a:rPr lang="en-US" altLang="zh-CN" dirty="0"/>
              <a:t>XBRL</a:t>
            </a:r>
            <a:r>
              <a:rPr lang="zh-CN" altLang="en-US" dirty="0"/>
              <a:t>系统）；</a:t>
            </a:r>
          </a:p>
          <a:p>
            <a:pPr lvl="1"/>
            <a:r>
              <a:rPr lang="zh-CN" altLang="en-US" dirty="0"/>
              <a:t>搭建</a:t>
            </a:r>
            <a:r>
              <a:rPr lang="en-US" altLang="zh-CN" dirty="0"/>
              <a:t>IPO</a:t>
            </a:r>
            <a:r>
              <a:rPr lang="zh-CN" altLang="en-US" dirty="0"/>
              <a:t>数据仓库（集中存储历史报表、合规文件）。</a:t>
            </a:r>
          </a:p>
          <a:p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27461F-A6A6-4B07-BE1D-90944E0E9853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对财经管理部的组织能力要求：</a:t>
            </a:r>
          </a:p>
        </p:txBody>
      </p:sp>
    </p:spTree>
    <p:extLst>
      <p:ext uri="{BB962C8B-B14F-4D97-AF65-F5344CB8AC3E}">
        <p14:creationId xmlns:p14="http://schemas.microsoft.com/office/powerpoint/2010/main" val="263647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4BB73E-147F-4DD8-BC24-91E85AA54D7B}"/>
              </a:ext>
            </a:extLst>
          </p:cNvPr>
          <p:cNvSpPr/>
          <p:nvPr/>
        </p:nvSpPr>
        <p:spPr>
          <a:xfrm>
            <a:off x="538842" y="960682"/>
            <a:ext cx="11242221" cy="4099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：财务总监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上市全流程主导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：熟悉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申报流程（如招股书撰写、问询回复）、中介机构（券商、律所、审计）协调；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合规性把控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：确保财务数据符合上市监管要求（如收入确认、关联交易披露）；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内控体系搭建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：建立符合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《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企业内部控制基本规范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》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的体系，并通过审计；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投资者关系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：具备资本市场沟通能力，参与路演、解答监管问询。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198667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8A913E-0AC3-4BBB-9397-A0C7C37242B8}"/>
              </a:ext>
            </a:extLst>
          </p:cNvPr>
          <p:cNvSpPr/>
          <p:nvPr/>
        </p:nvSpPr>
        <p:spPr>
          <a:xfrm>
            <a:off x="344261" y="1245551"/>
            <a:ext cx="11503478" cy="326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：财务经理（财务报告方向）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上市报表编制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：按照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《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公开发行证券的公司信息披露编报规则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》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调整报表（如追溯调整、非经常性损益划分）；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审计对接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：配合会计师事务所完成三年一期审计，解决关键审计事项；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附注披露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：确保关联方交易、或有负债等披露完整合规。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152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01C58A-31EF-4D40-A932-412C69152BAC}"/>
              </a:ext>
            </a:extLst>
          </p:cNvPr>
          <p:cNvSpPr/>
          <p:nvPr/>
        </p:nvSpPr>
        <p:spPr>
          <a:xfrm>
            <a:off x="1309006" y="1580286"/>
            <a:ext cx="10300607" cy="326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：税务方向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税务合规性清理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：解决历史遗留问题（如补税、税收优惠合法性）；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转移定价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：制定符合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OECD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规则的关联交易定价政策；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上市税务架构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：优化控股架构（如搭建红筹、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VIE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）并规避潜在风险。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65284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2F35EC-4D22-4B13-AC7B-CA49A9E52DF3}"/>
              </a:ext>
            </a:extLst>
          </p:cNvPr>
          <p:cNvSpPr/>
          <p:nvPr/>
        </p:nvSpPr>
        <p:spPr>
          <a:xfrm>
            <a:off x="1366156" y="1400673"/>
            <a:ext cx="9320893" cy="326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：成本会计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/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管理会计方向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成本合规性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：确保成本分摊依据充分（避免毛利率异常波动）；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研发费用资本化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：严格区分费用化与资本化，符合高新技术企业认定要求；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财务模型支持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：为盈利预测提供数据基础。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94781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C145D6-2A80-4661-B1B9-E24C95FA0DCE}"/>
              </a:ext>
            </a:extLst>
          </p:cNvPr>
          <p:cNvSpPr/>
          <p:nvPr/>
        </p:nvSpPr>
        <p:spPr>
          <a:xfrm>
            <a:off x="1562099" y="861536"/>
            <a:ext cx="8986157" cy="326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：资金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/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出纳方向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资金流水核查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：配合中介机构核查大额资金往来，避免资金占用嫌疑；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关联方资金隔离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：清理与股东</a:t>
            </a:r>
            <a:r>
              <a:rPr lang="en-US" altLang="zh-CN" dirty="0">
                <a:solidFill>
                  <a:srgbClr val="404040"/>
                </a:solidFill>
                <a:latin typeface="quote-cjk-patch"/>
              </a:rPr>
              <a:t>/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关联方的非经营性资金往来；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募投项目规划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：协助设计募集资金用途及专户管理方案。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0553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D0636A-6762-470E-8187-C29AFA119398}"/>
              </a:ext>
            </a:extLst>
          </p:cNvPr>
          <p:cNvSpPr/>
          <p:nvPr/>
        </p:nvSpPr>
        <p:spPr>
          <a:xfrm>
            <a:off x="1447799" y="1653179"/>
            <a:ext cx="9157607" cy="243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：业务财务方向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业务数据合规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：确保业务合同、收入确认与财务数据一致（如终端销售验证）；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商业模式解释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：协助券商理解业务逻辑，用于招股书披露。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31287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92A1D-1582-4205-AA0F-F8F2F34A2D4D}"/>
              </a:ext>
            </a:extLst>
          </p:cNvPr>
          <p:cNvSpPr txBox="1"/>
          <p:nvPr/>
        </p:nvSpPr>
        <p:spPr>
          <a:xfrm>
            <a:off x="0" y="98438"/>
            <a:ext cx="959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pitchFamily="34" charset="-122"/>
                <a:cs typeface="+mn-ea"/>
                <a:sym typeface="+mn-lt"/>
              </a:rPr>
              <a:t>对岗位的特殊要求：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1E47EC-3F22-4A0F-A4C4-7C3DEEA0C20F}"/>
              </a:ext>
            </a:extLst>
          </p:cNvPr>
          <p:cNvSpPr/>
          <p:nvPr/>
        </p:nvSpPr>
        <p:spPr>
          <a:xfrm>
            <a:off x="1485899" y="1196565"/>
            <a:ext cx="7935686" cy="326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IPO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特殊要求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：内控方向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内控整改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：推动销售循环、采购循环等关键流程合规化；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穿行测试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：配合审计完成内控有效性测试，取得无保留意见；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舞弊防范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：建立反舞弊机制（如举报渠道、管理层承诺函）。</a:t>
            </a:r>
            <a:endParaRPr lang="zh-CN" altLang="en-U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04186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文本框 27"/>
          <p:cNvSpPr txBox="1"/>
          <p:nvPr/>
        </p:nvSpPr>
        <p:spPr>
          <a:xfrm>
            <a:off x="370448" y="122695"/>
            <a:ext cx="6048118" cy="48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677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4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目 录</a:t>
            </a:r>
            <a:endParaRPr kumimoji="0" lang="en-US" altLang="zh-CN" sz="254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048595" name="文本框 1"/>
          <p:cNvSpPr txBox="1"/>
          <p:nvPr/>
        </p:nvSpPr>
        <p:spPr>
          <a:xfrm>
            <a:off x="3125084" y="2011753"/>
            <a:ext cx="8144800" cy="2133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kumimoji="0" lang="en-US" altLang="zh-CN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25</a:t>
            </a: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</a:t>
            </a:r>
            <a:r>
              <a:rPr kumimoji="0" lang="en-US" altLang="zh-CN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H1</a:t>
            </a: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年中会议报告解读</a:t>
            </a:r>
            <a:endParaRPr kumimoji="0" lang="en-US" altLang="zh-CN" sz="2328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lang="zh-CN" altLang="en-US" sz="2328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</a:rPr>
              <a:t>财经体系面临的新挑战</a:t>
            </a:r>
            <a:endParaRPr lang="en-US" altLang="zh-CN" sz="2328" dirty="0">
              <a:solidFill>
                <a:srgbClr val="FFFFFF">
                  <a:lumMod val="50000"/>
                </a:srgbClr>
              </a:solidFill>
              <a:latin typeface="微软雅黑"/>
              <a:ea typeface="微软雅黑"/>
            </a:endParaRPr>
          </a:p>
          <a:p>
            <a:pPr marL="423373" marR="0" lvl="0" indent="-423373" algn="l" defTabSz="96771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ea1JpnChsDbPeriod"/>
              <a:tabLst/>
              <a:defRPr/>
            </a:pPr>
            <a:r>
              <a:rPr kumimoji="0" lang="zh-CN" altLang="en-US" sz="2328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组织与个人能力提升</a:t>
            </a:r>
            <a:endParaRPr kumimoji="0" lang="en-US" altLang="zh-CN" sz="2328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628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56DB61-5A6C-4DE9-9879-5B3D52FFE211}"/>
              </a:ext>
            </a:extLst>
          </p:cNvPr>
          <p:cNvSpPr/>
          <p:nvPr/>
        </p:nvSpPr>
        <p:spPr>
          <a:xfrm>
            <a:off x="292716" y="-216078"/>
            <a:ext cx="2954655" cy="719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6771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latin typeface="微软雅黑"/>
              </a:rPr>
              <a:t>组织与个人能力提升</a:t>
            </a:r>
            <a:endParaRPr lang="en-US" altLang="zh-CN" sz="2400" b="1" dirty="0">
              <a:latin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6E7F3A-45EC-4CEF-9AA3-7E0A85BC154D}"/>
              </a:ext>
            </a:extLst>
          </p:cNvPr>
          <p:cNvSpPr txBox="1"/>
          <p:nvPr/>
        </p:nvSpPr>
        <p:spPr>
          <a:xfrm>
            <a:off x="751114" y="1045028"/>
            <a:ext cx="11209563" cy="4094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从被动推进→主动学习型组织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要把能力建在组织上，组织的能力</a:t>
            </a:r>
            <a:r>
              <a:rPr lang="en-US" altLang="zh-CN" dirty="0">
                <a:latin typeface="+mn-ea"/>
              </a:rPr>
              <a:t>=</a:t>
            </a:r>
            <a:r>
              <a:rPr lang="zh-CN" altLang="en-US" dirty="0">
                <a:latin typeface="+mn-ea"/>
              </a:rPr>
              <a:t>个人能力的加总</a:t>
            </a:r>
            <a:r>
              <a:rPr lang="en-US" altLang="zh-CN" dirty="0">
                <a:latin typeface="+mn-ea"/>
              </a:rPr>
              <a:t>*(1+</a:t>
            </a:r>
            <a:r>
              <a:rPr lang="zh-CN" altLang="en-US" dirty="0">
                <a:latin typeface="+mn-ea"/>
              </a:rPr>
              <a:t>协作力</a:t>
            </a:r>
            <a:r>
              <a:rPr lang="en-US" altLang="zh-CN" dirty="0">
                <a:latin typeface="+mn-ea"/>
              </a:rPr>
              <a:t>)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+mn-ea"/>
              </a:rPr>
              <a:t>组织不主动放弃</a:t>
            </a:r>
            <a:r>
              <a:rPr lang="zh-CN" altLang="en-US" dirty="0">
                <a:latin typeface="+mn-ea"/>
              </a:rPr>
              <a:t>每一个人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通过强化考核，压强式的促使每一个人提升能力；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遗留任务：根据组织目标重新刷新</a:t>
            </a:r>
            <a:r>
              <a:rPr lang="en-US" altLang="zh-CN" dirty="0">
                <a:latin typeface="+mn-ea"/>
              </a:rPr>
              <a:t>H2 PBC</a:t>
            </a:r>
            <a:r>
              <a:rPr lang="zh-CN" altLang="en-US" dirty="0">
                <a:latin typeface="+mn-ea"/>
              </a:rPr>
              <a:t>，量化</a:t>
            </a:r>
            <a:r>
              <a:rPr lang="en-US" altLang="zh-CN" dirty="0">
                <a:latin typeface="+mn-ea"/>
              </a:rPr>
              <a:t>KPI</a:t>
            </a:r>
            <a:r>
              <a:rPr lang="zh-CN" altLang="en-US" dirty="0">
                <a:latin typeface="+mn-ea"/>
              </a:rPr>
              <a:t>，重点工作和结果突出；能力提升体现过程和结果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84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BB241B-E179-4661-9B8E-9F35751D2E78}"/>
              </a:ext>
            </a:extLst>
          </p:cNvPr>
          <p:cNvSpPr txBox="1"/>
          <p:nvPr/>
        </p:nvSpPr>
        <p:spPr>
          <a:xfrm>
            <a:off x="1404257" y="538843"/>
            <a:ext cx="8294914" cy="5511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每月例会；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读书分享；（周三）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en-US" altLang="zh-CN" dirty="0"/>
              <a:t>3.PBC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）组织目标要承接到每个人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）减少，降低事务性工作，本职工作，没做好扣分；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）学习的能力；发现问题的能力；解决问题的能力；</a:t>
            </a:r>
            <a:r>
              <a:rPr lang="en-US" altLang="zh-CN" dirty="0"/>
              <a:t>20%</a:t>
            </a:r>
            <a:r>
              <a:rPr lang="zh-CN" altLang="en-US" dirty="0"/>
              <a:t>以上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en-US" altLang="zh-CN" dirty="0"/>
              <a:t>4.</a:t>
            </a:r>
            <a:r>
              <a:rPr lang="zh-CN" altLang="en-US" dirty="0"/>
              <a:t>推动轮岗：把能力建在组织上，</a:t>
            </a:r>
            <a:r>
              <a:rPr lang="en-US" altLang="zh-CN" dirty="0"/>
              <a:t>26</a:t>
            </a:r>
            <a:r>
              <a:rPr lang="zh-CN" altLang="en-US" dirty="0"/>
              <a:t>年中有轮岗的可行性；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en-US" altLang="zh-CN" dirty="0"/>
              <a:t>5.</a:t>
            </a:r>
            <a:r>
              <a:rPr lang="zh-CN" altLang="en-US" dirty="0"/>
              <a:t>潜意识的力量</a:t>
            </a:r>
          </a:p>
        </p:txBody>
      </p:sp>
    </p:spTree>
    <p:extLst>
      <p:ext uri="{BB962C8B-B14F-4D97-AF65-F5344CB8AC3E}">
        <p14:creationId xmlns:p14="http://schemas.microsoft.com/office/powerpoint/2010/main" val="7187363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AB9E"/>
      </a:accent1>
      <a:accent2>
        <a:srgbClr val="3F7FC1"/>
      </a:accent2>
      <a:accent3>
        <a:srgbClr val="7ECDDA"/>
      </a:accent3>
      <a:accent4>
        <a:srgbClr val="DD1922"/>
      </a:accent4>
      <a:accent5>
        <a:srgbClr val="F8B500"/>
      </a:accent5>
      <a:accent6>
        <a:srgbClr val="C9C9C9"/>
      </a:accent6>
      <a:hlink>
        <a:srgbClr val="4472C4"/>
      </a:hlink>
      <a:folHlink>
        <a:srgbClr val="BFBFBF"/>
      </a:folHlink>
    </a:clrScheme>
    <a:fontScheme name="uiwqptw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1908</Words>
  <Application>Microsoft Office PowerPoint</Application>
  <PresentationFormat>宽屏</PresentationFormat>
  <Paragraphs>195</Paragraphs>
  <Slides>22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quote-cjk-patch</vt:lpstr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Office 主题</vt:lpstr>
      <vt:lpstr>Acrobat 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席建华</dc:creator>
  <cp:lastModifiedBy>席建华</cp:lastModifiedBy>
  <cp:revision>138</cp:revision>
  <dcterms:created xsi:type="dcterms:W3CDTF">2025-02-18T03:20:56Z</dcterms:created>
  <dcterms:modified xsi:type="dcterms:W3CDTF">2025-07-28T01:03:33Z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2022392568</vt:i4>
  </property>
  <property fmtid="{D5CDD505-2E9C-101B-9397-08002B2CF9AE}" pid="3" name="_NewReviewCycle">
    <vt:lpwstr/>
  </property>
  <property fmtid="{D5CDD505-2E9C-101B-9397-08002B2CF9AE}" pid="4" name="_EmailSubject">
    <vt:lpwstr>7月财经体系例会材料</vt:lpwstr>
  </property>
  <property fmtid="{D5CDD505-2E9C-101B-9397-08002B2CF9AE}" pid="5" name="_AuthorEmail">
    <vt:lpwstr>xijianhua@cqatg.com</vt:lpwstr>
  </property>
  <property fmtid="{D5CDD505-2E9C-101B-9397-08002B2CF9AE}" pid="6" name="_AuthorEmailDisplayName">
    <vt:lpwstr>xijianhua@cqatg.com</vt:lpwstr>
  </property>
</Properties>
</file>