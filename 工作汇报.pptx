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pptx" ContentType="application/vnd.openxmlformats-officedocument.presentationml.presentation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429" r:id="rId2"/>
    <p:sldId id="1386" r:id="rId3"/>
    <p:sldId id="1427" r:id="rId4"/>
    <p:sldId id="1401" r:id="rId5"/>
    <p:sldId id="1418" r:id="rId6"/>
    <p:sldId id="2147308816" r:id="rId7"/>
    <p:sldId id="1434" r:id="rId8"/>
    <p:sldId id="2147308811" r:id="rId9"/>
    <p:sldId id="1435" r:id="rId10"/>
    <p:sldId id="1436" r:id="rId11"/>
    <p:sldId id="1437" r:id="rId12"/>
    <p:sldId id="2147308812" r:id="rId13"/>
    <p:sldId id="1431" r:id="rId14"/>
    <p:sldId id="2147308815" r:id="rId15"/>
    <p:sldId id="2147308813" r:id="rId16"/>
    <p:sldId id="1432" r:id="rId17"/>
    <p:sldId id="2147308814" r:id="rId18"/>
    <p:sldId id="1390" r:id="rId19"/>
  </p:sldIdLst>
  <p:sldSz cx="11520488" cy="6480175"/>
  <p:notesSz cx="6858000" cy="9144000"/>
  <p:custDataLst>
    <p:tags r:id="rId2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2F5F91"/>
    <a:srgbClr val="0099CC"/>
    <a:srgbClr val="00EE77"/>
    <a:srgbClr val="99FFCC"/>
    <a:srgbClr val="CBEBF0"/>
    <a:srgbClr val="102FA9"/>
    <a:srgbClr val="FF0000"/>
    <a:srgbClr val="118BF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838" autoAdjust="0"/>
  </p:normalViewPr>
  <p:slideViewPr>
    <p:cSldViewPr showGuides="1">
      <p:cViewPr varScale="1">
        <p:scale>
          <a:sx n="111" d="100"/>
          <a:sy n="111" d="100"/>
        </p:scale>
        <p:origin x="108" y="144"/>
      </p:cViewPr>
      <p:guideLst/>
    </p:cSldViewPr>
  </p:slideViewPr>
  <p:outlineViewPr>
    <p:cViewPr>
      <p:scale>
        <a:sx n="33" d="100"/>
        <a:sy n="33" d="100"/>
      </p:scale>
      <p:origin x="0" y="-21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2588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E4567-7110-453E-A637-E8A7FF6DF80A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1F368-0240-4C79-BE02-657090676D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490CF2C8-6993-49B7-A723-A0A651DB113E}" type="datetimeFigureOut">
              <a:rPr lang="zh-CN" altLang="en-US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C13A581E-BF9D-43F3-81F4-E9BD4E8E8C0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284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43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780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333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90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91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559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84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740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82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103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290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310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038" y="2013055"/>
            <a:ext cx="9792414" cy="1389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076" y="3672105"/>
            <a:ext cx="8064343" cy="1656045"/>
          </a:xfrm>
        </p:spPr>
        <p:txBody>
          <a:bodyPr/>
          <a:lstStyle>
            <a:lvl1pPr marL="0" indent="0" algn="ctr">
              <a:buNone/>
              <a:defRPr/>
            </a:lvl1pPr>
            <a:lvl2pPr marL="522605" indent="0" algn="ctr">
              <a:buNone/>
              <a:defRPr/>
            </a:lvl2pPr>
            <a:lvl3pPr marL="1045210" indent="0" algn="ctr">
              <a:buNone/>
              <a:defRPr/>
            </a:lvl3pPr>
            <a:lvl4pPr marL="1567815" indent="0" algn="ctr">
              <a:buNone/>
              <a:defRPr/>
            </a:lvl4pPr>
            <a:lvl5pPr marL="2089785" indent="0" algn="ctr">
              <a:buNone/>
              <a:defRPr/>
            </a:lvl5pPr>
            <a:lvl6pPr marL="2612390" indent="0" algn="ctr">
              <a:buNone/>
              <a:defRPr/>
            </a:lvl6pPr>
            <a:lvl7pPr marL="3134995" indent="0" algn="ctr">
              <a:buNone/>
              <a:defRPr/>
            </a:lvl7pPr>
            <a:lvl8pPr marL="3657600" indent="0" algn="ctr">
              <a:buNone/>
              <a:defRPr/>
            </a:lvl8pPr>
            <a:lvl9pPr marL="418020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92E083-5CB7-4C8B-AF18-F5FF393A4D26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881B9-D928-4F97-8D17-A16C23B3C0F2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040" y="4164119"/>
            <a:ext cx="9792414" cy="1287035"/>
          </a:xfrm>
        </p:spPr>
        <p:txBody>
          <a:bodyPr anchor="t"/>
          <a:lstStyle>
            <a:lvl1pPr algn="l">
              <a:defRPr sz="457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040" y="2746575"/>
            <a:ext cx="9792414" cy="1417538"/>
          </a:xfrm>
        </p:spPr>
        <p:txBody>
          <a:bodyPr anchor="b"/>
          <a:lstStyle>
            <a:lvl1pPr marL="0" indent="0">
              <a:buNone/>
              <a:defRPr sz="2285"/>
            </a:lvl1pPr>
            <a:lvl2pPr marL="522605" indent="0">
              <a:buNone/>
              <a:defRPr sz="2055"/>
            </a:lvl2pPr>
            <a:lvl3pPr marL="1045210" indent="0">
              <a:buNone/>
              <a:defRPr sz="1830"/>
            </a:lvl3pPr>
            <a:lvl4pPr marL="1567815" indent="0">
              <a:buNone/>
              <a:defRPr sz="1600"/>
            </a:lvl4pPr>
            <a:lvl5pPr marL="2089785" indent="0">
              <a:buNone/>
              <a:defRPr sz="1600"/>
            </a:lvl5pPr>
            <a:lvl6pPr marL="2612390" indent="0">
              <a:buNone/>
              <a:defRPr sz="1600"/>
            </a:lvl6pPr>
            <a:lvl7pPr marL="3134995" indent="0">
              <a:buNone/>
              <a:defRPr sz="1600"/>
            </a:lvl7pPr>
            <a:lvl8pPr marL="3657600" indent="0">
              <a:buNone/>
              <a:defRPr sz="1600"/>
            </a:lvl8pPr>
            <a:lvl9pPr marL="4180205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6B0E4-42E8-46FB-AA0B-6BCE392FC87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027" y="1512041"/>
            <a:ext cx="5088216" cy="4276616"/>
          </a:xfrm>
        </p:spPr>
        <p:txBody>
          <a:bodyPr/>
          <a:lstStyle>
            <a:lvl1pPr>
              <a:defRPr sz="3200"/>
            </a:lvl1pPr>
            <a:lvl2pPr>
              <a:defRPr sz="2745"/>
            </a:lvl2pPr>
            <a:lvl3pPr>
              <a:defRPr sz="2285"/>
            </a:lvl3pPr>
            <a:lvl4pPr>
              <a:defRPr sz="2055"/>
            </a:lvl4pPr>
            <a:lvl5pPr>
              <a:defRPr sz="2055"/>
            </a:lvl5pPr>
            <a:lvl6pPr>
              <a:defRPr sz="2055"/>
            </a:lvl6pPr>
            <a:lvl7pPr>
              <a:defRPr sz="2055"/>
            </a:lvl7pPr>
            <a:lvl8pPr>
              <a:defRPr sz="2055"/>
            </a:lvl8pPr>
            <a:lvl9pPr>
              <a:defRPr sz="20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6250" y="1512041"/>
            <a:ext cx="5088216" cy="4276616"/>
          </a:xfrm>
        </p:spPr>
        <p:txBody>
          <a:bodyPr/>
          <a:lstStyle>
            <a:lvl1pPr>
              <a:defRPr sz="3200"/>
            </a:lvl1pPr>
            <a:lvl2pPr>
              <a:defRPr sz="2745"/>
            </a:lvl2pPr>
            <a:lvl3pPr>
              <a:defRPr sz="2285"/>
            </a:lvl3pPr>
            <a:lvl4pPr>
              <a:defRPr sz="2055"/>
            </a:lvl4pPr>
            <a:lvl5pPr>
              <a:defRPr sz="2055"/>
            </a:lvl5pPr>
            <a:lvl6pPr>
              <a:defRPr sz="2055"/>
            </a:lvl6pPr>
            <a:lvl7pPr>
              <a:defRPr sz="2055"/>
            </a:lvl7pPr>
            <a:lvl8pPr>
              <a:defRPr sz="2055"/>
            </a:lvl8pPr>
            <a:lvl9pPr>
              <a:defRPr sz="20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958778-AC6E-4134-9EDA-F59AA66DF9DA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024" y="1450540"/>
            <a:ext cx="5090217" cy="604516"/>
          </a:xfrm>
        </p:spPr>
        <p:txBody>
          <a:bodyPr anchor="b"/>
          <a:lstStyle>
            <a:lvl1pPr marL="0" indent="0">
              <a:buNone/>
              <a:defRPr sz="2745" b="1"/>
            </a:lvl1pPr>
            <a:lvl2pPr marL="522605" indent="0">
              <a:buNone/>
              <a:defRPr sz="2285" b="1"/>
            </a:lvl2pPr>
            <a:lvl3pPr marL="1045210" indent="0">
              <a:buNone/>
              <a:defRPr sz="2055" b="1"/>
            </a:lvl3pPr>
            <a:lvl4pPr marL="1567815" indent="0">
              <a:buNone/>
              <a:defRPr sz="1830" b="1"/>
            </a:lvl4pPr>
            <a:lvl5pPr marL="2089785" indent="0">
              <a:buNone/>
              <a:defRPr sz="1830" b="1"/>
            </a:lvl5pPr>
            <a:lvl6pPr marL="2612390" indent="0">
              <a:buNone/>
              <a:defRPr sz="1830" b="1"/>
            </a:lvl6pPr>
            <a:lvl7pPr marL="3134995" indent="0">
              <a:buNone/>
              <a:defRPr sz="1830" b="1"/>
            </a:lvl7pPr>
            <a:lvl8pPr marL="3657600" indent="0">
              <a:buNone/>
              <a:defRPr sz="1830" b="1"/>
            </a:lvl8pPr>
            <a:lvl9pPr marL="4180205" indent="0">
              <a:buNone/>
              <a:defRPr sz="18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024" y="2055059"/>
            <a:ext cx="5090217" cy="3733601"/>
          </a:xfrm>
        </p:spPr>
        <p:txBody>
          <a:bodyPr/>
          <a:lstStyle>
            <a:lvl1pPr>
              <a:defRPr sz="2745"/>
            </a:lvl1pPr>
            <a:lvl2pPr>
              <a:defRPr sz="2285"/>
            </a:lvl2pPr>
            <a:lvl3pPr>
              <a:defRPr sz="2055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2252" y="1450540"/>
            <a:ext cx="5092215" cy="604516"/>
          </a:xfrm>
        </p:spPr>
        <p:txBody>
          <a:bodyPr anchor="b"/>
          <a:lstStyle>
            <a:lvl1pPr marL="0" indent="0">
              <a:buNone/>
              <a:defRPr sz="2745" b="1"/>
            </a:lvl1pPr>
            <a:lvl2pPr marL="522605" indent="0">
              <a:buNone/>
              <a:defRPr sz="2285" b="1"/>
            </a:lvl2pPr>
            <a:lvl3pPr marL="1045210" indent="0">
              <a:buNone/>
              <a:defRPr sz="2055" b="1"/>
            </a:lvl3pPr>
            <a:lvl4pPr marL="1567815" indent="0">
              <a:buNone/>
              <a:defRPr sz="1830" b="1"/>
            </a:lvl4pPr>
            <a:lvl5pPr marL="2089785" indent="0">
              <a:buNone/>
              <a:defRPr sz="1830" b="1"/>
            </a:lvl5pPr>
            <a:lvl6pPr marL="2612390" indent="0">
              <a:buNone/>
              <a:defRPr sz="1830" b="1"/>
            </a:lvl6pPr>
            <a:lvl7pPr marL="3134995" indent="0">
              <a:buNone/>
              <a:defRPr sz="1830" b="1"/>
            </a:lvl7pPr>
            <a:lvl8pPr marL="3657600" indent="0">
              <a:buNone/>
              <a:defRPr sz="1830" b="1"/>
            </a:lvl8pPr>
            <a:lvl9pPr marL="4180205" indent="0">
              <a:buNone/>
              <a:defRPr sz="18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2252" y="2055059"/>
            <a:ext cx="5092215" cy="3733601"/>
          </a:xfrm>
        </p:spPr>
        <p:txBody>
          <a:bodyPr/>
          <a:lstStyle>
            <a:lvl1pPr>
              <a:defRPr sz="2745"/>
            </a:lvl1pPr>
            <a:lvl2pPr>
              <a:defRPr sz="2285"/>
            </a:lvl2pPr>
            <a:lvl3pPr>
              <a:defRPr sz="2055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75E33-85E9-4823-9E9B-05A6E1911109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B5B22-55A9-4DB2-A8A5-4E2FF3BEDBE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044" y="192087"/>
            <a:ext cx="1384590" cy="228600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 bwMode="auto">
          <a:xfrm>
            <a:off x="0" y="573087"/>
            <a:ext cx="1152048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102FA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38" b="94845"/>
          <a:stretch/>
        </p:blipFill>
        <p:spPr>
          <a:xfrm>
            <a:off x="0" y="6177126"/>
            <a:ext cx="11520488" cy="30480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8655844" y="6198721"/>
            <a:ext cx="26669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重庆鑫景特种玻璃有限公司 版权所有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029" y="258007"/>
            <a:ext cx="3790161" cy="1098030"/>
          </a:xfrm>
        </p:spPr>
        <p:txBody>
          <a:bodyPr anchor="b"/>
          <a:lstStyle>
            <a:lvl1pPr algn="l">
              <a:defRPr sz="228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192" y="258007"/>
            <a:ext cx="6440272" cy="5530650"/>
          </a:xfrm>
        </p:spPr>
        <p:txBody>
          <a:bodyPr/>
          <a:lstStyle>
            <a:lvl1pPr>
              <a:defRPr sz="3655"/>
            </a:lvl1pPr>
            <a:lvl2pPr>
              <a:defRPr sz="3200"/>
            </a:lvl2pPr>
            <a:lvl3pPr>
              <a:defRPr sz="2745"/>
            </a:lvl3pPr>
            <a:lvl4pPr>
              <a:defRPr sz="2285"/>
            </a:lvl4pPr>
            <a:lvl5pPr>
              <a:defRPr sz="2285"/>
            </a:lvl5pPr>
            <a:lvl6pPr>
              <a:defRPr sz="2285"/>
            </a:lvl6pPr>
            <a:lvl7pPr>
              <a:defRPr sz="2285"/>
            </a:lvl7pPr>
            <a:lvl8pPr>
              <a:defRPr sz="2285"/>
            </a:lvl8pPr>
            <a:lvl9pPr>
              <a:defRPr sz="228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029" y="1356037"/>
            <a:ext cx="3790161" cy="4432620"/>
          </a:xfrm>
        </p:spPr>
        <p:txBody>
          <a:bodyPr/>
          <a:lstStyle>
            <a:lvl1pPr marL="0" indent="0">
              <a:buNone/>
              <a:defRPr sz="1600"/>
            </a:lvl1pPr>
            <a:lvl2pPr marL="522605" indent="0">
              <a:buNone/>
              <a:defRPr sz="1370"/>
            </a:lvl2pPr>
            <a:lvl3pPr marL="1045210" indent="0">
              <a:buNone/>
              <a:defRPr sz="1145"/>
            </a:lvl3pPr>
            <a:lvl4pPr marL="1567815" indent="0">
              <a:buNone/>
              <a:defRPr sz="1030"/>
            </a:lvl4pPr>
            <a:lvl5pPr marL="2089785" indent="0">
              <a:buNone/>
              <a:defRPr sz="1030"/>
            </a:lvl5pPr>
            <a:lvl6pPr marL="2612390" indent="0">
              <a:buNone/>
              <a:defRPr sz="1030"/>
            </a:lvl6pPr>
            <a:lvl7pPr marL="3134995" indent="0">
              <a:buNone/>
              <a:defRPr sz="1030"/>
            </a:lvl7pPr>
            <a:lvl8pPr marL="3657600" indent="0">
              <a:buNone/>
              <a:defRPr sz="1030"/>
            </a:lvl8pPr>
            <a:lvl9pPr marL="4180205" indent="0">
              <a:buNone/>
              <a:defRPr sz="10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AFEA9-27DC-49D9-B1F3-4E8431DC61C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096" y="4536128"/>
            <a:ext cx="6912293" cy="535515"/>
          </a:xfrm>
        </p:spPr>
        <p:txBody>
          <a:bodyPr anchor="b"/>
          <a:lstStyle>
            <a:lvl1pPr algn="l">
              <a:defRPr sz="228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096" y="579022"/>
            <a:ext cx="6912293" cy="3888105"/>
          </a:xfrm>
        </p:spPr>
        <p:txBody>
          <a:bodyPr/>
          <a:lstStyle>
            <a:lvl1pPr marL="0" indent="0">
              <a:buNone/>
              <a:defRPr sz="3655"/>
            </a:lvl1pPr>
            <a:lvl2pPr marL="522605" indent="0">
              <a:buNone/>
              <a:defRPr sz="3200"/>
            </a:lvl2pPr>
            <a:lvl3pPr marL="1045210" indent="0">
              <a:buNone/>
              <a:defRPr sz="2745"/>
            </a:lvl3pPr>
            <a:lvl4pPr marL="1567815" indent="0">
              <a:buNone/>
              <a:defRPr sz="2285"/>
            </a:lvl4pPr>
            <a:lvl5pPr marL="2089785" indent="0">
              <a:buNone/>
              <a:defRPr sz="2285"/>
            </a:lvl5pPr>
            <a:lvl6pPr marL="2612390" indent="0">
              <a:buNone/>
              <a:defRPr sz="2285"/>
            </a:lvl6pPr>
            <a:lvl7pPr marL="3134995" indent="0">
              <a:buNone/>
              <a:defRPr sz="2285"/>
            </a:lvl7pPr>
            <a:lvl8pPr marL="3657600" indent="0">
              <a:buNone/>
              <a:defRPr sz="2285"/>
            </a:lvl8pPr>
            <a:lvl9pPr marL="4180205" indent="0">
              <a:buNone/>
              <a:defRPr sz="2285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096" y="5071637"/>
            <a:ext cx="6912293" cy="760520"/>
          </a:xfrm>
        </p:spPr>
        <p:txBody>
          <a:bodyPr/>
          <a:lstStyle>
            <a:lvl1pPr marL="0" indent="0">
              <a:buNone/>
              <a:defRPr sz="1600"/>
            </a:lvl1pPr>
            <a:lvl2pPr marL="522605" indent="0">
              <a:buNone/>
              <a:defRPr sz="1370"/>
            </a:lvl2pPr>
            <a:lvl3pPr marL="1045210" indent="0">
              <a:buNone/>
              <a:defRPr sz="1145"/>
            </a:lvl3pPr>
            <a:lvl4pPr marL="1567815" indent="0">
              <a:buNone/>
              <a:defRPr sz="1030"/>
            </a:lvl4pPr>
            <a:lvl5pPr marL="2089785" indent="0">
              <a:buNone/>
              <a:defRPr sz="1030"/>
            </a:lvl5pPr>
            <a:lvl6pPr marL="2612390" indent="0">
              <a:buNone/>
              <a:defRPr sz="1030"/>
            </a:lvl6pPr>
            <a:lvl7pPr marL="3134995" indent="0">
              <a:buNone/>
              <a:defRPr sz="1030"/>
            </a:lvl7pPr>
            <a:lvl8pPr marL="3657600" indent="0">
              <a:buNone/>
              <a:defRPr sz="1030"/>
            </a:lvl8pPr>
            <a:lvl9pPr marL="4180205" indent="0">
              <a:buNone/>
              <a:defRPr sz="10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0CBD04-028F-4C57-9DED-880B9D753624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3300F-47D0-4A93-AC31-BE277D702843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2354" y="259514"/>
            <a:ext cx="2592110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024" y="259514"/>
            <a:ext cx="7584321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3B625-784E-4173-B5E2-670015F29F4E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5121" y="258769"/>
            <a:ext cx="10370253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121" y="1511302"/>
            <a:ext cx="10370253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75119" y="5900738"/>
            <a:ext cx="2688719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36923" y="5900738"/>
            <a:ext cx="3646643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56654" y="5900738"/>
            <a:ext cx="2688719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00"/>
            </a:lvl1pPr>
          </a:lstStyle>
          <a:p>
            <a:fld id="{DE3CE9A3-0C4E-4B5C-AB12-E860370C588C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5pPr>
      <a:lvl6pPr marL="52260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6pPr>
      <a:lvl7pPr marL="1045210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7pPr>
      <a:lvl8pPr marL="156781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8pPr>
      <a:lvl9pPr marL="208978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91795" indent="-391795" algn="l" rtl="0" eaLnBrk="0" fontAlgn="base" hangingPunct="0">
        <a:spcBef>
          <a:spcPct val="20000"/>
        </a:spcBef>
        <a:spcAft>
          <a:spcPct val="0"/>
        </a:spcAft>
        <a:buChar char="•"/>
        <a:defRPr sz="3655">
          <a:solidFill>
            <a:schemeClr val="tx1"/>
          </a:solidFill>
          <a:latin typeface="+mn-lt"/>
          <a:ea typeface="+mn-ea"/>
          <a:cs typeface="+mn-cs"/>
        </a:defRPr>
      </a:lvl1pPr>
      <a:lvl2pPr marL="848995" indent="-326390" algn="l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306195" indent="-260985" algn="l" rtl="0" eaLnBrk="0" fontAlgn="base" hangingPunct="0">
        <a:spcBef>
          <a:spcPct val="20000"/>
        </a:spcBef>
        <a:spcAft>
          <a:spcPct val="0"/>
        </a:spcAft>
        <a:buChar char="•"/>
        <a:defRPr sz="2745">
          <a:solidFill>
            <a:schemeClr val="tx1"/>
          </a:solidFill>
          <a:latin typeface="+mn-lt"/>
        </a:defRPr>
      </a:lvl3pPr>
      <a:lvl4pPr marL="1828800" indent="-260985" algn="l" rtl="0" eaLnBrk="0" fontAlgn="base" hangingPunct="0">
        <a:spcBef>
          <a:spcPct val="20000"/>
        </a:spcBef>
        <a:spcAft>
          <a:spcPct val="0"/>
        </a:spcAft>
        <a:buChar char="–"/>
        <a:defRPr sz="2285">
          <a:solidFill>
            <a:schemeClr val="tx1"/>
          </a:solidFill>
          <a:latin typeface="+mn-lt"/>
        </a:defRPr>
      </a:lvl4pPr>
      <a:lvl5pPr marL="2351405" indent="-260985" algn="l" rtl="0" eaLnBrk="0" fontAlgn="base" hangingPunct="0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5pPr>
      <a:lvl6pPr marL="287401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6pPr>
      <a:lvl7pPr marL="3396615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7pPr>
      <a:lvl8pPr marL="391922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8pPr>
      <a:lvl9pPr marL="444119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260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521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781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978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1239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499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8020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package" Target="../embeddings/Microsoft_PowerPoint_Presentation1.ppt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PowerPoint_Presentation.pptx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Document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Document3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950"/>
            <a:ext cx="11520488" cy="415713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51575" y="2651019"/>
            <a:ext cx="4417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工作汇报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31844" y="5567044"/>
            <a:ext cx="3198138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sz="1050" dirty="0">
                <a:latin typeface="微软雅黑" panose="020B0503020204020204" pitchFamily="34" charset="-122"/>
                <a:cs typeface="+mn-ea"/>
                <a:sym typeface="+mn-lt"/>
              </a:rPr>
              <a:t>重庆鑫景特种玻璃有限公司</a:t>
            </a:r>
            <a:endParaRPr lang="en-US" altLang="zh-CN" sz="1050" dirty="0">
              <a:latin typeface="微软雅黑" panose="020B0503020204020204" pitchFamily="34" charset="-122"/>
              <a:cs typeface="+mn-ea"/>
              <a:sym typeface="+mn-lt"/>
            </a:endParaRPr>
          </a:p>
          <a:p>
            <a:pPr algn="r"/>
            <a:r>
              <a:rPr lang="en-US" altLang="zh-CN" sz="900" dirty="0">
                <a:latin typeface="微软雅黑" panose="020B0503020204020204" pitchFamily="34" charset="-122"/>
                <a:cs typeface="+mn-ea"/>
                <a:sym typeface="+mn-lt"/>
              </a:rPr>
              <a:t>Chongqing Aureavia Hi-tech Glass CO.,LTD.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4" y="385804"/>
            <a:ext cx="2057400" cy="33968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41444" y="4356527"/>
            <a:ext cx="25885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财经管理部  章玲</a:t>
            </a:r>
          </a:p>
        </p:txBody>
      </p:sp>
    </p:spTree>
    <p:extLst>
      <p:ext uri="{BB962C8B-B14F-4D97-AF65-F5344CB8AC3E}">
        <p14:creationId xmlns:p14="http://schemas.microsoft.com/office/powerpoint/2010/main" val="420832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26644" y="1792287"/>
            <a:ext cx="4602481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一、成本板块工作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3428525" y="1958026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6644" y="2348379"/>
            <a:ext cx="4297682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二、职能部门费用执行分析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26644" y="2882461"/>
            <a:ext cx="3505199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三、资产负债表清账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26645" y="3413691"/>
            <a:ext cx="3002282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四、研发和其他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3428525" y="2517850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428525" y="3055041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428525" y="3592232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79985" y="2058880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11" name="等腰三角形 10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等腰三角形 9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179985" y="2608273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0" name="等腰三角形 29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179985" y="3145464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4" name="等腰三角形 33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179985" y="3682655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7" name="等腰三角形 36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50044" y="115887"/>
            <a:ext cx="5714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目 录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B0043A-BF72-40E8-A99B-6767713A3FA1}"/>
              </a:ext>
            </a:extLst>
          </p:cNvPr>
          <p:cNvSpPr txBox="1"/>
          <p:nvPr/>
        </p:nvSpPr>
        <p:spPr>
          <a:xfrm>
            <a:off x="3626645" y="3939005"/>
            <a:ext cx="3002282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五、自我提升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4313F3-E12B-446A-A631-B2DFE47DDDE9}"/>
              </a:ext>
            </a:extLst>
          </p:cNvPr>
          <p:cNvSpPr/>
          <p:nvPr/>
        </p:nvSpPr>
        <p:spPr bwMode="auto">
          <a:xfrm>
            <a:off x="3428525" y="4117546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64B586-D363-45A1-9924-668215078072}"/>
              </a:ext>
            </a:extLst>
          </p:cNvPr>
          <p:cNvGrpSpPr/>
          <p:nvPr/>
        </p:nvGrpSpPr>
        <p:grpSpPr>
          <a:xfrm>
            <a:off x="3179985" y="4207969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E49B9194-7B18-4378-A752-528148AA7EA4}"/>
                </a:ext>
              </a:extLst>
            </p:cNvPr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84FA05F1-8A5E-4E0F-9037-521C1B3DD345}"/>
                </a:ext>
              </a:extLst>
            </p:cNvPr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F0E2D3-9989-4F6C-BDBA-A3876A36B684}"/>
              </a:ext>
            </a:extLst>
          </p:cNvPr>
          <p:cNvSpPr txBox="1"/>
          <p:nvPr/>
        </p:nvSpPr>
        <p:spPr>
          <a:xfrm>
            <a:off x="1363329" y="1765215"/>
            <a:ext cx="8853350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2003" indent="-162003" defTabSz="864017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itchFamily="18" charset="-122"/>
              </a:rPr>
              <a:t>独立完成成本、存货的核算，了解成本岗涉及业务范围及核算逻辑，并总结成本核算操作流程。</a:t>
            </a:r>
            <a:endParaRPr lang="en-US" altLang="zh-CN" sz="1400" dirty="0">
              <a:solidFill>
                <a:srgbClr val="313131"/>
              </a:solidFill>
              <a:latin typeface="+mn-ea"/>
              <a:ea typeface="+mn-ea"/>
              <a:cs typeface="OPPOSans R" pitchFamily="18" charset="-122"/>
            </a:endParaRPr>
          </a:p>
        </p:txBody>
      </p:sp>
      <p:sp>
        <p:nvSpPr>
          <p:cNvPr id="15" name="剪去单角的矩形 5">
            <a:extLst>
              <a:ext uri="{FF2B5EF4-FFF2-40B4-BE49-F238E27FC236}">
                <a16:creationId xmlns:a16="http://schemas.microsoft.com/office/drawing/2014/main" id="{E2051D37-9F58-431D-A5A8-5CD01CE05D5E}"/>
              </a:ext>
            </a:extLst>
          </p:cNvPr>
          <p:cNvSpPr/>
          <p:nvPr/>
        </p:nvSpPr>
        <p:spPr>
          <a:xfrm rot="10800000">
            <a:off x="1363329" y="1213125"/>
            <a:ext cx="1323232" cy="443291"/>
          </a:xfrm>
          <a:prstGeom prst="snip1Rect">
            <a:avLst/>
          </a:prstGeom>
          <a:solidFill>
            <a:schemeClr val="accent2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OPPOSans R" pitchFamily="18" charset="-122"/>
            </a:endParaRPr>
          </a:p>
        </p:txBody>
      </p:sp>
      <p:cxnSp>
        <p:nvCxnSpPr>
          <p:cNvPr id="16" name="直线连接符 9">
            <a:extLst>
              <a:ext uri="{FF2B5EF4-FFF2-40B4-BE49-F238E27FC236}">
                <a16:creationId xmlns:a16="http://schemas.microsoft.com/office/drawing/2014/main" id="{2E4EADBD-FCD6-44E4-8D29-B0DB2D7EC0EC}"/>
              </a:ext>
            </a:extLst>
          </p:cNvPr>
          <p:cNvCxnSpPr/>
          <p:nvPr/>
        </p:nvCxnSpPr>
        <p:spPr>
          <a:xfrm>
            <a:off x="2559844" y="1639887"/>
            <a:ext cx="7656835" cy="0"/>
          </a:xfrm>
          <a:prstGeom prst="line">
            <a:avLst/>
          </a:prstGeom>
          <a:noFill/>
          <a:ln w="6350" cap="flat" cmpd="sng" algn="ctr">
            <a:solidFill>
              <a:srgbClr val="122C86">
                <a:alpha val="23000"/>
              </a:srgbClr>
            </a:solidFill>
            <a:prstDash val="sysDot"/>
            <a:miter lim="800000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202E3B-B1BD-4530-9729-7A997393CC40}"/>
              </a:ext>
            </a:extLst>
          </p:cNvPr>
          <p:cNvSpPr txBox="1"/>
          <p:nvPr/>
        </p:nvSpPr>
        <p:spPr>
          <a:xfrm>
            <a:off x="1412496" y="1280913"/>
            <a:ext cx="1530352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+mn-ea"/>
                <a:ea typeface="+mn-ea"/>
                <a:cs typeface="OPPOSans R" pitchFamily="18" charset="-122"/>
              </a:rPr>
              <a:t>阶段性工作一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B89D60-5DB7-40FF-BB21-A0DE9BB73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8" y="2738395"/>
            <a:ext cx="5678492" cy="274283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AAB0F29D-B406-44EA-A1E9-8038A7B0A062}"/>
              </a:ext>
            </a:extLst>
          </p:cNvPr>
          <p:cNvSpPr txBox="1"/>
          <p:nvPr/>
        </p:nvSpPr>
        <p:spPr>
          <a:xfrm>
            <a:off x="1363328" y="2279105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sym typeface="+mn-lt"/>
              </a:rPr>
              <a:t>成本基本计算逻辑：</a:t>
            </a:r>
            <a:endParaRPr lang="en-US" altLang="zh-CN" sz="1400" dirty="0">
              <a:solidFill>
                <a:srgbClr val="313131"/>
              </a:solidFill>
              <a:latin typeface="+mn-ea"/>
              <a:ea typeface="+mn-ea"/>
              <a:sym typeface="+mn-lt"/>
            </a:endParaRPr>
          </a:p>
        </p:txBody>
      </p:sp>
      <p:graphicFrame>
        <p:nvGraphicFramePr>
          <p:cNvPr id="47" name="对象 46">
            <a:hlinkClick r:id="" action="ppaction://ole?verb=0"/>
            <a:extLst>
              <a:ext uri="{FF2B5EF4-FFF2-40B4-BE49-F238E27FC236}">
                <a16:creationId xmlns:a16="http://schemas.microsoft.com/office/drawing/2014/main" id="{01771CAE-0E35-43D6-9AB9-46FBAFC3A1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607805"/>
              </p:ext>
            </p:extLst>
          </p:nvPr>
        </p:nvGraphicFramePr>
        <p:xfrm>
          <a:off x="8429248" y="4465662"/>
          <a:ext cx="914400" cy="913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Presentation" showAsIcon="1" r:id="rId5" imgW="914400" imgH="828521" progId="PowerPoint.Show.12">
                  <p:embed/>
                </p:oleObj>
              </mc:Choice>
              <mc:Fallback>
                <p:oleObj name="Presentation" showAsIcon="1" r:id="rId5" imgW="914400" imgH="828521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29248" y="4465662"/>
                        <a:ext cx="914400" cy="913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0"/>
            <a:extLst>
              <a:ext uri="{FF2B5EF4-FFF2-40B4-BE49-F238E27FC236}">
                <a16:creationId xmlns:a16="http://schemas.microsoft.com/office/drawing/2014/main" id="{A6BB5909-19EC-46CC-980E-FC4823C5D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306931"/>
              </p:ext>
            </p:extLst>
          </p:nvPr>
        </p:nvGraphicFramePr>
        <p:xfrm>
          <a:off x="8429248" y="3365279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Presentation" showAsIcon="1" r:id="rId7" imgW="914400" imgH="828521" progId="PowerPoint.Show.12">
                  <p:embed/>
                </p:oleObj>
              </mc:Choice>
              <mc:Fallback>
                <p:oleObj name="Presentation" showAsIcon="1" r:id="rId7" imgW="914400" imgH="828521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29248" y="3365279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64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成本岗涉及的工作范围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8FC116-E88B-448D-91EE-E11DB4EC7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97422"/>
              </p:ext>
            </p:extLst>
          </p:nvPr>
        </p:nvGraphicFramePr>
        <p:xfrm>
          <a:off x="1378743" y="649287"/>
          <a:ext cx="8763001" cy="531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2232012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5354524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6079477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90437287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范围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工作内容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0087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库存管理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、检查单据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8000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其他出库单（制造费用、研发费用）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、关库存账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、盘点，确定账实差异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系统库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存数据准确性和期末账实相符，直接影响成本核算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数量的精确性。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95407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、采购订单审核（委外）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pPr marL="288000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单价的确定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、采购入库单的审核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pPr marL="288000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确认暂估应付金额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采购入库及时性、准确性，影响成本核算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数量的精准性；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采购价格影响成本核算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9399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应付管理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、标准应付单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、费用应付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大宗材料应付，影响成本核算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料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价的准确性；委外加工费应付，影响成本核算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委外加工费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</a:t>
                      </a:r>
                      <a:endParaRPr lang="en-US" altLang="zh-CN" sz="14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费用应付，影响成本核算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205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资产管理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、固定资产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、无形资产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、长期待摊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、在建工程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在建工程是否及时转固或者长期待摊，未及时转入会导致当期折旧摊销减少，影响成本核算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费的准确性；资产和长期待摊当期是否全部计提，且计提准确。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73297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计划管理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、是否完工结案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、预测单（研发和销售）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生产订单类、委外订单类、采购申请类，生产产品全部不合格，本月完工避免循坏，否则系统无法计算，且结案后才能下月期初在产调整，分摊成本给其他产品；生产产品及时入库，否则在产品除材料外的费用全计入完工产品，虚增完工产品的实际成本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0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57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成本岗涉及的工作范围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9D5542-7DE9-4519-908F-48561CDC8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30817"/>
              </p:ext>
            </p:extLst>
          </p:nvPr>
        </p:nvGraphicFramePr>
        <p:xfrm>
          <a:off x="1378743" y="1563687"/>
          <a:ext cx="8763001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72">
                  <a:extLst>
                    <a:ext uri="{9D8B030D-6E8A-4147-A177-3AD203B41FA5}">
                      <a16:colId xmlns:a16="http://schemas.microsoft.com/office/drawing/2014/main" val="786900726"/>
                    </a:ext>
                  </a:extLst>
                </a:gridCol>
                <a:gridCol w="1265329">
                  <a:extLst>
                    <a:ext uri="{9D8B030D-6E8A-4147-A177-3AD203B41FA5}">
                      <a16:colId xmlns:a16="http://schemas.microsoft.com/office/drawing/2014/main" val="344119510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12894838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47762132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生产管理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、生产领补退</a:t>
                      </a:r>
                      <a:endParaRPr lang="en-US" altLang="zh-CN" sz="1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、发料分析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生产发料及时性、准确性，生产领用材料数量的多少直接影响材料的投入金额的高低；生产入库的工时是否准确汇报，大部分部门分摊规则都是按照工时分配，工时未录入，系统无法为该工单分配料工费，会导致该批次生产产品成本少计，其他产品的成本虚高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516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、委外应付单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、委外领补退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委外倒冲领料，先采购入库；入库是否及时，责任归属，影响成本核算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数量的精准性；暂估差异，影响成本核算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价的准确性；议价能力，影响价格的高低；同时完工入库数量影响分摊部门的分摊比例。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47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8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费用管理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、费用异常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、总额分析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期间费用项目统计，费用项目变动差异说明，以及各项期间费用变动解释；费用报销、差旅报销，报销的合规和合理性；当期费用是否计入；费用项目是否计入正确的部门和科目。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02063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成本管理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、存货核算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、成本核算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、基础设置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、投入产出分析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出入库核算准确单价，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成本调整，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存货核算生成凭证，使业务对账平衡；成本计算的基本逻辑以及成本结构，通过投入产出分析单位产品成本的波动异常情况。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16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66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CE4CA4-CA07-442C-BB3C-2CCD0B764853}"/>
              </a:ext>
            </a:extLst>
          </p:cNvPr>
          <p:cNvSpPr txBox="1"/>
          <p:nvPr/>
        </p:nvSpPr>
        <p:spPr>
          <a:xfrm>
            <a:off x="1721644" y="1030287"/>
            <a:ext cx="7543800" cy="471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核算前核心准备工作：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</a:rPr>
              <a:t>Step1</a:t>
            </a:r>
            <a:r>
              <a:rPr lang="zh-CN" altLang="en-US" dirty="0">
                <a:latin typeface="+mn-ea"/>
                <a:ea typeface="+mn-ea"/>
              </a:rPr>
              <a:t>：生产订单和委外订单的检查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产品入库完是否及时关单结案，未结案订单产生在产品，会造成前面入库产品成本降低。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</a:rPr>
              <a:t>Step2</a:t>
            </a:r>
            <a:r>
              <a:rPr lang="zh-CN" altLang="en-US" dirty="0">
                <a:latin typeface="+mn-ea"/>
                <a:ea typeface="+mn-ea"/>
              </a:rPr>
              <a:t>：生产订单领料与入库数量的匹配，是否按照</a:t>
            </a:r>
            <a:r>
              <a:rPr lang="en-US" altLang="zh-CN" dirty="0">
                <a:latin typeface="+mn-ea"/>
                <a:ea typeface="+mn-ea"/>
              </a:rPr>
              <a:t>BOM</a:t>
            </a:r>
            <a:r>
              <a:rPr lang="zh-CN" altLang="en-US" dirty="0">
                <a:latin typeface="+mn-ea"/>
                <a:ea typeface="+mn-ea"/>
              </a:rPr>
              <a:t>表，按照实际领料过程操作，避免造成成本巨幅波动。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</a:rPr>
              <a:t>Step3</a:t>
            </a:r>
            <a:r>
              <a:rPr lang="zh-CN" altLang="en-US" dirty="0">
                <a:latin typeface="+mn-ea"/>
                <a:ea typeface="+mn-ea"/>
              </a:rPr>
              <a:t>：其他出库单检查：是否挂错部门、项目，选错出库类型，是否存在生产领用做到其他出库的情况，避免费用错计。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  <a:ea typeface="+mn-ea"/>
              </a:rPr>
              <a:t>Step4</a:t>
            </a:r>
            <a:r>
              <a:rPr lang="zh-CN" altLang="en-US" dirty="0">
                <a:latin typeface="+mn-ea"/>
                <a:ea typeface="+mn-ea"/>
              </a:rPr>
              <a:t>：应付单的检查，入库物料是否暂估入账，财务应付当期计入是否审核完成，确保费用的完整。</a:t>
            </a:r>
            <a:endParaRPr lang="en-US" altLang="zh-CN" dirty="0">
              <a:latin typeface="+mn-ea"/>
              <a:ea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906C563-F64B-43F8-81A8-E8DF9DE474C9}"/>
              </a:ext>
            </a:extLst>
          </p:cNvPr>
          <p:cNvCxnSpPr/>
          <p:nvPr/>
        </p:nvCxnSpPr>
        <p:spPr bwMode="auto">
          <a:xfrm>
            <a:off x="1797844" y="2859087"/>
            <a:ext cx="746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F9CC217-D111-4698-A830-2E8E7F6EC811}"/>
              </a:ext>
            </a:extLst>
          </p:cNvPr>
          <p:cNvCxnSpPr/>
          <p:nvPr/>
        </p:nvCxnSpPr>
        <p:spPr bwMode="auto">
          <a:xfrm>
            <a:off x="1797844" y="3849687"/>
            <a:ext cx="746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E512DF3-A44B-491F-823C-09434F3D1C01}"/>
              </a:ext>
            </a:extLst>
          </p:cNvPr>
          <p:cNvCxnSpPr/>
          <p:nvPr/>
        </p:nvCxnSpPr>
        <p:spPr bwMode="auto">
          <a:xfrm>
            <a:off x="1797844" y="4840287"/>
            <a:ext cx="746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8304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74EF350-152A-4972-B568-7F9E45061FB9}"/>
              </a:ext>
            </a:extLst>
          </p:cNvPr>
          <p:cNvSpPr/>
          <p:nvPr/>
        </p:nvSpPr>
        <p:spPr>
          <a:xfrm>
            <a:off x="1264444" y="1723042"/>
            <a:ext cx="4714898" cy="443292"/>
          </a:xfrm>
          <a:prstGeom prst="rect">
            <a:avLst/>
          </a:prstGeom>
          <a:solidFill>
            <a:srgbClr val="122C8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algn="ctr" fontAlgn="ctr">
              <a:lnSpc>
                <a:spcPct val="11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其他出库业务场景标准制定与宣传</a:t>
            </a:r>
          </a:p>
        </p:txBody>
      </p:sp>
      <p:sp>
        <p:nvSpPr>
          <p:cNvPr id="115" name="Freeform 191">
            <a:extLst>
              <a:ext uri="{FF2B5EF4-FFF2-40B4-BE49-F238E27FC236}">
                <a16:creationId xmlns:a16="http://schemas.microsoft.com/office/drawing/2014/main" id="{0F1C5155-FAF8-4225-B535-906E0E80F164}"/>
              </a:ext>
            </a:extLst>
          </p:cNvPr>
          <p:cNvSpPr/>
          <p:nvPr/>
        </p:nvSpPr>
        <p:spPr bwMode="auto">
          <a:xfrm>
            <a:off x="466267" y="1255261"/>
            <a:ext cx="270320" cy="261738"/>
          </a:xfrm>
          <a:custGeom>
            <a:avLst/>
            <a:gdLst/>
            <a:ahLst/>
            <a:cxnLst>
              <a:cxn ang="0">
                <a:pos x="256" y="236"/>
              </a:cxn>
              <a:cxn ang="0">
                <a:pos x="256" y="236"/>
              </a:cxn>
              <a:cxn ang="0">
                <a:pos x="244" y="248"/>
              </a:cxn>
              <a:cxn ang="0">
                <a:pos x="12" y="248"/>
              </a:cxn>
              <a:cxn ang="0">
                <a:pos x="0" y="236"/>
              </a:cxn>
              <a:cxn ang="0">
                <a:pos x="0" y="236"/>
              </a:cxn>
              <a:cxn ang="0">
                <a:pos x="0" y="236"/>
              </a:cxn>
              <a:cxn ang="0">
                <a:pos x="32" y="176"/>
              </a:cxn>
              <a:cxn ang="0">
                <a:pos x="69" y="164"/>
              </a:cxn>
              <a:cxn ang="0">
                <a:pos x="100" y="150"/>
              </a:cxn>
              <a:cxn ang="0">
                <a:pos x="100" y="127"/>
              </a:cxn>
              <a:cxn ang="0">
                <a:pos x="88" y="97"/>
              </a:cxn>
              <a:cxn ang="0">
                <a:pos x="80" y="85"/>
              </a:cxn>
              <a:cxn ang="0">
                <a:pos x="84" y="65"/>
              </a:cxn>
              <a:cxn ang="0">
                <a:pos x="82" y="39"/>
              </a:cxn>
              <a:cxn ang="0">
                <a:pos x="128" y="0"/>
              </a:cxn>
              <a:cxn ang="0">
                <a:pos x="175" y="39"/>
              </a:cxn>
              <a:cxn ang="0">
                <a:pos x="172" y="65"/>
              </a:cxn>
              <a:cxn ang="0">
                <a:pos x="176" y="85"/>
              </a:cxn>
              <a:cxn ang="0">
                <a:pos x="168" y="97"/>
              </a:cxn>
              <a:cxn ang="0">
                <a:pos x="156" y="126"/>
              </a:cxn>
              <a:cxn ang="0">
                <a:pos x="156" y="150"/>
              </a:cxn>
              <a:cxn ang="0">
                <a:pos x="187" y="164"/>
              </a:cxn>
              <a:cxn ang="0">
                <a:pos x="224" y="176"/>
              </a:cxn>
              <a:cxn ang="0">
                <a:pos x="256" y="236"/>
              </a:cxn>
            </a:cxnLst>
            <a:rect l="0" t="0" r="r" b="b"/>
            <a:pathLst>
              <a:path w="256" h="248">
                <a:moveTo>
                  <a:pt x="256" y="236"/>
                </a:moveTo>
                <a:cubicBezTo>
                  <a:pt x="256" y="236"/>
                  <a:pt x="256" y="236"/>
                  <a:pt x="256" y="236"/>
                </a:cubicBezTo>
                <a:cubicBezTo>
                  <a:pt x="256" y="243"/>
                  <a:pt x="251" y="248"/>
                  <a:pt x="244" y="248"/>
                </a:cubicBezTo>
                <a:cubicBezTo>
                  <a:pt x="12" y="248"/>
                  <a:pt x="12" y="248"/>
                  <a:pt x="12" y="248"/>
                </a:cubicBezTo>
                <a:cubicBezTo>
                  <a:pt x="5" y="248"/>
                  <a:pt x="0" y="243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192"/>
                  <a:pt x="32" y="176"/>
                </a:cubicBezTo>
                <a:cubicBezTo>
                  <a:pt x="52" y="166"/>
                  <a:pt x="44" y="174"/>
                  <a:pt x="69" y="164"/>
                </a:cubicBezTo>
                <a:cubicBezTo>
                  <a:pt x="94" y="154"/>
                  <a:pt x="100" y="150"/>
                  <a:pt x="100" y="150"/>
                </a:cubicBezTo>
                <a:cubicBezTo>
                  <a:pt x="100" y="127"/>
                  <a:pt x="100" y="127"/>
                  <a:pt x="100" y="127"/>
                </a:cubicBezTo>
                <a:cubicBezTo>
                  <a:pt x="100" y="127"/>
                  <a:pt x="91" y="119"/>
                  <a:pt x="88" y="97"/>
                </a:cubicBezTo>
                <a:cubicBezTo>
                  <a:pt x="82" y="99"/>
                  <a:pt x="80" y="90"/>
                  <a:pt x="80" y="85"/>
                </a:cubicBezTo>
                <a:cubicBezTo>
                  <a:pt x="80" y="80"/>
                  <a:pt x="77" y="63"/>
                  <a:pt x="84" y="65"/>
                </a:cubicBezTo>
                <a:cubicBezTo>
                  <a:pt x="82" y="54"/>
                  <a:pt x="81" y="44"/>
                  <a:pt x="82" y="39"/>
                </a:cubicBezTo>
                <a:cubicBezTo>
                  <a:pt x="83" y="21"/>
                  <a:pt x="101" y="1"/>
                  <a:pt x="128" y="0"/>
                </a:cubicBezTo>
                <a:cubicBezTo>
                  <a:pt x="160" y="1"/>
                  <a:pt x="173" y="21"/>
                  <a:pt x="175" y="39"/>
                </a:cubicBezTo>
                <a:cubicBezTo>
                  <a:pt x="175" y="44"/>
                  <a:pt x="174" y="54"/>
                  <a:pt x="172" y="65"/>
                </a:cubicBezTo>
                <a:cubicBezTo>
                  <a:pt x="180" y="63"/>
                  <a:pt x="177" y="80"/>
                  <a:pt x="176" y="85"/>
                </a:cubicBezTo>
                <a:cubicBezTo>
                  <a:pt x="176" y="90"/>
                  <a:pt x="174" y="99"/>
                  <a:pt x="168" y="97"/>
                </a:cubicBezTo>
                <a:cubicBezTo>
                  <a:pt x="165" y="119"/>
                  <a:pt x="156" y="126"/>
                  <a:pt x="156" y="126"/>
                </a:cubicBezTo>
                <a:cubicBezTo>
                  <a:pt x="156" y="150"/>
                  <a:pt x="156" y="150"/>
                  <a:pt x="156" y="150"/>
                </a:cubicBezTo>
                <a:cubicBezTo>
                  <a:pt x="156" y="150"/>
                  <a:pt x="162" y="153"/>
                  <a:pt x="187" y="164"/>
                </a:cubicBezTo>
                <a:cubicBezTo>
                  <a:pt x="212" y="174"/>
                  <a:pt x="204" y="166"/>
                  <a:pt x="224" y="176"/>
                </a:cubicBezTo>
                <a:cubicBezTo>
                  <a:pt x="256" y="192"/>
                  <a:pt x="256" y="236"/>
                  <a:pt x="256" y="236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115203" tIns="57602" rIns="115203" bIns="5760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7" name="剪去单角的矩形 5">
            <a:extLst>
              <a:ext uri="{FF2B5EF4-FFF2-40B4-BE49-F238E27FC236}">
                <a16:creationId xmlns:a16="http://schemas.microsoft.com/office/drawing/2014/main" id="{67EB563A-ED32-4014-B088-C3E8E9CE5CAE}"/>
              </a:ext>
            </a:extLst>
          </p:cNvPr>
          <p:cNvSpPr/>
          <p:nvPr/>
        </p:nvSpPr>
        <p:spPr>
          <a:xfrm rot="10800000">
            <a:off x="1112044" y="1024085"/>
            <a:ext cx="1323232" cy="443291"/>
          </a:xfrm>
          <a:prstGeom prst="snip1Rect">
            <a:avLst/>
          </a:prstGeom>
          <a:solidFill>
            <a:srgbClr val="274DA7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OPPOSans R" pitchFamily="18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898333D-E1E4-483E-99F3-9ECF1053D6F5}"/>
              </a:ext>
            </a:extLst>
          </p:cNvPr>
          <p:cNvSpPr txBox="1"/>
          <p:nvPr/>
        </p:nvSpPr>
        <p:spPr>
          <a:xfrm>
            <a:off x="1161211" y="1091873"/>
            <a:ext cx="1530352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OPPOSans R" pitchFamily="18" charset="-122"/>
              </a:rPr>
              <a:t>阶段性工作二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8541EA-AFBE-42BB-87F5-DCEA806A4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11" y="2421999"/>
            <a:ext cx="5383204" cy="291096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32B23E3-4F09-44B8-9283-6AE2C291977B}"/>
              </a:ext>
            </a:extLst>
          </p:cNvPr>
          <p:cNvSpPr/>
          <p:nvPr/>
        </p:nvSpPr>
        <p:spPr>
          <a:xfrm>
            <a:off x="7581840" y="2554287"/>
            <a:ext cx="1873250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为避免中试部成本核算不良品带走良品成本，新设研发项目管理部不良仓，中试不良仓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BD42889D-0B7B-407B-A087-1FA631A3FC64}"/>
              </a:ext>
            </a:extLst>
          </p:cNvPr>
          <p:cNvSpPr/>
          <p:nvPr/>
        </p:nvSpPr>
        <p:spPr>
          <a:xfrm>
            <a:off x="7436644" y="1723042"/>
            <a:ext cx="2163642" cy="443292"/>
          </a:xfrm>
          <a:prstGeom prst="rect">
            <a:avLst/>
          </a:prstGeom>
          <a:solidFill>
            <a:srgbClr val="122C8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algn="ctr" fontAlgn="ctr">
              <a:lnSpc>
                <a:spcPct val="11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建立中试部不良仓</a:t>
            </a:r>
          </a:p>
        </p:txBody>
      </p:sp>
    </p:spTree>
    <p:extLst>
      <p:ext uri="{BB962C8B-B14F-4D97-AF65-F5344CB8AC3E}">
        <p14:creationId xmlns:p14="http://schemas.microsoft.com/office/powerpoint/2010/main" val="118807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3C1B9A-3021-46A1-969F-B9F6164A51FC}"/>
              </a:ext>
            </a:extLst>
          </p:cNvPr>
          <p:cNvSpPr/>
          <p:nvPr/>
        </p:nvSpPr>
        <p:spPr>
          <a:xfrm>
            <a:off x="6570263" y="1391087"/>
            <a:ext cx="3664075" cy="4453303"/>
          </a:xfrm>
          <a:prstGeom prst="rect">
            <a:avLst/>
          </a:prstGeom>
          <a:solidFill>
            <a:srgbClr val="F2F5F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charset="-122"/>
              <a:ea typeface="OPPOSans R" charset="-122"/>
              <a:cs typeface="OPPOSans R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1D22FE-3FE6-4D83-8736-239D2D0B6B4C}"/>
              </a:ext>
            </a:extLst>
          </p:cNvPr>
          <p:cNvSpPr txBox="1"/>
          <p:nvPr/>
        </p:nvSpPr>
        <p:spPr>
          <a:xfrm>
            <a:off x="6797320" y="1650622"/>
            <a:ext cx="3209958" cy="368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864017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、前期原料部生产领料与</a:t>
            </a:r>
            <a:r>
              <a:rPr lang="en-US" altLang="zh-CN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BOM</a:t>
            </a: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表并不匹配，规范原料部</a:t>
            </a:r>
            <a:r>
              <a:rPr lang="en-US" altLang="zh-CN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ERP</a:t>
            </a: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领料操作和实物管理</a:t>
            </a:r>
            <a:endParaRPr lang="en-US" altLang="zh-CN" sz="1400" dirty="0">
              <a:solidFill>
                <a:srgbClr val="313131"/>
              </a:solidFill>
              <a:latin typeface="+mn-ea"/>
              <a:ea typeface="+mn-ea"/>
              <a:cs typeface="OPPOSans R" panose="00020600040101010101" pitchFamily="18" charset="-122"/>
            </a:endParaRPr>
          </a:p>
          <a:p>
            <a:pPr algn="just" defTabSz="864017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313131"/>
              </a:solidFill>
              <a:latin typeface="+mn-ea"/>
              <a:ea typeface="+mn-ea"/>
              <a:cs typeface="OPPOSans R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、</a:t>
            </a:r>
            <a:r>
              <a:rPr lang="zh-CN" altLang="en-US" sz="1400" dirty="0">
                <a:latin typeface="+mn-ea"/>
                <a:ea typeface="+mn-ea"/>
              </a:rPr>
              <a:t>问题：预混料小料无法退料，原因：研发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搭结错误</a:t>
            </a:r>
            <a:endParaRPr lang="en-US" altLang="zh-CN" sz="1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latin typeface="+mn-ea"/>
                <a:ea typeface="+mn-ea"/>
              </a:rPr>
              <a:t>措施：修改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表搭结原理。</a:t>
            </a:r>
            <a:endParaRPr lang="en-US" altLang="zh-CN" sz="1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zh-CN" altLang="en-US" sz="1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3</a:t>
            </a:r>
            <a:r>
              <a:rPr lang="zh-CN" altLang="en-US" sz="1400" dirty="0">
                <a:solidFill>
                  <a:srgbClr val="313131"/>
                </a:solidFill>
                <a:latin typeface="+mn-ea"/>
                <a:ea typeface="+mn-ea"/>
                <a:cs typeface="OPPOSans R" panose="00020600040101010101" pitchFamily="18" charset="-122"/>
              </a:rPr>
              <a:t>、</a:t>
            </a:r>
            <a:r>
              <a:rPr lang="zh-CN" altLang="en-US" sz="1400" dirty="0">
                <a:latin typeface="+mn-ea"/>
                <a:ea typeface="+mn-ea"/>
              </a:rPr>
              <a:t>问题：财务发料分析中，发现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表未更新，</a:t>
            </a:r>
            <a:r>
              <a:rPr lang="en-US" altLang="zh-CN" sz="1400" dirty="0">
                <a:latin typeface="+mn-ea"/>
                <a:ea typeface="+mn-ea"/>
              </a:rPr>
              <a:t>24</a:t>
            </a:r>
            <a:r>
              <a:rPr lang="zh-CN" altLang="en-US" sz="1400" dirty="0">
                <a:latin typeface="+mn-ea"/>
                <a:ea typeface="+mn-ea"/>
              </a:rPr>
              <a:t>年</a:t>
            </a:r>
            <a:r>
              <a:rPr lang="en-US" altLang="zh-CN" sz="1400" dirty="0">
                <a:latin typeface="+mn-ea"/>
                <a:ea typeface="+mn-ea"/>
              </a:rPr>
              <a:t>12</a:t>
            </a:r>
            <a:r>
              <a:rPr lang="zh-CN" altLang="en-US" sz="1400" dirty="0">
                <a:latin typeface="+mn-ea"/>
                <a:ea typeface="+mn-ea"/>
              </a:rPr>
              <a:t>月的工单，关联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版本是</a:t>
            </a:r>
            <a:r>
              <a:rPr lang="en-US" altLang="zh-CN" sz="1400" dirty="0">
                <a:latin typeface="+mn-ea"/>
                <a:ea typeface="+mn-ea"/>
              </a:rPr>
              <a:t>9</a:t>
            </a:r>
            <a:r>
              <a:rPr lang="zh-CN" altLang="en-US" sz="1400" dirty="0">
                <a:latin typeface="+mn-ea"/>
                <a:ea typeface="+mn-ea"/>
              </a:rPr>
              <a:t>月份的版本，期间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版本经过多次调整。</a:t>
            </a:r>
            <a:endParaRPr lang="en-US" altLang="zh-CN" sz="1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latin typeface="+mn-ea"/>
                <a:ea typeface="+mn-ea"/>
              </a:rPr>
              <a:t>措施：新增最新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，并禁用未使用</a:t>
            </a:r>
            <a:r>
              <a:rPr lang="en-US" altLang="zh-CN" sz="1400" dirty="0">
                <a:latin typeface="+mn-ea"/>
                <a:ea typeface="+mn-ea"/>
              </a:rPr>
              <a:t>BOM</a:t>
            </a:r>
            <a:r>
              <a:rPr lang="zh-CN" altLang="en-US" sz="1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76645-E182-4C35-BC40-C77F3C7638F5}"/>
              </a:ext>
            </a:extLst>
          </p:cNvPr>
          <p:cNvSpPr/>
          <p:nvPr/>
        </p:nvSpPr>
        <p:spPr>
          <a:xfrm>
            <a:off x="6570262" y="972158"/>
            <a:ext cx="3664076" cy="451120"/>
          </a:xfrm>
          <a:prstGeom prst="rect">
            <a:avLst/>
          </a:prstGeom>
          <a:solidFill>
            <a:srgbClr val="274DA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生产订单月发料分析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AEC55F4-B61C-45E6-A1DC-8F1B4C0017F8}"/>
              </a:ext>
            </a:extLst>
          </p:cNvPr>
          <p:cNvSpPr txBox="1"/>
          <p:nvPr/>
        </p:nvSpPr>
        <p:spPr>
          <a:xfrm>
            <a:off x="2255044" y="608509"/>
            <a:ext cx="2084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规范前领料情况：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7202F0C-98D0-410D-80BF-D8A1E9D54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044" y="963583"/>
            <a:ext cx="3836684" cy="22434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B8889C-8FF9-452B-8839-B579CCA91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044" y="3652142"/>
            <a:ext cx="3836684" cy="23075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031CDF9-1A5D-4EC5-97C6-A95BD09ECC24}"/>
              </a:ext>
            </a:extLst>
          </p:cNvPr>
          <p:cNvSpPr txBox="1"/>
          <p:nvPr/>
        </p:nvSpPr>
        <p:spPr>
          <a:xfrm>
            <a:off x="2255044" y="3279185"/>
            <a:ext cx="2084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规范后领料情况：</a:t>
            </a:r>
          </a:p>
        </p:txBody>
      </p:sp>
      <p:sp>
        <p:nvSpPr>
          <p:cNvPr id="15" name="剪去单角的矩形 5">
            <a:extLst>
              <a:ext uri="{FF2B5EF4-FFF2-40B4-BE49-F238E27FC236}">
                <a16:creationId xmlns:a16="http://schemas.microsoft.com/office/drawing/2014/main" id="{ABA81E88-FF6C-4ECB-83B6-2DFBA6303333}"/>
              </a:ext>
            </a:extLst>
          </p:cNvPr>
          <p:cNvSpPr/>
          <p:nvPr/>
        </p:nvSpPr>
        <p:spPr>
          <a:xfrm rot="10800000">
            <a:off x="453277" y="895795"/>
            <a:ext cx="1323232" cy="443291"/>
          </a:xfrm>
          <a:prstGeom prst="snip1Rect">
            <a:avLst/>
          </a:prstGeom>
          <a:solidFill>
            <a:schemeClr val="accent2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OPPOSans R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3872788-EE0C-459E-9C66-A43E5A7D53F4}"/>
              </a:ext>
            </a:extLst>
          </p:cNvPr>
          <p:cNvSpPr txBox="1"/>
          <p:nvPr/>
        </p:nvSpPr>
        <p:spPr>
          <a:xfrm>
            <a:off x="502444" y="963583"/>
            <a:ext cx="1399989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+mn-ea"/>
                <a:ea typeface="+mn-ea"/>
                <a:cs typeface="OPPOSans R" pitchFamily="18" charset="-122"/>
              </a:rPr>
              <a:t>阶段性工作三</a:t>
            </a:r>
          </a:p>
        </p:txBody>
      </p:sp>
    </p:spTree>
    <p:extLst>
      <p:ext uri="{BB962C8B-B14F-4D97-AF65-F5344CB8AC3E}">
        <p14:creationId xmlns:p14="http://schemas.microsoft.com/office/powerpoint/2010/main" val="313568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F0E2D3-9989-4F6C-BDBA-A3876A36B684}"/>
              </a:ext>
            </a:extLst>
          </p:cNvPr>
          <p:cNvSpPr txBox="1"/>
          <p:nvPr/>
        </p:nvSpPr>
        <p:spPr>
          <a:xfrm>
            <a:off x="1333569" y="2020887"/>
            <a:ext cx="8853350" cy="2377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2000" indent="-162000" defTabSz="864017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参与完成产品成本核算与分摊规则的整理确认，总结成本费用分摊不足及改进，其中：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、晶化线产能利用率不足，闲置成本在所有的生产工单（量产和研发试制）中进行了分摊，造成研发试制工单成本高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更改工时分摊逻辑，将准备工时分给量产订单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、计划物流部非运费的成本费用未分摊给原料部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已分配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、中试炉新建生产订单，设备动力部的其他间接成本未分摊给中试线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已提醒设备动力部每月提供数据，财务并更改设置</a:t>
            </a:r>
          </a:p>
        </p:txBody>
      </p:sp>
      <p:sp>
        <p:nvSpPr>
          <p:cNvPr id="15" name="剪去单角的矩形 5">
            <a:extLst>
              <a:ext uri="{FF2B5EF4-FFF2-40B4-BE49-F238E27FC236}">
                <a16:creationId xmlns:a16="http://schemas.microsoft.com/office/drawing/2014/main" id="{E2051D37-9F58-431D-A5A8-5CD01CE05D5E}"/>
              </a:ext>
            </a:extLst>
          </p:cNvPr>
          <p:cNvSpPr/>
          <p:nvPr/>
        </p:nvSpPr>
        <p:spPr>
          <a:xfrm rot="10800000">
            <a:off x="1333569" y="1468797"/>
            <a:ext cx="1323232" cy="443291"/>
          </a:xfrm>
          <a:prstGeom prst="snip1Rect">
            <a:avLst/>
          </a:prstGeom>
          <a:solidFill>
            <a:schemeClr val="accent2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OPPOSans R" pitchFamily="18" charset="-122"/>
            </a:endParaRPr>
          </a:p>
        </p:txBody>
      </p:sp>
      <p:cxnSp>
        <p:nvCxnSpPr>
          <p:cNvPr id="16" name="直线连接符 9">
            <a:extLst>
              <a:ext uri="{FF2B5EF4-FFF2-40B4-BE49-F238E27FC236}">
                <a16:creationId xmlns:a16="http://schemas.microsoft.com/office/drawing/2014/main" id="{2E4EADBD-FCD6-44E4-8D29-B0DB2D7EC0EC}"/>
              </a:ext>
            </a:extLst>
          </p:cNvPr>
          <p:cNvCxnSpPr/>
          <p:nvPr/>
        </p:nvCxnSpPr>
        <p:spPr>
          <a:xfrm>
            <a:off x="2530084" y="1895559"/>
            <a:ext cx="7656835" cy="0"/>
          </a:xfrm>
          <a:prstGeom prst="line">
            <a:avLst/>
          </a:prstGeom>
          <a:noFill/>
          <a:ln w="6350" cap="flat" cmpd="sng" algn="ctr">
            <a:solidFill>
              <a:srgbClr val="122C86">
                <a:alpha val="23000"/>
              </a:srgbClr>
            </a:solidFill>
            <a:prstDash val="sysDot"/>
            <a:miter lim="800000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202E3B-B1BD-4530-9729-7A997393CC40}"/>
              </a:ext>
            </a:extLst>
          </p:cNvPr>
          <p:cNvSpPr txBox="1"/>
          <p:nvPr/>
        </p:nvSpPr>
        <p:spPr>
          <a:xfrm>
            <a:off x="1382736" y="1536585"/>
            <a:ext cx="1530352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+mn-ea"/>
                <a:ea typeface="+mn-ea"/>
                <a:cs typeface="OPPOSans R" pitchFamily="18" charset="-122"/>
              </a:rPr>
              <a:t>阶段性工作四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F76498F-E2C2-45D4-A285-460C30EA7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878685"/>
              </p:ext>
            </p:extLst>
          </p:nvPr>
        </p:nvGraphicFramePr>
        <p:xfrm>
          <a:off x="9065045" y="4840287"/>
          <a:ext cx="1121874" cy="1016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Worksheet" showAsIcon="1" r:id="rId4" imgW="914400" imgH="828521" progId="Excel.Sheet.12">
                  <p:embed/>
                </p:oleObj>
              </mc:Choice>
              <mc:Fallback>
                <p:oleObj name="Worksheet" showAsIcon="1" r:id="rId4" imgW="914400" imgH="8285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65045" y="4840287"/>
                        <a:ext cx="1121874" cy="1016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917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F0E2D3-9989-4F6C-BDBA-A3876A36B684}"/>
              </a:ext>
            </a:extLst>
          </p:cNvPr>
          <p:cNvSpPr txBox="1"/>
          <p:nvPr/>
        </p:nvSpPr>
        <p:spPr>
          <a:xfrm>
            <a:off x="1569244" y="2478087"/>
            <a:ext cx="8853350" cy="228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2000" indent="-162000" defTabSz="864017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尽职调查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采购、存货、生产板块数据的提供及业务数据对齐，主要包括：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、固定资产（分类、原值净值、产能、产量、用途）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、产能、产量、销量统计表及匹配关系说明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、报告期内主要产品的设计产能、实际产能测算依据</a:t>
            </a:r>
            <a:b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、原材料、水电气等能源耗用情况及与产量匹配关系说明及验证资料</a:t>
            </a:r>
          </a:p>
          <a:p>
            <a:pPr defTabSz="864017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剪去单角的矩形 5">
            <a:extLst>
              <a:ext uri="{FF2B5EF4-FFF2-40B4-BE49-F238E27FC236}">
                <a16:creationId xmlns:a16="http://schemas.microsoft.com/office/drawing/2014/main" id="{E2051D37-9F58-431D-A5A8-5CD01CE05D5E}"/>
              </a:ext>
            </a:extLst>
          </p:cNvPr>
          <p:cNvSpPr/>
          <p:nvPr/>
        </p:nvSpPr>
        <p:spPr>
          <a:xfrm rot="10800000">
            <a:off x="1569244" y="1925997"/>
            <a:ext cx="1323232" cy="443291"/>
          </a:xfrm>
          <a:prstGeom prst="snip1Rect">
            <a:avLst/>
          </a:prstGeom>
          <a:solidFill>
            <a:schemeClr val="accent2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OPPOSans R" pitchFamily="18" charset="-122"/>
            </a:endParaRPr>
          </a:p>
        </p:txBody>
      </p:sp>
      <p:cxnSp>
        <p:nvCxnSpPr>
          <p:cNvPr id="16" name="直线连接符 9">
            <a:extLst>
              <a:ext uri="{FF2B5EF4-FFF2-40B4-BE49-F238E27FC236}">
                <a16:creationId xmlns:a16="http://schemas.microsoft.com/office/drawing/2014/main" id="{2E4EADBD-FCD6-44E4-8D29-B0DB2D7EC0EC}"/>
              </a:ext>
            </a:extLst>
          </p:cNvPr>
          <p:cNvCxnSpPr/>
          <p:nvPr/>
        </p:nvCxnSpPr>
        <p:spPr>
          <a:xfrm>
            <a:off x="2765759" y="2352759"/>
            <a:ext cx="7656835" cy="0"/>
          </a:xfrm>
          <a:prstGeom prst="line">
            <a:avLst/>
          </a:prstGeom>
          <a:noFill/>
          <a:ln w="6350" cap="flat" cmpd="sng" algn="ctr">
            <a:solidFill>
              <a:srgbClr val="122C86">
                <a:alpha val="23000"/>
              </a:srgbClr>
            </a:solidFill>
            <a:prstDash val="sysDot"/>
            <a:miter lim="800000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202E3B-B1BD-4530-9729-7A997393CC40}"/>
              </a:ext>
            </a:extLst>
          </p:cNvPr>
          <p:cNvSpPr txBox="1"/>
          <p:nvPr/>
        </p:nvSpPr>
        <p:spPr>
          <a:xfrm>
            <a:off x="1618411" y="1993785"/>
            <a:ext cx="1530352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+mn-ea"/>
                <a:ea typeface="+mn-ea"/>
                <a:cs typeface="OPPOSans R" pitchFamily="18" charset="-122"/>
              </a:rPr>
              <a:t>其他一</a:t>
            </a:r>
          </a:p>
        </p:txBody>
      </p:sp>
    </p:spTree>
    <p:extLst>
      <p:ext uri="{BB962C8B-B14F-4D97-AF65-F5344CB8AC3E}">
        <p14:creationId xmlns:p14="http://schemas.microsoft.com/office/powerpoint/2010/main" val="191167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F0E2D3-9989-4F6C-BDBA-A3876A36B684}"/>
              </a:ext>
            </a:extLst>
          </p:cNvPr>
          <p:cNvSpPr txBox="1"/>
          <p:nvPr/>
        </p:nvSpPr>
        <p:spPr>
          <a:xfrm>
            <a:off x="1363329" y="1765215"/>
            <a:ext cx="8853350" cy="1021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64017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月研发物料清理时，成本还原晶化、委外加工、外购成本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64017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、晶化线研发和量产汇报工时错误，导致研发晶化成本上升，生产部门重新汇报工时，研发晶化成本降低三倍，并上会讨论后续订单工时确认问题</a:t>
            </a:r>
          </a:p>
        </p:txBody>
      </p:sp>
      <p:sp>
        <p:nvSpPr>
          <p:cNvPr id="15" name="剪去单角的矩形 5">
            <a:extLst>
              <a:ext uri="{FF2B5EF4-FFF2-40B4-BE49-F238E27FC236}">
                <a16:creationId xmlns:a16="http://schemas.microsoft.com/office/drawing/2014/main" id="{E2051D37-9F58-431D-A5A8-5CD01CE05D5E}"/>
              </a:ext>
            </a:extLst>
          </p:cNvPr>
          <p:cNvSpPr/>
          <p:nvPr/>
        </p:nvSpPr>
        <p:spPr>
          <a:xfrm rot="10800000">
            <a:off x="1363329" y="1213125"/>
            <a:ext cx="1323232" cy="443291"/>
          </a:xfrm>
          <a:prstGeom prst="snip1Rect">
            <a:avLst/>
          </a:prstGeom>
          <a:solidFill>
            <a:schemeClr val="accent2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77762" tIns="38881" rIns="77762" bIns="38881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3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cs typeface="OPPOSans R" pitchFamily="18" charset="-122"/>
            </a:endParaRPr>
          </a:p>
        </p:txBody>
      </p:sp>
      <p:cxnSp>
        <p:nvCxnSpPr>
          <p:cNvPr id="16" name="直线连接符 9">
            <a:extLst>
              <a:ext uri="{FF2B5EF4-FFF2-40B4-BE49-F238E27FC236}">
                <a16:creationId xmlns:a16="http://schemas.microsoft.com/office/drawing/2014/main" id="{2E4EADBD-FCD6-44E4-8D29-B0DB2D7EC0EC}"/>
              </a:ext>
            </a:extLst>
          </p:cNvPr>
          <p:cNvCxnSpPr/>
          <p:nvPr/>
        </p:nvCxnSpPr>
        <p:spPr>
          <a:xfrm>
            <a:off x="2559844" y="1639887"/>
            <a:ext cx="7656835" cy="0"/>
          </a:xfrm>
          <a:prstGeom prst="line">
            <a:avLst/>
          </a:prstGeom>
          <a:noFill/>
          <a:ln w="6350" cap="flat" cmpd="sng" algn="ctr">
            <a:solidFill>
              <a:srgbClr val="122C86">
                <a:alpha val="23000"/>
              </a:srgbClr>
            </a:solidFill>
            <a:prstDash val="sysDot"/>
            <a:miter lim="800000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202E3B-B1BD-4530-9729-7A997393CC40}"/>
              </a:ext>
            </a:extLst>
          </p:cNvPr>
          <p:cNvSpPr txBox="1"/>
          <p:nvPr/>
        </p:nvSpPr>
        <p:spPr>
          <a:xfrm>
            <a:off x="1412496" y="1280913"/>
            <a:ext cx="1530352" cy="32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12" b="1" dirty="0">
                <a:solidFill>
                  <a:srgbClr val="FFFFFF"/>
                </a:solidFill>
                <a:latin typeface="+mn-ea"/>
                <a:ea typeface="+mn-ea"/>
                <a:cs typeface="OPPOSans R" pitchFamily="18" charset="-122"/>
              </a:rPr>
              <a:t>其他二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A40355-DBA8-4DD8-8C99-F484D57DD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244" y="3240087"/>
            <a:ext cx="6141244" cy="1208296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802C5A5-D060-4E9B-86B9-DBEAA8A34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02781"/>
              </p:ext>
            </p:extLst>
          </p:nvPr>
        </p:nvGraphicFramePr>
        <p:xfrm>
          <a:off x="1950244" y="4800280"/>
          <a:ext cx="6141244" cy="751434"/>
        </p:xfrm>
        <a:graphic>
          <a:graphicData uri="http://schemas.openxmlformats.org/drawingml/2006/table">
            <a:tbl>
              <a:tblPr/>
              <a:tblGrid>
                <a:gridCol w="1888598">
                  <a:extLst>
                    <a:ext uri="{9D8B030D-6E8A-4147-A177-3AD203B41FA5}">
                      <a16:colId xmlns:a16="http://schemas.microsoft.com/office/drawing/2014/main" val="1751293703"/>
                    </a:ext>
                  </a:extLst>
                </a:gridCol>
                <a:gridCol w="1452767">
                  <a:extLst>
                    <a:ext uri="{9D8B030D-6E8A-4147-A177-3AD203B41FA5}">
                      <a16:colId xmlns:a16="http://schemas.microsoft.com/office/drawing/2014/main" val="1734295393"/>
                    </a:ext>
                  </a:extLst>
                </a:gridCol>
                <a:gridCol w="1571630">
                  <a:extLst>
                    <a:ext uri="{9D8B030D-6E8A-4147-A177-3AD203B41FA5}">
                      <a16:colId xmlns:a16="http://schemas.microsoft.com/office/drawing/2014/main" val="1361062413"/>
                    </a:ext>
                  </a:extLst>
                </a:gridCol>
                <a:gridCol w="1228249">
                  <a:extLst>
                    <a:ext uri="{9D8B030D-6E8A-4147-A177-3AD203B41FA5}">
                      <a16:colId xmlns:a16="http://schemas.microsoft.com/office/drawing/2014/main" val="1922691782"/>
                    </a:ext>
                  </a:extLst>
                </a:gridCol>
              </a:tblGrid>
              <a:tr h="2504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产品名称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单据类型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人员实作工时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汇报数量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286553"/>
                  </a:ext>
                </a:extLst>
              </a:tr>
              <a:tr h="2504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TS314</a:t>
                      </a:r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晶化片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汇报入库</a:t>
                      </a:r>
                      <a:r>
                        <a:rPr lang="en-US" altLang="zh-CN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普通生产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1403.998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10441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936202"/>
                  </a:ext>
                </a:extLst>
              </a:tr>
              <a:tr h="2504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TS314</a:t>
                      </a:r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晶化片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汇报入库</a:t>
                      </a:r>
                      <a:r>
                        <a:rPr lang="en-US" altLang="zh-CN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研发试制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356.999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871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66375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C2DFE36-3CAA-42AA-AF87-BCA002B55127}"/>
              </a:ext>
            </a:extLst>
          </p:cNvPr>
          <p:cNvSpPr txBox="1"/>
          <p:nvPr/>
        </p:nvSpPr>
        <p:spPr>
          <a:xfrm>
            <a:off x="1938882" y="2851054"/>
            <a:ext cx="1147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结算前：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61670A-C9D0-4084-BC6D-DF780C6253B6}"/>
              </a:ext>
            </a:extLst>
          </p:cNvPr>
          <p:cNvSpPr txBox="1"/>
          <p:nvPr/>
        </p:nvSpPr>
        <p:spPr>
          <a:xfrm>
            <a:off x="1938882" y="4431410"/>
            <a:ext cx="1147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结算后：</a:t>
            </a:r>
          </a:p>
        </p:txBody>
      </p:sp>
    </p:spTree>
    <p:extLst>
      <p:ext uri="{BB962C8B-B14F-4D97-AF65-F5344CB8AC3E}">
        <p14:creationId xmlns:p14="http://schemas.microsoft.com/office/powerpoint/2010/main" val="340676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成本板块</a:t>
            </a:r>
          </a:p>
        </p:txBody>
      </p:sp>
      <p:sp>
        <p:nvSpPr>
          <p:cNvPr id="36" name="矩形: 圆角 103">
            <a:extLst>
              <a:ext uri="{FF2B5EF4-FFF2-40B4-BE49-F238E27FC236}">
                <a16:creationId xmlns:a16="http://schemas.microsoft.com/office/drawing/2014/main" id="{2DC714F4-F7D2-46D4-8BEA-DBD926249714}"/>
              </a:ext>
            </a:extLst>
          </p:cNvPr>
          <p:cNvSpPr/>
          <p:nvPr/>
        </p:nvSpPr>
        <p:spPr>
          <a:xfrm>
            <a:off x="3236754" y="877887"/>
            <a:ext cx="5046979" cy="714136"/>
          </a:xfrm>
          <a:prstGeom prst="roundRect">
            <a:avLst>
              <a:gd name="adj" fmla="val 0"/>
            </a:avLst>
          </a:prstGeom>
          <a:solidFill>
            <a:srgbClr val="122C8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0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思源黑体 CN Normal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DF358F-B5B6-4CE0-820E-3D16029122FF}"/>
              </a:ext>
            </a:extLst>
          </p:cNvPr>
          <p:cNvSpPr txBox="1"/>
          <p:nvPr/>
        </p:nvSpPr>
        <p:spPr>
          <a:xfrm>
            <a:off x="5055747" y="1037281"/>
            <a:ext cx="139493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6401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90" dirty="0">
                <a:solidFill>
                  <a:srgbClr val="FFFFFF"/>
                </a:solidFill>
                <a:latin typeface="+mn-ea"/>
                <a:ea typeface="+mn-ea"/>
                <a:cs typeface="OPPOSans M" pitchFamily="18" charset="-122"/>
              </a:rPr>
              <a:t>下一步工作</a:t>
            </a:r>
          </a:p>
        </p:txBody>
      </p:sp>
      <p:cxnSp>
        <p:nvCxnSpPr>
          <p:cNvPr id="38" name="直线连接符 34">
            <a:extLst>
              <a:ext uri="{FF2B5EF4-FFF2-40B4-BE49-F238E27FC236}">
                <a16:creationId xmlns:a16="http://schemas.microsoft.com/office/drawing/2014/main" id="{B12CFA0C-E2F1-4E05-90E7-15F347D5B16E}"/>
              </a:ext>
            </a:extLst>
          </p:cNvPr>
          <p:cNvCxnSpPr/>
          <p:nvPr/>
        </p:nvCxnSpPr>
        <p:spPr>
          <a:xfrm>
            <a:off x="5775168" y="1688286"/>
            <a:ext cx="0" cy="167574"/>
          </a:xfrm>
          <a:prstGeom prst="line">
            <a:avLst/>
          </a:prstGeom>
          <a:noFill/>
          <a:ln w="12700" cap="flat" cmpd="sng" algn="ctr">
            <a:solidFill>
              <a:srgbClr val="313131"/>
            </a:solidFill>
            <a:prstDash val="solid"/>
            <a:miter lim="800000"/>
          </a:ln>
          <a:effectLst/>
        </p:spPr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F5C7887E-CB69-4979-9185-8B53B9D0F5E4}"/>
              </a:ext>
            </a:extLst>
          </p:cNvPr>
          <p:cNvCxnSpPr/>
          <p:nvPr/>
        </p:nvCxnSpPr>
        <p:spPr>
          <a:xfrm flipH="1">
            <a:off x="2194026" y="1855785"/>
            <a:ext cx="7116192" cy="0"/>
          </a:xfrm>
          <a:prstGeom prst="line">
            <a:avLst/>
          </a:prstGeom>
          <a:noFill/>
          <a:ln w="12700" cap="flat" cmpd="sng" algn="ctr">
            <a:solidFill>
              <a:srgbClr val="313131"/>
            </a:solidFill>
            <a:prstDash val="solid"/>
            <a:miter lim="800000"/>
          </a:ln>
          <a:effectLst/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FC5B0AA0-0C15-4639-B327-699635B873BE}"/>
              </a:ext>
            </a:extLst>
          </p:cNvPr>
          <p:cNvSpPr/>
          <p:nvPr/>
        </p:nvSpPr>
        <p:spPr>
          <a:xfrm>
            <a:off x="350045" y="2183378"/>
            <a:ext cx="3390127" cy="3641999"/>
          </a:xfrm>
          <a:prstGeom prst="rect">
            <a:avLst/>
          </a:prstGeom>
          <a:solidFill>
            <a:srgbClr val="F2F5F6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lIns="93314" tIns="46658" rIns="93314" bIns="46658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3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charset="-122"/>
              <a:ea typeface="微软雅黑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B54D979-9232-4F1B-8D58-FB2EF011885C}"/>
              </a:ext>
            </a:extLst>
          </p:cNvPr>
          <p:cNvGrpSpPr/>
          <p:nvPr/>
        </p:nvGrpSpPr>
        <p:grpSpPr>
          <a:xfrm>
            <a:off x="7360444" y="2183378"/>
            <a:ext cx="3505196" cy="3641999"/>
            <a:chOff x="583954" y="2611227"/>
            <a:chExt cx="3415936" cy="385434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41B28EB-6702-48FC-9A9C-97F0F2C9E10F}"/>
                </a:ext>
              </a:extLst>
            </p:cNvPr>
            <p:cNvSpPr/>
            <p:nvPr/>
          </p:nvSpPr>
          <p:spPr>
            <a:xfrm>
              <a:off x="583954" y="2611227"/>
              <a:ext cx="3415936" cy="3854345"/>
            </a:xfrm>
            <a:prstGeom prst="rect">
              <a:avLst/>
            </a:prstGeom>
            <a:solidFill>
              <a:srgbClr val="F2F5F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lIns="93314" tIns="46658" rIns="93314" bIns="46658" rtlCol="0" anchor="ctr"/>
            <a:lstStyle/>
            <a:p>
              <a:pPr marL="0" marR="0" lvl="0" indent="0" algn="ctr" defTabSz="8640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3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667DB585-07CE-4737-8103-4FE4200B82A6}"/>
                </a:ext>
              </a:extLst>
            </p:cNvPr>
            <p:cNvSpPr/>
            <p:nvPr/>
          </p:nvSpPr>
          <p:spPr>
            <a:xfrm>
              <a:off x="772049" y="2827286"/>
              <a:ext cx="3039747" cy="771928"/>
            </a:xfrm>
            <a:prstGeom prst="rect">
              <a:avLst/>
            </a:prstGeom>
            <a:solidFill>
              <a:srgbClr val="0070C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lIns="93314" tIns="46658" rIns="93314" bIns="46658" rtlCol="0" anchor="ctr"/>
            <a:lstStyle/>
            <a:p>
              <a:pPr marL="0" marR="0" lvl="0" indent="0" algn="ctr" defTabSz="8640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3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4F48E2A-1C97-4A09-932D-DFFB6893A6D7}"/>
                </a:ext>
              </a:extLst>
            </p:cNvPr>
            <p:cNvSpPr txBox="1"/>
            <p:nvPr/>
          </p:nvSpPr>
          <p:spPr>
            <a:xfrm>
              <a:off x="1382531" y="3066675"/>
              <a:ext cx="1932102" cy="293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charset="-122"/>
                  <a:ea typeface="OPPOSans M" charset="-122"/>
                  <a:cs typeface="OPPOSans M" charset="-122"/>
                </a:defRPr>
              </a:lvl1pPr>
            </a:lstStyle>
            <a:p>
              <a:pPr marL="0" marR="0" lvl="0" indent="0" algn="ctr" defTabSz="8640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13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</a:rPr>
                <a:t>成本还原</a:t>
              </a:r>
            </a:p>
          </p:txBody>
        </p:sp>
        <p:sp>
          <p:nvSpPr>
            <p:cNvPr id="59" name="TextBox 50">
              <a:extLst>
                <a:ext uri="{FF2B5EF4-FFF2-40B4-BE49-F238E27FC236}">
                  <a16:creationId xmlns:a16="http://schemas.microsoft.com/office/drawing/2014/main" id="{C0058B33-0103-44B5-B192-6F4A1DA35651}"/>
                </a:ext>
              </a:extLst>
            </p:cNvPr>
            <p:cNvSpPr txBox="1"/>
            <p:nvPr/>
          </p:nvSpPr>
          <p:spPr>
            <a:xfrm>
              <a:off x="885370" y="4026965"/>
              <a:ext cx="2926425" cy="1915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00" u="none" strike="noStrike" cap="none" spc="0" normalizeH="0" baseline="0">
                  <a:ln>
                    <a:noFill/>
                  </a:ln>
                  <a:solidFill>
                    <a:schemeClr val="bg1">
                      <a:alpha val="65000"/>
                    </a:schemeClr>
                  </a:solidFill>
                  <a:effectLst/>
                  <a:uLnTx/>
                  <a:uFillTx/>
                  <a:latin typeface="OPPOSans R" pitchFamily="18" charset="-122"/>
                  <a:ea typeface="OPPOSans R" pitchFamily="18" charset="-122"/>
                  <a:cs typeface="OPPOSans R" pitchFamily="18" charset="-122"/>
                </a:defRPr>
              </a:lvl1pPr>
            </a:lstStyle>
            <a:p>
              <a:pPr fontAlgn="ctr">
                <a:lnSpc>
                  <a:spcPct val="140000"/>
                </a:lnSpc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简易销售大表的内置，成本还原至各工序，成本计算单只有订单产品的成本结构，人工还原耗时耗力。产品维度利润分析表只能还原到产品最底层的费用项目，再按成本项目还原产品结构</a:t>
              </a:r>
            </a:p>
          </p:txBody>
        </p:sp>
      </p:grpSp>
      <p:cxnSp>
        <p:nvCxnSpPr>
          <p:cNvPr id="24" name="直线连接符 36">
            <a:extLst>
              <a:ext uri="{FF2B5EF4-FFF2-40B4-BE49-F238E27FC236}">
                <a16:creationId xmlns:a16="http://schemas.microsoft.com/office/drawing/2014/main" id="{77F163CC-ECE1-8CF0-46BE-42C18DC711EB}"/>
              </a:ext>
            </a:extLst>
          </p:cNvPr>
          <p:cNvCxnSpPr/>
          <p:nvPr/>
        </p:nvCxnSpPr>
        <p:spPr>
          <a:xfrm>
            <a:off x="2194026" y="1855785"/>
            <a:ext cx="0" cy="1397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98A943-E4D3-4511-9B6B-42C7A7679D0C}"/>
              </a:ext>
            </a:extLst>
          </p:cNvPr>
          <p:cNvGrpSpPr/>
          <p:nvPr/>
        </p:nvGrpSpPr>
        <p:grpSpPr>
          <a:xfrm>
            <a:off x="4772985" y="2183378"/>
            <a:ext cx="1916523" cy="3641999"/>
            <a:chOff x="1325875" y="2611227"/>
            <a:chExt cx="1866988" cy="385434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ADB4451-E285-4D81-90F9-96A05C14C0E2}"/>
                </a:ext>
              </a:extLst>
            </p:cNvPr>
            <p:cNvSpPr/>
            <p:nvPr/>
          </p:nvSpPr>
          <p:spPr>
            <a:xfrm>
              <a:off x="1325875" y="2611227"/>
              <a:ext cx="1866988" cy="3854345"/>
            </a:xfrm>
            <a:prstGeom prst="rect">
              <a:avLst/>
            </a:prstGeom>
            <a:solidFill>
              <a:srgbClr val="F2F5F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lIns="93314" tIns="46658" rIns="93314" bIns="46658" rtlCol="0" anchor="ctr"/>
            <a:lstStyle/>
            <a:p>
              <a:pPr marL="0" marR="0" lvl="0" indent="0" algn="ctr" defTabSz="8640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3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DD75A9B-A45E-4725-AC85-E7C382393573}"/>
                </a:ext>
              </a:extLst>
            </p:cNvPr>
            <p:cNvSpPr/>
            <p:nvPr/>
          </p:nvSpPr>
          <p:spPr>
            <a:xfrm>
              <a:off x="2395511" y="2825190"/>
              <a:ext cx="472870" cy="3317453"/>
            </a:xfrm>
            <a:prstGeom prst="rect">
              <a:avLst/>
            </a:prstGeom>
            <a:solidFill>
              <a:srgbClr val="0070C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vert="eaVert" lIns="93314" tIns="46658" rIns="93314" bIns="46658" rtlCol="0" anchor="ctr"/>
            <a:lstStyle/>
            <a:p>
              <a:pPr marL="0" marR="0" lvl="0" indent="0" algn="ctr" defTabSz="8640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38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BD752D9-9877-421F-A0F3-5CEA0F2CFC90}"/>
                </a:ext>
              </a:extLst>
            </p:cNvPr>
            <p:cNvSpPr txBox="1"/>
            <p:nvPr/>
          </p:nvSpPr>
          <p:spPr>
            <a:xfrm>
              <a:off x="2518609" y="3182975"/>
              <a:ext cx="226678" cy="1774142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charset="-122"/>
                  <a:ea typeface="OPPOSans M" charset="-122"/>
                  <a:cs typeface="OPPOSans M" charset="-122"/>
                </a:defRPr>
              </a:lvl1pPr>
            </a:lstStyle>
            <a:p>
              <a:pPr lvl="0" algn="ctr" defTabSz="864017" eaLnBrk="1" hangingPunct="1">
                <a:defRPr/>
              </a:pPr>
              <a:r>
                <a:rPr lang="zh-CN" altLang="en-US" sz="1512" kern="0" spc="132" dirty="0">
                  <a:latin typeface="+mn-ea"/>
                  <a:ea typeface="+mn-ea"/>
                </a:rPr>
                <a:t>存货周转和储备</a:t>
              </a:r>
            </a:p>
          </p:txBody>
        </p:sp>
      </p:grpSp>
      <p:cxnSp>
        <p:nvCxnSpPr>
          <p:cNvPr id="33" name="直线连接符 36">
            <a:extLst>
              <a:ext uri="{FF2B5EF4-FFF2-40B4-BE49-F238E27FC236}">
                <a16:creationId xmlns:a16="http://schemas.microsoft.com/office/drawing/2014/main" id="{97E6D7FE-2820-48E2-8DAC-626D29553AD0}"/>
              </a:ext>
            </a:extLst>
          </p:cNvPr>
          <p:cNvCxnSpPr>
            <a:cxnSpLocks/>
          </p:cNvCxnSpPr>
          <p:nvPr/>
        </p:nvCxnSpPr>
        <p:spPr>
          <a:xfrm>
            <a:off x="9310218" y="1855785"/>
            <a:ext cx="0" cy="1397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6DFC410A-7E2F-4DA7-B3A7-E70557D34790}"/>
              </a:ext>
            </a:extLst>
          </p:cNvPr>
          <p:cNvSpPr/>
          <p:nvPr/>
        </p:nvSpPr>
        <p:spPr>
          <a:xfrm>
            <a:off x="5157899" y="2382108"/>
            <a:ext cx="457200" cy="3134686"/>
          </a:xfrm>
          <a:prstGeom prst="rect">
            <a:avLst/>
          </a:prstGeom>
          <a:solidFill>
            <a:srgbClr val="0070C0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vert="eaVert" lIns="93314" tIns="46658" rIns="93314" bIns="46658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3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D9FD445-CB6D-468D-AF28-F5D4C7EA3514}"/>
              </a:ext>
            </a:extLst>
          </p:cNvPr>
          <p:cNvSpPr txBox="1"/>
          <p:nvPr/>
        </p:nvSpPr>
        <p:spPr>
          <a:xfrm>
            <a:off x="5280203" y="2752234"/>
            <a:ext cx="232692" cy="1676400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 charset="-122"/>
                <a:ea typeface="OPPOSans M" charset="-122"/>
                <a:cs typeface="OPPOSans M" charset="-122"/>
              </a:defRPr>
            </a:lvl1pPr>
          </a:lstStyle>
          <a:p>
            <a:pPr lvl="0" algn="ctr" defTabSz="864017" eaLnBrk="1" hangingPunct="1">
              <a:defRPr/>
            </a:pPr>
            <a:r>
              <a:rPr lang="zh-CN" altLang="en-US" sz="1512" kern="0" spc="132" dirty="0">
                <a:latin typeface="+mn-ea"/>
                <a:ea typeface="+mn-ea"/>
              </a:rPr>
              <a:t>存货呆滞和减值</a:t>
            </a:r>
            <a:endParaRPr kumimoji="0" lang="zh-CN" altLang="en-US" sz="1512" b="0" i="0" u="none" strike="noStrike" kern="0" cap="none" spc="132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860694B-1783-4113-9711-53E812215043}"/>
              </a:ext>
            </a:extLst>
          </p:cNvPr>
          <p:cNvSpPr/>
          <p:nvPr/>
        </p:nvSpPr>
        <p:spPr>
          <a:xfrm>
            <a:off x="991829" y="2900039"/>
            <a:ext cx="2089866" cy="461885"/>
          </a:xfrm>
          <a:prstGeom prst="rect">
            <a:avLst/>
          </a:prstGeom>
          <a:solidFill>
            <a:srgbClr val="0070C0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lIns="93314" tIns="46658" rIns="93314" bIns="46658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n-ea"/>
                <a:ea typeface="+mn-ea"/>
              </a:rPr>
              <a:t>存货类别的搭建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3062F6-956F-41B6-836D-FDFAC65DF090}"/>
              </a:ext>
            </a:extLst>
          </p:cNvPr>
          <p:cNvSpPr/>
          <p:nvPr/>
        </p:nvSpPr>
        <p:spPr>
          <a:xfrm>
            <a:off x="996492" y="3875152"/>
            <a:ext cx="2089866" cy="461885"/>
          </a:xfrm>
          <a:prstGeom prst="rect">
            <a:avLst/>
          </a:prstGeom>
          <a:solidFill>
            <a:srgbClr val="0070C0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lIns="93314" tIns="46658" rIns="93314" bIns="46658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n-ea"/>
                <a:ea typeface="+mn-ea"/>
              </a:rPr>
              <a:t>收入成本表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4214F3F-4D31-4E1C-A532-90F3529D28C8}"/>
              </a:ext>
            </a:extLst>
          </p:cNvPr>
          <p:cNvSpPr/>
          <p:nvPr/>
        </p:nvSpPr>
        <p:spPr>
          <a:xfrm>
            <a:off x="996492" y="4850265"/>
            <a:ext cx="2089866" cy="461885"/>
          </a:xfrm>
          <a:prstGeom prst="rect">
            <a:avLst/>
          </a:prstGeom>
          <a:solidFill>
            <a:srgbClr val="0070C0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lIns="93314" tIns="46658" rIns="93314" bIns="46658" rtlCol="0" anchor="ctr"/>
          <a:lstStyle/>
          <a:p>
            <a:pPr marL="0" marR="0" lvl="0" indent="0" algn="ctr" defTabSz="8640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n-ea"/>
                <a:ea typeface="+mn-ea"/>
              </a:rPr>
              <a:t>投入产出分析</a:t>
            </a:r>
          </a:p>
        </p:txBody>
      </p:sp>
    </p:spTree>
    <p:extLst>
      <p:ext uri="{BB962C8B-B14F-4D97-AF65-F5344CB8AC3E}">
        <p14:creationId xmlns:p14="http://schemas.microsoft.com/office/powerpoint/2010/main" val="1354828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费用执行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28ECFD-0DFE-48CC-BDF6-83308C73D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0537"/>
              </p:ext>
            </p:extLst>
          </p:nvPr>
        </p:nvGraphicFramePr>
        <p:xfrm>
          <a:off x="159544" y="1411287"/>
          <a:ext cx="11201400" cy="2926937"/>
        </p:xfrm>
        <a:graphic>
          <a:graphicData uri="http://schemas.openxmlformats.org/drawingml/2006/table">
            <a:tbl>
              <a:tblPr/>
              <a:tblGrid>
                <a:gridCol w="2240756">
                  <a:extLst>
                    <a:ext uri="{9D8B030D-6E8A-4147-A177-3AD203B41FA5}">
                      <a16:colId xmlns:a16="http://schemas.microsoft.com/office/drawing/2014/main" val="214416412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14790163"/>
                    </a:ext>
                  </a:extLst>
                </a:gridCol>
                <a:gridCol w="2728437">
                  <a:extLst>
                    <a:ext uri="{9D8B030D-6E8A-4147-A177-3AD203B41FA5}">
                      <a16:colId xmlns:a16="http://schemas.microsoft.com/office/drawing/2014/main" val="1481882859"/>
                    </a:ext>
                  </a:extLst>
                </a:gridCol>
                <a:gridCol w="2117407">
                  <a:extLst>
                    <a:ext uri="{9D8B030D-6E8A-4147-A177-3AD203B41FA5}">
                      <a16:colId xmlns:a16="http://schemas.microsoft.com/office/drawing/2014/main" val="3259660662"/>
                    </a:ext>
                  </a:extLst>
                </a:gridCol>
              </a:tblGrid>
              <a:tr h="5414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板块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日常事项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阶段性成果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待解决事项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660949"/>
                  </a:ext>
                </a:extLst>
              </a:tr>
              <a:tr h="920199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职能部门费用执行分析</a:t>
                      </a:r>
                    </a:p>
                  </a:txBody>
                  <a:tcPr marL="5172" marR="5172" marT="5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E6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每月职能部门费用执行分析，并配合业务部门预算调整和解答问题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预算核算差异总结、预算调整与执行修正、业务部门预算过程需求预调研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董事办食堂餐费超额，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年需编足；重新确立汇编部门的范围、权责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924279"/>
                  </a:ext>
                </a:extLst>
              </a:tr>
              <a:tr h="3365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资源投入全部门费用执行分析表的完成及错误修正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折旧摊销远超预算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474567"/>
                  </a:ext>
                </a:extLst>
              </a:tr>
              <a:tr h="675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预算系统上线汇编和费用项目范围更改，需对前期数据口径调整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902395"/>
                  </a:ext>
                </a:extLst>
              </a:tr>
              <a:tr h="4527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整理全公司费用项目类别、业务范围和费用事项，并重新确立费用项目具体内容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资产取数来源和确认时点不清楚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532327"/>
                  </a:ext>
                </a:extLst>
              </a:tr>
            </a:tbl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04308BB-9438-4A90-BBBC-9B88C002A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15594"/>
              </p:ext>
            </p:extLst>
          </p:nvPr>
        </p:nvGraphicFramePr>
        <p:xfrm>
          <a:off x="4617244" y="4619761"/>
          <a:ext cx="990600" cy="89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Document" showAsIcon="1" r:id="rId4" imgW="914400" imgH="828521" progId="Word.Document.12">
                  <p:embed/>
                </p:oleObj>
              </mc:Choice>
              <mc:Fallback>
                <p:oleObj name="Document" showAsIcon="1" r:id="rId4" imgW="914400" imgH="8285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7244" y="4619761"/>
                        <a:ext cx="990600" cy="897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204D3D0-1E31-4B27-9ED7-089E8B96D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022519"/>
              </p:ext>
            </p:extLst>
          </p:nvPr>
        </p:nvGraphicFramePr>
        <p:xfrm>
          <a:off x="6217444" y="4637323"/>
          <a:ext cx="990600" cy="86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Worksheet" showAsIcon="1" r:id="rId6" imgW="914400" imgH="828521" progId="Excel.Sheet.12">
                  <p:embed/>
                </p:oleObj>
              </mc:Choice>
              <mc:Fallback>
                <p:oleObj name="Worksheet" showAsIcon="1" r:id="rId6" imgW="914400" imgH="8285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7444" y="4637323"/>
                        <a:ext cx="990600" cy="862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709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资产负债表清账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28ECFD-0DFE-48CC-BDF6-83308C73D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24373"/>
              </p:ext>
            </p:extLst>
          </p:nvPr>
        </p:nvGraphicFramePr>
        <p:xfrm>
          <a:off x="159544" y="1182687"/>
          <a:ext cx="11201400" cy="2965071"/>
        </p:xfrm>
        <a:graphic>
          <a:graphicData uri="http://schemas.openxmlformats.org/drawingml/2006/table">
            <a:tbl>
              <a:tblPr/>
              <a:tblGrid>
                <a:gridCol w="2240756">
                  <a:extLst>
                    <a:ext uri="{9D8B030D-6E8A-4147-A177-3AD203B41FA5}">
                      <a16:colId xmlns:a16="http://schemas.microsoft.com/office/drawing/2014/main" val="214416412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14790163"/>
                    </a:ext>
                  </a:extLst>
                </a:gridCol>
                <a:gridCol w="2728437">
                  <a:extLst>
                    <a:ext uri="{9D8B030D-6E8A-4147-A177-3AD203B41FA5}">
                      <a16:colId xmlns:a16="http://schemas.microsoft.com/office/drawing/2014/main" val="1481882859"/>
                    </a:ext>
                  </a:extLst>
                </a:gridCol>
                <a:gridCol w="2117407">
                  <a:extLst>
                    <a:ext uri="{9D8B030D-6E8A-4147-A177-3AD203B41FA5}">
                      <a16:colId xmlns:a16="http://schemas.microsoft.com/office/drawing/2014/main" val="3259660662"/>
                    </a:ext>
                  </a:extLst>
                </a:gridCol>
              </a:tblGrid>
              <a:tr h="5414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板块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日常事项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阶段性成果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待解决事项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660949"/>
                  </a:ext>
                </a:extLst>
              </a:tr>
              <a:tr h="605967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资产负债表清账（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月起）</a:t>
                      </a:r>
                    </a:p>
                  </a:txBody>
                  <a:tcPr marL="5172" marR="5172" marT="5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每月组织订单未结案沟通会，并跟踪结案情况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、原料部错误结案在次月，产生原料在产品，拉会提醒后每月结案正常；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、委外订单及时关单，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个委外订单关单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个，剩余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ctr">
                        <a:lnSpc>
                          <a:spcPct val="11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中试部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868471"/>
                  </a:ext>
                </a:extLst>
              </a:tr>
              <a:tr h="3365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组织召开应付款、预付款等往来清理沟通会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521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在途物资</a:t>
                      </a:r>
                      <a:r>
                        <a:rPr lang="en-US" altLang="zh-CN" sz="1100" dirty="0"/>
                        <a:t>6</a:t>
                      </a:r>
                      <a:r>
                        <a:rPr lang="zh-CN" altLang="en-US" sz="1100" dirty="0"/>
                        <a:t>月余额：</a:t>
                      </a:r>
                      <a:r>
                        <a:rPr lang="en-US" altLang="zh-CN" sz="1100" dirty="0"/>
                        <a:t>2,029.76 </a:t>
                      </a:r>
                      <a:r>
                        <a:rPr lang="zh-CN" altLang="en-US" sz="1100" dirty="0"/>
                        <a:t>万元，已清理</a:t>
                      </a:r>
                      <a:r>
                        <a:rPr lang="en-US" altLang="zh-CN" sz="1100" dirty="0"/>
                        <a:t>815.33</a:t>
                      </a:r>
                      <a:r>
                        <a:rPr lang="zh-CN" altLang="en-US" sz="1100" dirty="0"/>
                        <a:t>万元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021381"/>
                  </a:ext>
                </a:extLst>
              </a:tr>
              <a:tr h="11224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每月完成资产负债表分析，主要包括：应收账款，预付账款，其他应收应付款，在途物资、期末在产品、订单管理、费用摊销、在建工程、票据台账、费用波动分析、递延收益等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三张表的联动与分析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112608"/>
                  </a:ext>
                </a:extLst>
              </a:tr>
            </a:tbl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9DEF11-A46B-4E95-AE19-04B991FB7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877371"/>
              </p:ext>
            </p:extLst>
          </p:nvPr>
        </p:nvGraphicFramePr>
        <p:xfrm>
          <a:off x="9189244" y="4611687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Document" showAsIcon="1" r:id="rId4" imgW="914400" imgH="828521" progId="Word.Document.12">
                  <p:embed/>
                </p:oleObj>
              </mc:Choice>
              <mc:Fallback>
                <p:oleObj name="Document" showAsIcon="1" r:id="rId4" imgW="914400" imgH="8285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89244" y="4611687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557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487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费用执行和资产负债表清账收获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44229D7-FECA-8840-A764-0E9F0716944E}"/>
              </a:ext>
            </a:extLst>
          </p:cNvPr>
          <p:cNvSpPr/>
          <p:nvPr/>
        </p:nvSpPr>
        <p:spPr>
          <a:xfrm flipH="1">
            <a:off x="1874044" y="1016538"/>
            <a:ext cx="5749568" cy="1584000"/>
          </a:xfrm>
          <a:prstGeom prst="roundRect">
            <a:avLst>
              <a:gd name="adj" fmla="val 0"/>
            </a:avLst>
          </a:prstGeom>
          <a:solidFill>
            <a:srgbClr val="F2F5F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思源黑体 CN Normal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4645AC-BFA5-A34F-829C-5FDC0AAE457D}"/>
              </a:ext>
            </a:extLst>
          </p:cNvPr>
          <p:cNvSpPr/>
          <p:nvPr/>
        </p:nvSpPr>
        <p:spPr>
          <a:xfrm flipH="1">
            <a:off x="7551612" y="1016538"/>
            <a:ext cx="72000" cy="1584000"/>
          </a:xfrm>
          <a:prstGeom prst="roundRect">
            <a:avLst>
              <a:gd name="adj" fmla="val 0"/>
            </a:avLst>
          </a:prstGeom>
          <a:solidFill>
            <a:srgbClr val="538C5B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思源黑体 CN Normal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B048F4-92E4-421F-B6C8-1D9BD53F450D}"/>
              </a:ext>
            </a:extLst>
          </p:cNvPr>
          <p:cNvSpPr txBox="1"/>
          <p:nvPr/>
        </p:nvSpPr>
        <p:spPr>
          <a:xfrm>
            <a:off x="1949550" y="3118297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费用执行：熟悉费用取数以及职能部门基本职责。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3C97690-DD18-4459-9755-BAA7B7F2A203}"/>
              </a:ext>
            </a:extLst>
          </p:cNvPr>
          <p:cNvSpPr/>
          <p:nvPr/>
        </p:nvSpPr>
        <p:spPr>
          <a:xfrm flipH="1">
            <a:off x="1874044" y="2829697"/>
            <a:ext cx="5749568" cy="2895600"/>
          </a:xfrm>
          <a:prstGeom prst="roundRect">
            <a:avLst>
              <a:gd name="adj" fmla="val 0"/>
            </a:avLst>
          </a:prstGeom>
          <a:solidFill>
            <a:srgbClr val="F2F5F6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思源黑体 CN Normal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EC2FD9-1293-4AB3-89F2-BC19FBAC09F6}"/>
              </a:ext>
            </a:extLst>
          </p:cNvPr>
          <p:cNvSpPr/>
          <p:nvPr/>
        </p:nvSpPr>
        <p:spPr>
          <a:xfrm flipH="1">
            <a:off x="7550136" y="2829697"/>
            <a:ext cx="73476" cy="2895600"/>
          </a:xfrm>
          <a:prstGeom prst="roundRect">
            <a:avLst>
              <a:gd name="adj" fmla="val 0"/>
            </a:avLst>
          </a:prstGeom>
          <a:solidFill>
            <a:srgbClr val="538C5B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思源黑体 CN Normal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DD3A34-29C8-4CD4-904C-F8856A4311C0}"/>
              </a:ext>
            </a:extLst>
          </p:cNvPr>
          <p:cNvSpPr txBox="1"/>
          <p:nvPr/>
        </p:nvSpPr>
        <p:spPr>
          <a:xfrm>
            <a:off x="2101282" y="1444047"/>
            <a:ext cx="5395073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费用执行：熟悉费用取数逻辑以及职能部门的基本职责和业务，缺乏对全面预算管理的整体把控。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4DF19E-A7AA-4266-B267-1562FC9DC87F}"/>
              </a:ext>
            </a:extLst>
          </p:cNvPr>
          <p:cNvSpPr txBox="1"/>
          <p:nvPr/>
        </p:nvSpPr>
        <p:spPr>
          <a:xfrm>
            <a:off x="2101282" y="2931269"/>
            <a:ext cx="5295092" cy="272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资产负债表：通过单据与报表的连接，学会识别账目中存在的风险，以及关注点：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往来：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长期未开票付款造成的税务风险，长期未回款的资金风险；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费用波动：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费用报销存在几月集中报销的情况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流程费用未及时入账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，费用大幅波动的原因解释；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在建工程：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是否及时暂估入账，转固时点的确定；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存货：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库龄较长存货的减值计提，存货的周转和储备、供应。</a:t>
            </a:r>
          </a:p>
        </p:txBody>
      </p:sp>
    </p:spTree>
    <p:extLst>
      <p:ext uri="{BB962C8B-B14F-4D97-AF65-F5344CB8AC3E}">
        <p14:creationId xmlns:p14="http://schemas.microsoft.com/office/powerpoint/2010/main" val="374451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研发和其他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FC6CBCB-39CD-4087-8BCF-570AAE49E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93661"/>
              </p:ext>
            </p:extLst>
          </p:nvPr>
        </p:nvGraphicFramePr>
        <p:xfrm>
          <a:off x="273844" y="1781462"/>
          <a:ext cx="10972800" cy="2917249"/>
        </p:xfrm>
        <a:graphic>
          <a:graphicData uri="http://schemas.openxmlformats.org/drawingml/2006/table">
            <a:tbl>
              <a:tblPr/>
              <a:tblGrid>
                <a:gridCol w="2610653">
                  <a:extLst>
                    <a:ext uri="{9D8B030D-6E8A-4147-A177-3AD203B41FA5}">
                      <a16:colId xmlns:a16="http://schemas.microsoft.com/office/drawing/2014/main" val="3671774908"/>
                    </a:ext>
                  </a:extLst>
                </a:gridCol>
                <a:gridCol w="4247347">
                  <a:extLst>
                    <a:ext uri="{9D8B030D-6E8A-4147-A177-3AD203B41FA5}">
                      <a16:colId xmlns:a16="http://schemas.microsoft.com/office/drawing/2014/main" val="912498402"/>
                    </a:ext>
                  </a:extLst>
                </a:gridCol>
                <a:gridCol w="2006939">
                  <a:extLst>
                    <a:ext uri="{9D8B030D-6E8A-4147-A177-3AD203B41FA5}">
                      <a16:colId xmlns:a16="http://schemas.microsoft.com/office/drawing/2014/main" val="2304643922"/>
                    </a:ext>
                  </a:extLst>
                </a:gridCol>
                <a:gridCol w="2107861">
                  <a:extLst>
                    <a:ext uri="{9D8B030D-6E8A-4147-A177-3AD203B41FA5}">
                      <a16:colId xmlns:a16="http://schemas.microsoft.com/office/drawing/2014/main" val="1160871410"/>
                    </a:ext>
                  </a:extLst>
                </a:gridCol>
              </a:tblGrid>
              <a:tr h="5996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板块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日常事项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阶段性成果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待解决事项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80023"/>
                  </a:ext>
                </a:extLst>
              </a:tr>
              <a:tr h="1183175">
                <a:tc rowSpan="4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研发工时资料收集、委外对账、自主采购</a:t>
                      </a:r>
                    </a:p>
                  </a:txBody>
                  <a:tcPr marL="5172" marR="5172" marT="517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C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前期研发工时资料无统一归口，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年至今研发资料电子和纸质签字版收集：工时表、打卡记录和研发任务安排表；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并分配研发费用（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NPI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、生产技术部、研发中心、中试炉、深加工）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编写完成研发工时管理办法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研发工时底层支撑材料与签字版工时存在偏差，需对齐。</a:t>
                      </a:r>
                    </a:p>
                  </a:txBody>
                  <a:tcPr marL="62061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882027"/>
                  </a:ext>
                </a:extLst>
              </a:tr>
              <a:tr h="372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参与研发物料业务场景梳理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292125"/>
                  </a:ext>
                </a:extLst>
              </a:tr>
              <a:tr h="372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委外应付审核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030952"/>
                  </a:ext>
                </a:extLst>
              </a:tr>
              <a:tr h="3889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完成财务内部自主采购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0000"/>
                        </a:lnSpc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</a:p>
                  </a:txBody>
                  <a:tcPr marL="5172" marR="5172" marT="51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10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476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自我提升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119B0FB-F561-45AD-B632-64261DD4A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01776"/>
              </p:ext>
            </p:extLst>
          </p:nvPr>
        </p:nvGraphicFramePr>
        <p:xfrm>
          <a:off x="2788444" y="2097087"/>
          <a:ext cx="5943600" cy="16764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721051512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pPr marL="1567815" marR="0" lvl="3" indent="0" algn="l" defTabSz="1045210" rtl="0" eaLnBrk="1" fontAlgn="ctr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、对销售、资本市场的关注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、本量利分析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、投资回报相关学习应用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、技能提升、数据分析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C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5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479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376" y="260542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u="sng" dirty="0">
                <a:gradFill>
                  <a:gsLst>
                    <a:gs pos="100000">
                      <a:srgbClr val="118BFA"/>
                    </a:gs>
                    <a:gs pos="18000">
                      <a:srgbClr val="102FA9"/>
                    </a:gs>
                  </a:gsLst>
                  <a:lin ang="19200000" scaled="0"/>
                </a:gradFill>
                <a:latin typeface="+mn-ea"/>
                <a:ea typeface="+mn-ea"/>
              </a:rPr>
              <a:t>感谢指导</a:t>
            </a:r>
          </a:p>
        </p:txBody>
      </p:sp>
    </p:spTree>
    <p:extLst>
      <p:ext uri="{BB962C8B-B14F-4D97-AF65-F5344CB8AC3E}">
        <p14:creationId xmlns:p14="http://schemas.microsoft.com/office/powerpoint/2010/main" val="22261328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ZiZTM5ZWVmYzEzODMyM2ZkZGJhMGYwZmQ2YmZlOTQifQ=="/>
  <p:tag name="ISLIDE.GUIDESSETTING" val="{&quot;Id&quot;:&quot;f52e03d6-68ef-4e73-a6ac-12d127f03ea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AB9E"/>
      </a:accent1>
      <a:accent2>
        <a:srgbClr val="3F7FC1"/>
      </a:accent2>
      <a:accent3>
        <a:srgbClr val="7ECDDA"/>
      </a:accent3>
      <a:accent4>
        <a:srgbClr val="DD1922"/>
      </a:accent4>
      <a:accent5>
        <a:srgbClr val="F8B500"/>
      </a:accent5>
      <a:accent6>
        <a:srgbClr val="C9C9C9"/>
      </a:accent6>
      <a:hlink>
        <a:srgbClr val="4472C4"/>
      </a:hlink>
      <a:folHlink>
        <a:srgbClr val="BFBFBF"/>
      </a:folHlink>
    </a:clrScheme>
    <a:fontScheme name="uiwqptw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21667</TotalTime>
  <Words>2009</Words>
  <Application>Microsoft Office PowerPoint</Application>
  <PresentationFormat>自定义</PresentationFormat>
  <Paragraphs>206</Paragraphs>
  <Slides>18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OPPOSans B</vt:lpstr>
      <vt:lpstr>OPPOSans M</vt:lpstr>
      <vt:lpstr>OPPOSans R</vt:lpstr>
      <vt:lpstr>等线</vt:lpstr>
      <vt:lpstr>思源黑体 CN Normal</vt:lpstr>
      <vt:lpstr>宋体</vt:lpstr>
      <vt:lpstr>微软雅黑</vt:lpstr>
      <vt:lpstr>Arial</vt:lpstr>
      <vt:lpstr>Calibri</vt:lpstr>
      <vt:lpstr>Office 主题</vt:lpstr>
      <vt:lpstr>Microsoft PowerPoint 演示文稿</vt:lpstr>
      <vt:lpstr>Presentation</vt:lpstr>
      <vt:lpstr>Worksheet</vt:lpstr>
      <vt:lpstr>Document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章玲</cp:lastModifiedBy>
  <cp:revision>2735</cp:revision>
  <cp:lastPrinted>2113-01-01T00:00:00Z</cp:lastPrinted>
  <dcterms:created xsi:type="dcterms:W3CDTF">2018-08-24T06:28:00Z</dcterms:created>
  <dcterms:modified xsi:type="dcterms:W3CDTF">2025-11-15T12:31:27Z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2052-12.1.0.16929</vt:lpwstr>
  </property>
  <property fmtid="{D5CDD505-2E9C-101B-9397-08002B2CF9AE}" pid="4" name="ICV">
    <vt:lpwstr>3026348970974B1194639F9051F0758C_12</vt:lpwstr>
  </property>
</Properties>
</file>