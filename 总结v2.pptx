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1391" r:id="rId2"/>
    <p:sldId id="1386" r:id="rId3"/>
    <p:sldId id="1401" r:id="rId4"/>
    <p:sldId id="1418" r:id="rId5"/>
    <p:sldId id="1407" r:id="rId6"/>
    <p:sldId id="1406" r:id="rId7"/>
    <p:sldId id="1420" r:id="rId8"/>
    <p:sldId id="1413" r:id="rId9"/>
    <p:sldId id="1414" r:id="rId10"/>
    <p:sldId id="1419" r:id="rId11"/>
    <p:sldId id="1415" r:id="rId12"/>
    <p:sldId id="1416" r:id="rId13"/>
    <p:sldId id="1417" r:id="rId14"/>
    <p:sldId id="1400" r:id="rId15"/>
    <p:sldId id="1404" r:id="rId16"/>
    <p:sldId id="1405" r:id="rId17"/>
    <p:sldId id="1412" r:id="rId18"/>
    <p:sldId id="1424" r:id="rId19"/>
    <p:sldId id="1423" r:id="rId20"/>
    <p:sldId id="1421" r:id="rId21"/>
    <p:sldId id="1425" r:id="rId22"/>
    <p:sldId id="1426" r:id="rId23"/>
    <p:sldId id="1427" r:id="rId24"/>
    <p:sldId id="1428" r:id="rId25"/>
    <p:sldId id="1390" r:id="rId26"/>
  </p:sldIdLst>
  <p:sldSz cx="11520488" cy="6480175"/>
  <p:notesSz cx="6858000" cy="9144000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2F5F91"/>
    <a:srgbClr val="0099CC"/>
    <a:srgbClr val="00EE77"/>
    <a:srgbClr val="99FFCC"/>
    <a:srgbClr val="CBEBF0"/>
    <a:srgbClr val="102FA9"/>
    <a:srgbClr val="FF0000"/>
    <a:srgbClr val="118BF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838" autoAdjust="0"/>
  </p:normalViewPr>
  <p:slideViewPr>
    <p:cSldViewPr showGuides="1">
      <p:cViewPr varScale="1">
        <p:scale>
          <a:sx n="111" d="100"/>
          <a:sy n="111" d="100"/>
        </p:scale>
        <p:origin x="108" y="144"/>
      </p:cViewPr>
      <p:guideLst/>
    </p:cSldViewPr>
  </p:slideViewPr>
  <p:outlineViewPr>
    <p:cViewPr>
      <p:scale>
        <a:sx n="33" d="100"/>
        <a:sy n="33" d="100"/>
      </p:scale>
      <p:origin x="0" y="-21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2588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E4567-7110-453E-A637-E8A7FF6DF80A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1F368-0240-4C79-BE02-657090676D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490CF2C8-6993-49B7-A723-A0A651DB113E}" type="datetimeFigureOut">
              <a:rPr lang="zh-CN" altLang="en-US"/>
              <a:t>2025/11/8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C13A581E-BF9D-43F3-81F4-E9BD4E8E8C0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823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8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393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630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678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810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253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A581E-BF9D-43F3-81F4-E9BD4E8E8C0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086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038" y="2013055"/>
            <a:ext cx="9792414" cy="1389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076" y="3672105"/>
            <a:ext cx="8064343" cy="1656045"/>
          </a:xfrm>
        </p:spPr>
        <p:txBody>
          <a:bodyPr/>
          <a:lstStyle>
            <a:lvl1pPr marL="0" indent="0" algn="ctr">
              <a:buNone/>
              <a:defRPr/>
            </a:lvl1pPr>
            <a:lvl2pPr marL="522605" indent="0" algn="ctr">
              <a:buNone/>
              <a:defRPr/>
            </a:lvl2pPr>
            <a:lvl3pPr marL="1045210" indent="0" algn="ctr">
              <a:buNone/>
              <a:defRPr/>
            </a:lvl3pPr>
            <a:lvl4pPr marL="1567815" indent="0" algn="ctr">
              <a:buNone/>
              <a:defRPr/>
            </a:lvl4pPr>
            <a:lvl5pPr marL="2089785" indent="0" algn="ctr">
              <a:buNone/>
              <a:defRPr/>
            </a:lvl5pPr>
            <a:lvl6pPr marL="2612390" indent="0" algn="ctr">
              <a:buNone/>
              <a:defRPr/>
            </a:lvl6pPr>
            <a:lvl7pPr marL="3134995" indent="0" algn="ctr">
              <a:buNone/>
              <a:defRPr/>
            </a:lvl7pPr>
            <a:lvl8pPr marL="3657600" indent="0" algn="ctr">
              <a:buNone/>
              <a:defRPr/>
            </a:lvl8pPr>
            <a:lvl9pPr marL="418020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92E083-5CB7-4C8B-AF18-F5FF393A4D26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881B9-D928-4F97-8D17-A16C23B3C0F2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040" y="4164119"/>
            <a:ext cx="9792414" cy="1287035"/>
          </a:xfrm>
        </p:spPr>
        <p:txBody>
          <a:bodyPr anchor="t"/>
          <a:lstStyle>
            <a:lvl1pPr algn="l">
              <a:defRPr sz="457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040" y="2746575"/>
            <a:ext cx="9792414" cy="1417538"/>
          </a:xfrm>
        </p:spPr>
        <p:txBody>
          <a:bodyPr anchor="b"/>
          <a:lstStyle>
            <a:lvl1pPr marL="0" indent="0">
              <a:buNone/>
              <a:defRPr sz="2285"/>
            </a:lvl1pPr>
            <a:lvl2pPr marL="522605" indent="0">
              <a:buNone/>
              <a:defRPr sz="2055"/>
            </a:lvl2pPr>
            <a:lvl3pPr marL="1045210" indent="0">
              <a:buNone/>
              <a:defRPr sz="1830"/>
            </a:lvl3pPr>
            <a:lvl4pPr marL="1567815" indent="0">
              <a:buNone/>
              <a:defRPr sz="1600"/>
            </a:lvl4pPr>
            <a:lvl5pPr marL="2089785" indent="0">
              <a:buNone/>
              <a:defRPr sz="1600"/>
            </a:lvl5pPr>
            <a:lvl6pPr marL="2612390" indent="0">
              <a:buNone/>
              <a:defRPr sz="1600"/>
            </a:lvl6pPr>
            <a:lvl7pPr marL="3134995" indent="0">
              <a:buNone/>
              <a:defRPr sz="1600"/>
            </a:lvl7pPr>
            <a:lvl8pPr marL="3657600" indent="0">
              <a:buNone/>
              <a:defRPr sz="1600"/>
            </a:lvl8pPr>
            <a:lvl9pPr marL="4180205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6B0E4-42E8-46FB-AA0B-6BCE392FC87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027" y="1512041"/>
            <a:ext cx="5088216" cy="4276616"/>
          </a:xfrm>
        </p:spPr>
        <p:txBody>
          <a:bodyPr/>
          <a:lstStyle>
            <a:lvl1pPr>
              <a:defRPr sz="3200"/>
            </a:lvl1pPr>
            <a:lvl2pPr>
              <a:defRPr sz="2745"/>
            </a:lvl2pPr>
            <a:lvl3pPr>
              <a:defRPr sz="2285"/>
            </a:lvl3pPr>
            <a:lvl4pPr>
              <a:defRPr sz="2055"/>
            </a:lvl4pPr>
            <a:lvl5pPr>
              <a:defRPr sz="2055"/>
            </a:lvl5pPr>
            <a:lvl6pPr>
              <a:defRPr sz="2055"/>
            </a:lvl6pPr>
            <a:lvl7pPr>
              <a:defRPr sz="2055"/>
            </a:lvl7pPr>
            <a:lvl8pPr>
              <a:defRPr sz="2055"/>
            </a:lvl8pPr>
            <a:lvl9pPr>
              <a:defRPr sz="20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6250" y="1512041"/>
            <a:ext cx="5088216" cy="4276616"/>
          </a:xfrm>
        </p:spPr>
        <p:txBody>
          <a:bodyPr/>
          <a:lstStyle>
            <a:lvl1pPr>
              <a:defRPr sz="3200"/>
            </a:lvl1pPr>
            <a:lvl2pPr>
              <a:defRPr sz="2745"/>
            </a:lvl2pPr>
            <a:lvl3pPr>
              <a:defRPr sz="2285"/>
            </a:lvl3pPr>
            <a:lvl4pPr>
              <a:defRPr sz="2055"/>
            </a:lvl4pPr>
            <a:lvl5pPr>
              <a:defRPr sz="2055"/>
            </a:lvl5pPr>
            <a:lvl6pPr>
              <a:defRPr sz="2055"/>
            </a:lvl6pPr>
            <a:lvl7pPr>
              <a:defRPr sz="2055"/>
            </a:lvl7pPr>
            <a:lvl8pPr>
              <a:defRPr sz="2055"/>
            </a:lvl8pPr>
            <a:lvl9pPr>
              <a:defRPr sz="20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958778-AC6E-4134-9EDA-F59AA66DF9DA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024" y="1450540"/>
            <a:ext cx="5090217" cy="604516"/>
          </a:xfrm>
        </p:spPr>
        <p:txBody>
          <a:bodyPr anchor="b"/>
          <a:lstStyle>
            <a:lvl1pPr marL="0" indent="0">
              <a:buNone/>
              <a:defRPr sz="2745" b="1"/>
            </a:lvl1pPr>
            <a:lvl2pPr marL="522605" indent="0">
              <a:buNone/>
              <a:defRPr sz="2285" b="1"/>
            </a:lvl2pPr>
            <a:lvl3pPr marL="1045210" indent="0">
              <a:buNone/>
              <a:defRPr sz="2055" b="1"/>
            </a:lvl3pPr>
            <a:lvl4pPr marL="1567815" indent="0">
              <a:buNone/>
              <a:defRPr sz="1830" b="1"/>
            </a:lvl4pPr>
            <a:lvl5pPr marL="2089785" indent="0">
              <a:buNone/>
              <a:defRPr sz="1830" b="1"/>
            </a:lvl5pPr>
            <a:lvl6pPr marL="2612390" indent="0">
              <a:buNone/>
              <a:defRPr sz="1830" b="1"/>
            </a:lvl6pPr>
            <a:lvl7pPr marL="3134995" indent="0">
              <a:buNone/>
              <a:defRPr sz="1830" b="1"/>
            </a:lvl7pPr>
            <a:lvl8pPr marL="3657600" indent="0">
              <a:buNone/>
              <a:defRPr sz="1830" b="1"/>
            </a:lvl8pPr>
            <a:lvl9pPr marL="4180205" indent="0">
              <a:buNone/>
              <a:defRPr sz="18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024" y="2055059"/>
            <a:ext cx="5090217" cy="3733601"/>
          </a:xfrm>
        </p:spPr>
        <p:txBody>
          <a:bodyPr/>
          <a:lstStyle>
            <a:lvl1pPr>
              <a:defRPr sz="2745"/>
            </a:lvl1pPr>
            <a:lvl2pPr>
              <a:defRPr sz="2285"/>
            </a:lvl2pPr>
            <a:lvl3pPr>
              <a:defRPr sz="2055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2252" y="1450540"/>
            <a:ext cx="5092215" cy="604516"/>
          </a:xfrm>
        </p:spPr>
        <p:txBody>
          <a:bodyPr anchor="b"/>
          <a:lstStyle>
            <a:lvl1pPr marL="0" indent="0">
              <a:buNone/>
              <a:defRPr sz="2745" b="1"/>
            </a:lvl1pPr>
            <a:lvl2pPr marL="522605" indent="0">
              <a:buNone/>
              <a:defRPr sz="2285" b="1"/>
            </a:lvl2pPr>
            <a:lvl3pPr marL="1045210" indent="0">
              <a:buNone/>
              <a:defRPr sz="2055" b="1"/>
            </a:lvl3pPr>
            <a:lvl4pPr marL="1567815" indent="0">
              <a:buNone/>
              <a:defRPr sz="1830" b="1"/>
            </a:lvl4pPr>
            <a:lvl5pPr marL="2089785" indent="0">
              <a:buNone/>
              <a:defRPr sz="1830" b="1"/>
            </a:lvl5pPr>
            <a:lvl6pPr marL="2612390" indent="0">
              <a:buNone/>
              <a:defRPr sz="1830" b="1"/>
            </a:lvl6pPr>
            <a:lvl7pPr marL="3134995" indent="0">
              <a:buNone/>
              <a:defRPr sz="1830" b="1"/>
            </a:lvl7pPr>
            <a:lvl8pPr marL="3657600" indent="0">
              <a:buNone/>
              <a:defRPr sz="1830" b="1"/>
            </a:lvl8pPr>
            <a:lvl9pPr marL="4180205" indent="0">
              <a:buNone/>
              <a:defRPr sz="18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2252" y="2055059"/>
            <a:ext cx="5092215" cy="3733601"/>
          </a:xfrm>
        </p:spPr>
        <p:txBody>
          <a:bodyPr/>
          <a:lstStyle>
            <a:lvl1pPr>
              <a:defRPr sz="2745"/>
            </a:lvl1pPr>
            <a:lvl2pPr>
              <a:defRPr sz="2285"/>
            </a:lvl2pPr>
            <a:lvl3pPr>
              <a:defRPr sz="2055"/>
            </a:lvl3pPr>
            <a:lvl4pPr>
              <a:defRPr sz="1830"/>
            </a:lvl4pPr>
            <a:lvl5pPr>
              <a:defRPr sz="1830"/>
            </a:lvl5pPr>
            <a:lvl6pPr>
              <a:defRPr sz="1830"/>
            </a:lvl6pPr>
            <a:lvl7pPr>
              <a:defRPr sz="1830"/>
            </a:lvl7pPr>
            <a:lvl8pPr>
              <a:defRPr sz="1830"/>
            </a:lvl8pPr>
            <a:lvl9pPr>
              <a:defRPr sz="18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75E33-85E9-4823-9E9B-05A6E1911109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B5B22-55A9-4DB2-A8A5-4E2FF3BEDBE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044" y="192087"/>
            <a:ext cx="1384590" cy="228600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 bwMode="auto">
          <a:xfrm>
            <a:off x="0" y="573087"/>
            <a:ext cx="1152048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102FA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38" b="94845"/>
          <a:stretch/>
        </p:blipFill>
        <p:spPr>
          <a:xfrm>
            <a:off x="0" y="6177126"/>
            <a:ext cx="11520488" cy="30480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8655844" y="6198721"/>
            <a:ext cx="26669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重庆鑫景特种玻璃有限公司 版权所有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029" y="258007"/>
            <a:ext cx="3790161" cy="1098030"/>
          </a:xfrm>
        </p:spPr>
        <p:txBody>
          <a:bodyPr anchor="b"/>
          <a:lstStyle>
            <a:lvl1pPr algn="l">
              <a:defRPr sz="228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192" y="258007"/>
            <a:ext cx="6440272" cy="5530650"/>
          </a:xfrm>
        </p:spPr>
        <p:txBody>
          <a:bodyPr/>
          <a:lstStyle>
            <a:lvl1pPr>
              <a:defRPr sz="3655"/>
            </a:lvl1pPr>
            <a:lvl2pPr>
              <a:defRPr sz="3200"/>
            </a:lvl2pPr>
            <a:lvl3pPr>
              <a:defRPr sz="2745"/>
            </a:lvl3pPr>
            <a:lvl4pPr>
              <a:defRPr sz="2285"/>
            </a:lvl4pPr>
            <a:lvl5pPr>
              <a:defRPr sz="2285"/>
            </a:lvl5pPr>
            <a:lvl6pPr>
              <a:defRPr sz="2285"/>
            </a:lvl6pPr>
            <a:lvl7pPr>
              <a:defRPr sz="2285"/>
            </a:lvl7pPr>
            <a:lvl8pPr>
              <a:defRPr sz="2285"/>
            </a:lvl8pPr>
            <a:lvl9pPr>
              <a:defRPr sz="228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029" y="1356037"/>
            <a:ext cx="3790161" cy="4432620"/>
          </a:xfrm>
        </p:spPr>
        <p:txBody>
          <a:bodyPr/>
          <a:lstStyle>
            <a:lvl1pPr marL="0" indent="0">
              <a:buNone/>
              <a:defRPr sz="1600"/>
            </a:lvl1pPr>
            <a:lvl2pPr marL="522605" indent="0">
              <a:buNone/>
              <a:defRPr sz="1370"/>
            </a:lvl2pPr>
            <a:lvl3pPr marL="1045210" indent="0">
              <a:buNone/>
              <a:defRPr sz="1145"/>
            </a:lvl3pPr>
            <a:lvl4pPr marL="1567815" indent="0">
              <a:buNone/>
              <a:defRPr sz="1030"/>
            </a:lvl4pPr>
            <a:lvl5pPr marL="2089785" indent="0">
              <a:buNone/>
              <a:defRPr sz="1030"/>
            </a:lvl5pPr>
            <a:lvl6pPr marL="2612390" indent="0">
              <a:buNone/>
              <a:defRPr sz="1030"/>
            </a:lvl6pPr>
            <a:lvl7pPr marL="3134995" indent="0">
              <a:buNone/>
              <a:defRPr sz="1030"/>
            </a:lvl7pPr>
            <a:lvl8pPr marL="3657600" indent="0">
              <a:buNone/>
              <a:defRPr sz="1030"/>
            </a:lvl8pPr>
            <a:lvl9pPr marL="4180205" indent="0">
              <a:buNone/>
              <a:defRPr sz="10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AFEA9-27DC-49D9-B1F3-4E8431DC61C7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096" y="4536128"/>
            <a:ext cx="6912293" cy="535515"/>
          </a:xfrm>
        </p:spPr>
        <p:txBody>
          <a:bodyPr anchor="b"/>
          <a:lstStyle>
            <a:lvl1pPr algn="l">
              <a:defRPr sz="228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096" y="579022"/>
            <a:ext cx="6912293" cy="3888105"/>
          </a:xfrm>
        </p:spPr>
        <p:txBody>
          <a:bodyPr/>
          <a:lstStyle>
            <a:lvl1pPr marL="0" indent="0">
              <a:buNone/>
              <a:defRPr sz="3655"/>
            </a:lvl1pPr>
            <a:lvl2pPr marL="522605" indent="0">
              <a:buNone/>
              <a:defRPr sz="3200"/>
            </a:lvl2pPr>
            <a:lvl3pPr marL="1045210" indent="0">
              <a:buNone/>
              <a:defRPr sz="2745"/>
            </a:lvl3pPr>
            <a:lvl4pPr marL="1567815" indent="0">
              <a:buNone/>
              <a:defRPr sz="2285"/>
            </a:lvl4pPr>
            <a:lvl5pPr marL="2089785" indent="0">
              <a:buNone/>
              <a:defRPr sz="2285"/>
            </a:lvl5pPr>
            <a:lvl6pPr marL="2612390" indent="0">
              <a:buNone/>
              <a:defRPr sz="2285"/>
            </a:lvl6pPr>
            <a:lvl7pPr marL="3134995" indent="0">
              <a:buNone/>
              <a:defRPr sz="2285"/>
            </a:lvl7pPr>
            <a:lvl8pPr marL="3657600" indent="0">
              <a:buNone/>
              <a:defRPr sz="2285"/>
            </a:lvl8pPr>
            <a:lvl9pPr marL="4180205" indent="0">
              <a:buNone/>
              <a:defRPr sz="2285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096" y="5071637"/>
            <a:ext cx="6912293" cy="760520"/>
          </a:xfrm>
        </p:spPr>
        <p:txBody>
          <a:bodyPr/>
          <a:lstStyle>
            <a:lvl1pPr marL="0" indent="0">
              <a:buNone/>
              <a:defRPr sz="1600"/>
            </a:lvl1pPr>
            <a:lvl2pPr marL="522605" indent="0">
              <a:buNone/>
              <a:defRPr sz="1370"/>
            </a:lvl2pPr>
            <a:lvl3pPr marL="1045210" indent="0">
              <a:buNone/>
              <a:defRPr sz="1145"/>
            </a:lvl3pPr>
            <a:lvl4pPr marL="1567815" indent="0">
              <a:buNone/>
              <a:defRPr sz="1030"/>
            </a:lvl4pPr>
            <a:lvl5pPr marL="2089785" indent="0">
              <a:buNone/>
              <a:defRPr sz="1030"/>
            </a:lvl5pPr>
            <a:lvl6pPr marL="2612390" indent="0">
              <a:buNone/>
              <a:defRPr sz="1030"/>
            </a:lvl6pPr>
            <a:lvl7pPr marL="3134995" indent="0">
              <a:buNone/>
              <a:defRPr sz="1030"/>
            </a:lvl7pPr>
            <a:lvl8pPr marL="3657600" indent="0">
              <a:buNone/>
              <a:defRPr sz="1030"/>
            </a:lvl8pPr>
            <a:lvl9pPr marL="4180205" indent="0">
              <a:buNone/>
              <a:defRPr sz="10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0CBD04-028F-4C57-9DED-880B9D753624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3300F-47D0-4A93-AC31-BE277D702843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2354" y="259514"/>
            <a:ext cx="2592110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024" y="259514"/>
            <a:ext cx="7584321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23B625-784E-4173-B5E2-670015F29F4E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5121" y="258769"/>
            <a:ext cx="10370253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121" y="1511302"/>
            <a:ext cx="10370253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75119" y="5900738"/>
            <a:ext cx="2688719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36923" y="5900738"/>
            <a:ext cx="3646643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56654" y="5900738"/>
            <a:ext cx="2688719" cy="45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00"/>
            </a:lvl1pPr>
          </a:lstStyle>
          <a:p>
            <a:fld id="{DE3CE9A3-0C4E-4B5C-AB12-E860370C588C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5pPr>
      <a:lvl6pPr marL="52260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6pPr>
      <a:lvl7pPr marL="1045210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7pPr>
      <a:lvl8pPr marL="156781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8pPr>
      <a:lvl9pPr marL="2089785" algn="ctr" rtl="0" eaLnBrk="1" fontAlgn="base" hangingPunct="1">
        <a:spcBef>
          <a:spcPct val="0"/>
        </a:spcBef>
        <a:spcAft>
          <a:spcPct val="0"/>
        </a:spcAft>
        <a:defRPr sz="503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91795" indent="-391795" algn="l" rtl="0" eaLnBrk="0" fontAlgn="base" hangingPunct="0">
        <a:spcBef>
          <a:spcPct val="20000"/>
        </a:spcBef>
        <a:spcAft>
          <a:spcPct val="0"/>
        </a:spcAft>
        <a:buChar char="•"/>
        <a:defRPr sz="3655">
          <a:solidFill>
            <a:schemeClr val="tx1"/>
          </a:solidFill>
          <a:latin typeface="+mn-lt"/>
          <a:ea typeface="+mn-ea"/>
          <a:cs typeface="+mn-cs"/>
        </a:defRPr>
      </a:lvl1pPr>
      <a:lvl2pPr marL="848995" indent="-326390" algn="l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306195" indent="-260985" algn="l" rtl="0" eaLnBrk="0" fontAlgn="base" hangingPunct="0">
        <a:spcBef>
          <a:spcPct val="20000"/>
        </a:spcBef>
        <a:spcAft>
          <a:spcPct val="0"/>
        </a:spcAft>
        <a:buChar char="•"/>
        <a:defRPr sz="2745">
          <a:solidFill>
            <a:schemeClr val="tx1"/>
          </a:solidFill>
          <a:latin typeface="+mn-lt"/>
        </a:defRPr>
      </a:lvl3pPr>
      <a:lvl4pPr marL="1828800" indent="-260985" algn="l" rtl="0" eaLnBrk="0" fontAlgn="base" hangingPunct="0">
        <a:spcBef>
          <a:spcPct val="20000"/>
        </a:spcBef>
        <a:spcAft>
          <a:spcPct val="0"/>
        </a:spcAft>
        <a:buChar char="–"/>
        <a:defRPr sz="2285">
          <a:solidFill>
            <a:schemeClr val="tx1"/>
          </a:solidFill>
          <a:latin typeface="+mn-lt"/>
        </a:defRPr>
      </a:lvl4pPr>
      <a:lvl5pPr marL="2351405" indent="-260985" algn="l" rtl="0" eaLnBrk="0" fontAlgn="base" hangingPunct="0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5pPr>
      <a:lvl6pPr marL="287401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6pPr>
      <a:lvl7pPr marL="3396615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7pPr>
      <a:lvl8pPr marL="391922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8pPr>
      <a:lvl9pPr marL="4441190" indent="-260985" algn="l" rtl="0" eaLnBrk="1" fontAlgn="base" hangingPunct="1">
        <a:spcBef>
          <a:spcPct val="20000"/>
        </a:spcBef>
        <a:spcAft>
          <a:spcPct val="0"/>
        </a:spcAft>
        <a:buChar char="»"/>
        <a:defRPr sz="228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260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521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781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978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1239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499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80205" algn="l" defTabSz="104521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&#25104;&#26412;&#26680;&#31639;&#25805;&#20316;&#27969;&#31243;.pdf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950"/>
            <a:ext cx="11520488" cy="415713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12644" y="2325687"/>
            <a:ext cx="4417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成本核算逻辑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31844" y="5567044"/>
            <a:ext cx="3198138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sz="1050" dirty="0">
                <a:latin typeface="微软雅黑" panose="020B0503020204020204" pitchFamily="34" charset="-122"/>
                <a:cs typeface="+mn-ea"/>
                <a:sym typeface="+mn-lt"/>
              </a:rPr>
              <a:t>重庆鑫景特种玻璃有限公司</a:t>
            </a:r>
            <a:endParaRPr lang="en-US" altLang="zh-CN" sz="1050" dirty="0">
              <a:latin typeface="微软雅黑" panose="020B0503020204020204" pitchFamily="34" charset="-122"/>
              <a:cs typeface="+mn-ea"/>
              <a:sym typeface="+mn-lt"/>
            </a:endParaRPr>
          </a:p>
          <a:p>
            <a:pPr algn="r"/>
            <a:r>
              <a:rPr lang="en-US" altLang="zh-CN" sz="900" dirty="0">
                <a:latin typeface="微软雅黑" panose="020B0503020204020204" pitchFamily="34" charset="-122"/>
                <a:cs typeface="+mn-ea"/>
                <a:sym typeface="+mn-lt"/>
              </a:rPr>
              <a:t>Chongqing Aureavia Hi-tech Glass CO.,LTD.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4" y="385804"/>
            <a:ext cx="2057400" cy="33968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41444" y="4356527"/>
            <a:ext cx="25885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财经管理部  章玲</a:t>
            </a:r>
          </a:p>
        </p:txBody>
      </p:sp>
    </p:spTree>
    <p:extLst>
      <p:ext uri="{BB962C8B-B14F-4D97-AF65-F5344CB8AC3E}">
        <p14:creationId xmlns:p14="http://schemas.microsoft.com/office/powerpoint/2010/main" val="17423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9844" y="1792287"/>
            <a:ext cx="4602481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一、成本岗涉及的工作范围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2361725" y="1958026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9844" y="2348379"/>
            <a:ext cx="4297682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二、成本基本计算逻辑和特殊业务场景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59844" y="2882461"/>
            <a:ext cx="3505199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三、成本核算操作流程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9845" y="3413691"/>
            <a:ext cx="2286000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四、困难点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2361725" y="2517850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361725" y="3055041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361725" y="3592232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13185" y="2058880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11" name="等腰三角形 10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等腰三角形 9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113185" y="2608273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0" name="等腰三角形 29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113185" y="3145464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4" name="等腰三角形 33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113185" y="3682655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7" name="等腰三角形 36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50044" y="115887"/>
            <a:ext cx="5714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目 录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DE72A3-C7DB-4062-81C5-F35882812D72}"/>
              </a:ext>
            </a:extLst>
          </p:cNvPr>
          <p:cNvSpPr txBox="1"/>
          <p:nvPr/>
        </p:nvSpPr>
        <p:spPr>
          <a:xfrm>
            <a:off x="2559845" y="3947773"/>
            <a:ext cx="2286000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五、下一步计划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A330E0-D795-402E-BE8B-C6E4EEB0ADFE}"/>
              </a:ext>
            </a:extLst>
          </p:cNvPr>
          <p:cNvSpPr/>
          <p:nvPr/>
        </p:nvSpPr>
        <p:spPr bwMode="auto">
          <a:xfrm>
            <a:off x="2361725" y="4126314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BD65B3C-9F74-4F9A-9BF0-65E1C1F8944E}"/>
              </a:ext>
            </a:extLst>
          </p:cNvPr>
          <p:cNvGrpSpPr/>
          <p:nvPr/>
        </p:nvGrpSpPr>
        <p:grpSpPr>
          <a:xfrm>
            <a:off x="2113185" y="4216737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971112D4-F123-4AB0-B5C1-77C8C18D61FC}"/>
                </a:ext>
              </a:extLst>
            </p:cNvPr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384EA11B-3E53-403A-A244-2077ADC1705B}"/>
                </a:ext>
              </a:extLst>
            </p:cNvPr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成本岗涉及的工作范围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8FC116-E88B-448D-91EE-E11DB4EC7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167128"/>
              </p:ext>
            </p:extLst>
          </p:nvPr>
        </p:nvGraphicFramePr>
        <p:xfrm>
          <a:off x="1378743" y="649287"/>
          <a:ext cx="8763001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2232012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5354524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6079477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90437287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范围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工作内容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0087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库存管理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、检查单据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8000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其他出库单（制造费用、研发费用）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、关库存账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、盘点，确定账实差异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系统库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存数据准确性和期末账实相符，直接影响成本核算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数量的精确性。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95407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、采购订单审核（委外）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pPr marL="288000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单价的确定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、采购入库单的审核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pPr marL="288000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确认暂估应付金额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采购入库及时性、准确性，影响成本核算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数量的精准性；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采购价格影响成本核算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9399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应付管理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、标准应付单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、费用应付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大宗材料应付，影响成本核算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料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价的准确性；委外加工费应付，影响成本核算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委外加工费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</a:t>
                      </a:r>
                      <a:endParaRPr lang="en-US" altLang="zh-CN" sz="14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费用应付，影响成本核算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205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资产管理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、固定资产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、无形资产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、长期待摊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、在建工程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在建工程是否及时转固或者长期待摊，未及时转入会导致当期折旧摊销减少，影响成本核算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费的准确性；资产和长期待摊当期是否全部计提，且计提准确。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73297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计划管理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、是否完工结案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、预测单（研发和销售）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生产订单类、委外订单类、采购申请类，生产产品全部不合格，本月完工避免循坏，否则系统无法计算，且结案后才能下月期初在产调整，分摊成本</a:t>
                      </a:r>
                      <a:r>
                        <a:rPr lang="zh-CN" altLang="en-US" sz="140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给其他产品；在产品只有数量是怎么来的？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生产产品及时入库，否则在产品除材料外的费用全计入完工产品，虚增完工产品的实际成本。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0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57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365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成本岗涉及的工作范围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9D5542-7DE9-4519-908F-48561CDC8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53663"/>
              </p:ext>
            </p:extLst>
          </p:nvPr>
        </p:nvGraphicFramePr>
        <p:xfrm>
          <a:off x="1378743" y="1563687"/>
          <a:ext cx="8763001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72">
                  <a:extLst>
                    <a:ext uri="{9D8B030D-6E8A-4147-A177-3AD203B41FA5}">
                      <a16:colId xmlns:a16="http://schemas.microsoft.com/office/drawing/2014/main" val="786900726"/>
                    </a:ext>
                  </a:extLst>
                </a:gridCol>
                <a:gridCol w="1265329">
                  <a:extLst>
                    <a:ext uri="{9D8B030D-6E8A-4147-A177-3AD203B41FA5}">
                      <a16:colId xmlns:a16="http://schemas.microsoft.com/office/drawing/2014/main" val="344119510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12894838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47762132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生产管理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、生产领补退</a:t>
                      </a:r>
                      <a:endParaRPr lang="en-US" altLang="zh-CN" sz="1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、发料分析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生产发料及时性、准确性，生产领用材料数量的多少直接影响材料的投入金额的高低；生产入库的工时是否准确汇报，大部分部门分摊规则都是按照工时分配，工时未录入，系统无法为该工单分配料工费，会导致该批次生产产品成本少计，其他产品的成本虚高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516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、委外应付单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、委外领补退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委外倒冲领料，先采购入库；入库是否及时，责任归属，影响成本核算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数量的精准性；暂估差异，影响成本核算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价的准确性；议价能力，影响价格的高低；同时完工入库数量影响分摊部门的分摊比例。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47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8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费用管理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、费用异常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总额分析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期间费用项目统计，费用项目变动差异说明，以及各项期间费用变动解释；费用报销、差旅报销，报销的合规和合理性；当期费用是否计入；费用项目是否计入正确的部门和科目。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02063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成本管理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、存货核算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、成本核算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、基础设置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452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40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投入产出分析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出入库核算准确单价，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成本调整（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期初入库调整），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存货核算生成凭证，使业务对账平衡；成本计算的基本逻辑以及成本结构，通过投入产出分析单位产品成本的波动异常情况。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16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66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5029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各项工作在</a:t>
            </a:r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ERP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系统中的具体内容</a:t>
            </a:r>
            <a:endParaRPr lang="zh-CN" altLang="en-US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210DF9-6B6A-45A5-B7D4-76129341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44" y="649287"/>
            <a:ext cx="8310453" cy="551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8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4800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成本基本计算逻辑和特殊业务场景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57BF159-26B0-4981-8DB7-5E10D3454126}"/>
              </a:ext>
            </a:extLst>
          </p:cNvPr>
          <p:cNvGrpSpPr/>
          <p:nvPr/>
        </p:nvGrpSpPr>
        <p:grpSpPr>
          <a:xfrm>
            <a:off x="2054441" y="611187"/>
            <a:ext cx="6553200" cy="5257800"/>
            <a:chOff x="3889578" y="1618646"/>
            <a:chExt cx="4397172" cy="3862304"/>
          </a:xfrm>
        </p:grpSpPr>
        <p:sp>
          <p:nvSpPr>
            <p:cNvPr id="8" name="任意多边形: 形状 69">
              <a:extLst>
                <a:ext uri="{FF2B5EF4-FFF2-40B4-BE49-F238E27FC236}">
                  <a16:creationId xmlns:a16="http://schemas.microsoft.com/office/drawing/2014/main" id="{EC1EE48E-2AED-440E-AC6F-C67266133EA5}"/>
                </a:ext>
              </a:extLst>
            </p:cNvPr>
            <p:cNvSpPr/>
            <p:nvPr/>
          </p:nvSpPr>
          <p:spPr>
            <a:xfrm>
              <a:off x="3889578" y="1618646"/>
              <a:ext cx="4397172" cy="3862304"/>
            </a:xfrm>
            <a:custGeom>
              <a:avLst/>
              <a:gdLst>
                <a:gd name="connsiteX0" fmla="*/ 483993 w 1052067"/>
                <a:gd name="connsiteY0" fmla="*/ 24210 h 924095"/>
                <a:gd name="connsiteX1" fmla="*/ 550223 w 1052067"/>
                <a:gd name="connsiteY1" fmla="*/ 6438 h 924095"/>
                <a:gd name="connsiteX2" fmla="*/ 567978 w 1052067"/>
                <a:gd name="connsiteY2" fmla="*/ 24210 h 924095"/>
                <a:gd name="connsiteX3" fmla="*/ 1045523 w 1052067"/>
                <a:gd name="connsiteY3" fmla="*/ 851327 h 924095"/>
                <a:gd name="connsiteX4" fmla="*/ 1027769 w 1052067"/>
                <a:gd name="connsiteY4" fmla="*/ 917545 h 924095"/>
                <a:gd name="connsiteX5" fmla="*/ 1003532 w 1052067"/>
                <a:gd name="connsiteY5" fmla="*/ 924040 h 924095"/>
                <a:gd name="connsiteX6" fmla="*/ 48439 w 1052067"/>
                <a:gd name="connsiteY6" fmla="*/ 924040 h 924095"/>
                <a:gd name="connsiteX7" fmla="*/ -37 w 1052067"/>
                <a:gd name="connsiteY7" fmla="*/ 875577 h 924095"/>
                <a:gd name="connsiteX8" fmla="*/ 6447 w 1052067"/>
                <a:gd name="connsiteY8" fmla="*/ 851327 h 924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2067" h="924095">
                  <a:moveTo>
                    <a:pt x="483993" y="24210"/>
                  </a:moveTo>
                  <a:cubicBezTo>
                    <a:pt x="497385" y="1021"/>
                    <a:pt x="527016" y="-6941"/>
                    <a:pt x="550223" y="6438"/>
                  </a:cubicBezTo>
                  <a:cubicBezTo>
                    <a:pt x="557615" y="10698"/>
                    <a:pt x="563735" y="16824"/>
                    <a:pt x="567978" y="24210"/>
                  </a:cubicBezTo>
                  <a:lnTo>
                    <a:pt x="1045523" y="851327"/>
                  </a:lnTo>
                  <a:cubicBezTo>
                    <a:pt x="1058914" y="874510"/>
                    <a:pt x="1050977" y="904159"/>
                    <a:pt x="1027769" y="917545"/>
                  </a:cubicBezTo>
                  <a:cubicBezTo>
                    <a:pt x="1020437" y="921804"/>
                    <a:pt x="1012014" y="924040"/>
                    <a:pt x="1003532" y="924040"/>
                  </a:cubicBezTo>
                  <a:lnTo>
                    <a:pt x="48439" y="924040"/>
                  </a:lnTo>
                  <a:cubicBezTo>
                    <a:pt x="21656" y="924046"/>
                    <a:pt x="-37" y="902348"/>
                    <a:pt x="-37" y="875577"/>
                  </a:cubicBezTo>
                  <a:cubicBezTo>
                    <a:pt x="-37" y="867063"/>
                    <a:pt x="2206" y="858701"/>
                    <a:pt x="6447" y="851327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  <a:latin typeface="+mn-ea"/>
                <a:sym typeface="Arial" panose="020B0604020202020204" pitchFamily="34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AA05B55-EB5A-4DD4-A017-E28C1959F443}"/>
                </a:ext>
              </a:extLst>
            </p:cNvPr>
            <p:cNvGrpSpPr/>
            <p:nvPr/>
          </p:nvGrpSpPr>
          <p:grpSpPr>
            <a:xfrm>
              <a:off x="4184853" y="2338468"/>
              <a:ext cx="3806622" cy="2872594"/>
              <a:chOff x="4567224" y="2338468"/>
              <a:chExt cx="3240000" cy="2872594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33375180-2F38-4E5B-B8D8-F9516FFBA6AD}"/>
                  </a:ext>
                </a:extLst>
              </p:cNvPr>
              <p:cNvSpPr/>
              <p:nvPr/>
            </p:nvSpPr>
            <p:spPr>
              <a:xfrm>
                <a:off x="5836937" y="2338468"/>
                <a:ext cx="700573" cy="40109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60000"/>
                      <a:lumOff val="40000"/>
                    </a:schemeClr>
                  </a:gs>
                </a:gsLst>
                <a:lin ang="2700000" scaled="0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原料、</a:t>
                </a:r>
                <a:endParaRPr lang="en-US" altLang="zh-CN" sz="1200" b="1" dirty="0">
                  <a:solidFill>
                    <a:schemeClr val="bg1"/>
                  </a:solidFill>
                  <a:latin typeface="+mn-ea"/>
                </a:endParaRPr>
              </a:p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人工、制造费用</a:t>
                </a:r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5FD91C75-88D3-4523-BA37-1E893225EDB1}"/>
                  </a:ext>
                </a:extLst>
              </p:cNvPr>
              <p:cNvSpPr/>
              <p:nvPr/>
            </p:nvSpPr>
            <p:spPr>
              <a:xfrm>
                <a:off x="5380203" y="3162300"/>
                <a:ext cx="1614040" cy="40109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60000"/>
                      <a:lumOff val="40000"/>
                    </a:schemeClr>
                  </a:gs>
                </a:gsLst>
                <a:lin ang="2700000" scaled="0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原料部配好的混合料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+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包装物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+</a:t>
                </a:r>
              </a:p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干燥剂、人工、制造费用</a:t>
                </a:r>
              </a:p>
            </p:txBody>
          </p:sp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784B35B4-CE49-4F63-BD13-A88B2018E2A8}"/>
                  </a:ext>
                </a:extLst>
              </p:cNvPr>
              <p:cNvSpPr/>
              <p:nvPr/>
            </p:nvSpPr>
            <p:spPr>
              <a:xfrm>
                <a:off x="4997289" y="3986132"/>
                <a:ext cx="2379872" cy="40109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玻璃原砖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+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玻璃原片、晶化人工、制造费用</a:t>
                </a:r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7BF3DE2E-26EB-4B10-9D70-82B2E19DE822}"/>
                  </a:ext>
                </a:extLst>
              </p:cNvPr>
              <p:cNvSpPr/>
              <p:nvPr/>
            </p:nvSpPr>
            <p:spPr>
              <a:xfrm>
                <a:off x="4567224" y="4809964"/>
                <a:ext cx="3240000" cy="40109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2700000" scaled="0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玻璃晶化砖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+mn-ea"/>
                  </a:rPr>
                  <a:t>+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</a:rPr>
                  <a:t>玻璃晶化片、委外加工费</a:t>
                </a:r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E8C8F62-B41D-4009-AA58-7A2A3119D8EB}"/>
              </a:ext>
            </a:extLst>
          </p:cNvPr>
          <p:cNvSpPr txBox="1"/>
          <p:nvPr/>
        </p:nvSpPr>
        <p:spPr>
          <a:xfrm>
            <a:off x="2287119" y="1628237"/>
            <a:ext cx="183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原料部</a:t>
            </a:r>
            <a:r>
              <a:rPr lang="zh-CN" altLang="en-US" dirty="0">
                <a:latin typeface="+mn-ea"/>
                <a:ea typeface="+mn-ea"/>
              </a:rPr>
              <a:t>混合原料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D49C60-B8CF-4D69-A442-0B0D47636724}"/>
              </a:ext>
            </a:extLst>
          </p:cNvPr>
          <p:cNvSpPr txBox="1"/>
          <p:nvPr/>
        </p:nvSpPr>
        <p:spPr>
          <a:xfrm>
            <a:off x="344488" y="5830887"/>
            <a:ext cx="5415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注：本页“制造费用”指燃动、折旧、其他费用</a:t>
            </a:r>
          </a:p>
        </p:txBody>
      </p:sp>
      <p:sp>
        <p:nvSpPr>
          <p:cNvPr id="18" name="箭头: 左弧形 17">
            <a:extLst>
              <a:ext uri="{FF2B5EF4-FFF2-40B4-BE49-F238E27FC236}">
                <a16:creationId xmlns:a16="http://schemas.microsoft.com/office/drawing/2014/main" id="{3EDCB869-207D-434E-BC9C-7EA0F27DAB6C}"/>
              </a:ext>
            </a:extLst>
          </p:cNvPr>
          <p:cNvSpPr/>
          <p:nvPr/>
        </p:nvSpPr>
        <p:spPr bwMode="auto">
          <a:xfrm>
            <a:off x="4543756" y="2086226"/>
            <a:ext cx="228600" cy="575473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3102C1EB-AEDB-45BF-A3E7-44B706AEA6D6}"/>
              </a:ext>
            </a:extLst>
          </p:cNvPr>
          <p:cNvSpPr/>
          <p:nvPr/>
        </p:nvSpPr>
        <p:spPr bwMode="auto">
          <a:xfrm>
            <a:off x="6979404" y="1637056"/>
            <a:ext cx="2507889" cy="277398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1E63AF-898E-48AA-AF72-4C3D5AFA4373}"/>
              </a:ext>
            </a:extLst>
          </p:cNvPr>
          <p:cNvSpPr txBox="1"/>
          <p:nvPr/>
        </p:nvSpPr>
        <p:spPr>
          <a:xfrm>
            <a:off x="9870114" y="1661954"/>
            <a:ext cx="140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设备动力部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85D204-F993-481F-ACD2-22A36430D978}"/>
              </a:ext>
            </a:extLst>
          </p:cNvPr>
          <p:cNvSpPr txBox="1"/>
          <p:nvPr/>
        </p:nvSpPr>
        <p:spPr>
          <a:xfrm>
            <a:off x="7397016" y="1406423"/>
            <a:ext cx="1672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ea typeface="+mn-ea"/>
              </a:rPr>
              <a:t>分摊工、费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36C8C9-45CA-400D-ABB6-E5D5B3C8E14A}"/>
              </a:ext>
            </a:extLst>
          </p:cNvPr>
          <p:cNvSpPr txBox="1"/>
          <p:nvPr/>
        </p:nvSpPr>
        <p:spPr>
          <a:xfrm>
            <a:off x="1059459" y="2765843"/>
            <a:ext cx="253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04</a:t>
            </a:r>
            <a:r>
              <a:rPr lang="zh-CN" altLang="en-US" b="1" dirty="0">
                <a:latin typeface="+mn-ea"/>
                <a:ea typeface="+mn-ea"/>
              </a:rPr>
              <a:t>线、</a:t>
            </a:r>
            <a:r>
              <a:rPr lang="en-US" altLang="zh-CN" b="1" dirty="0">
                <a:latin typeface="+mn-ea"/>
                <a:ea typeface="+mn-ea"/>
              </a:rPr>
              <a:t>KM</a:t>
            </a:r>
            <a:r>
              <a:rPr lang="zh-CN" altLang="en-US" b="1" dirty="0">
                <a:latin typeface="+mn-ea"/>
                <a:ea typeface="+mn-ea"/>
              </a:rPr>
              <a:t>线</a:t>
            </a:r>
            <a:r>
              <a:rPr lang="zh-CN" altLang="en-US" dirty="0">
                <a:latin typeface="+mn-ea"/>
                <a:ea typeface="+mn-ea"/>
              </a:rPr>
              <a:t>熔化成型</a:t>
            </a:r>
          </a:p>
        </p:txBody>
      </p:sp>
      <p:sp>
        <p:nvSpPr>
          <p:cNvPr id="23" name="箭头: 左 22">
            <a:extLst>
              <a:ext uri="{FF2B5EF4-FFF2-40B4-BE49-F238E27FC236}">
                <a16:creationId xmlns:a16="http://schemas.microsoft.com/office/drawing/2014/main" id="{59E17989-041C-411F-A340-F266E7563C49}"/>
              </a:ext>
            </a:extLst>
          </p:cNvPr>
          <p:cNvSpPr/>
          <p:nvPr/>
        </p:nvSpPr>
        <p:spPr bwMode="auto">
          <a:xfrm>
            <a:off x="7301804" y="2811812"/>
            <a:ext cx="2185490" cy="277398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BDF636-ADC5-4204-8D6D-A3DC67DFA2B3}"/>
              </a:ext>
            </a:extLst>
          </p:cNvPr>
          <p:cNvSpPr txBox="1"/>
          <p:nvPr/>
        </p:nvSpPr>
        <p:spPr>
          <a:xfrm>
            <a:off x="9870114" y="2365734"/>
            <a:ext cx="16726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设备动力部、计划物流部、辅助生产部门、品质管理部、生产技术部、生产一部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40C98F9-5741-485C-8180-73D07442DD94}"/>
              </a:ext>
            </a:extLst>
          </p:cNvPr>
          <p:cNvSpPr txBox="1"/>
          <p:nvPr/>
        </p:nvSpPr>
        <p:spPr>
          <a:xfrm>
            <a:off x="7558217" y="2537443"/>
            <a:ext cx="1672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ea typeface="+mn-ea"/>
              </a:rPr>
              <a:t>分摊工、费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628686-7A42-4021-9399-9D88AB6E5456}"/>
              </a:ext>
            </a:extLst>
          </p:cNvPr>
          <p:cNvSpPr txBox="1"/>
          <p:nvPr/>
        </p:nvSpPr>
        <p:spPr>
          <a:xfrm>
            <a:off x="216630" y="4010760"/>
            <a:ext cx="2721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01</a:t>
            </a:r>
            <a:r>
              <a:rPr lang="zh-CN" altLang="en-US" b="1" dirty="0">
                <a:latin typeface="+mn-ea"/>
                <a:ea typeface="+mn-ea"/>
              </a:rPr>
              <a:t>线、</a:t>
            </a:r>
            <a:r>
              <a:rPr lang="en-US" altLang="zh-CN" b="1" dirty="0">
                <a:latin typeface="+mn-ea"/>
                <a:ea typeface="+mn-ea"/>
              </a:rPr>
              <a:t>03</a:t>
            </a:r>
            <a:r>
              <a:rPr lang="zh-CN" altLang="en-US" b="1" dirty="0">
                <a:latin typeface="+mn-ea"/>
                <a:ea typeface="+mn-ea"/>
              </a:rPr>
              <a:t>线、</a:t>
            </a:r>
            <a:r>
              <a:rPr lang="en-US" altLang="zh-CN" b="1" dirty="0">
                <a:latin typeface="+mn-ea"/>
                <a:ea typeface="+mn-ea"/>
              </a:rPr>
              <a:t>05</a:t>
            </a:r>
            <a:r>
              <a:rPr lang="zh-CN" altLang="en-US" b="1" dirty="0">
                <a:latin typeface="+mn-ea"/>
                <a:ea typeface="+mn-ea"/>
              </a:rPr>
              <a:t>线</a:t>
            </a:r>
            <a:r>
              <a:rPr lang="zh-CN" altLang="en-US" dirty="0">
                <a:latin typeface="+mn-ea"/>
                <a:ea typeface="+mn-ea"/>
              </a:rPr>
              <a:t>晶化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C15AAA-2D85-4D5D-BAD4-A08CB5D879DA}"/>
              </a:ext>
            </a:extLst>
          </p:cNvPr>
          <p:cNvSpPr txBox="1"/>
          <p:nvPr/>
        </p:nvSpPr>
        <p:spPr>
          <a:xfrm>
            <a:off x="288634" y="4986173"/>
            <a:ext cx="209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供应商</a:t>
            </a:r>
            <a:r>
              <a:rPr lang="zh-CN" altLang="en-US" dirty="0">
                <a:latin typeface="+mn-ea"/>
                <a:ea typeface="+mn-ea"/>
              </a:rPr>
              <a:t>切割、减薄</a:t>
            </a:r>
          </a:p>
        </p:txBody>
      </p:sp>
      <p:sp>
        <p:nvSpPr>
          <p:cNvPr id="28" name="箭头: 左 27">
            <a:extLst>
              <a:ext uri="{FF2B5EF4-FFF2-40B4-BE49-F238E27FC236}">
                <a16:creationId xmlns:a16="http://schemas.microsoft.com/office/drawing/2014/main" id="{52AC6CF1-0734-4279-9036-F44D492FA469}"/>
              </a:ext>
            </a:extLst>
          </p:cNvPr>
          <p:cNvSpPr/>
          <p:nvPr/>
        </p:nvSpPr>
        <p:spPr bwMode="auto">
          <a:xfrm>
            <a:off x="8017916" y="4038414"/>
            <a:ext cx="1469377" cy="27739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DA84F0-76BE-4292-868A-C17FB9FAE376}"/>
              </a:ext>
            </a:extLst>
          </p:cNvPr>
          <p:cNvSpPr txBox="1"/>
          <p:nvPr/>
        </p:nvSpPr>
        <p:spPr>
          <a:xfrm>
            <a:off x="7916272" y="3772338"/>
            <a:ext cx="1672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ea typeface="+mn-ea"/>
              </a:rPr>
              <a:t>分摊工、费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5DF599-FD2A-465A-9D71-F3EC332DD1A0}"/>
              </a:ext>
            </a:extLst>
          </p:cNvPr>
          <p:cNvSpPr txBox="1"/>
          <p:nvPr/>
        </p:nvSpPr>
        <p:spPr>
          <a:xfrm>
            <a:off x="9870114" y="3700059"/>
            <a:ext cx="1672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设备动力部、计划物流部、电站、空压站、品质管理部、生产二部</a:t>
            </a:r>
          </a:p>
        </p:txBody>
      </p:sp>
      <p:sp>
        <p:nvSpPr>
          <p:cNvPr id="32" name="箭头: 左 31">
            <a:extLst>
              <a:ext uri="{FF2B5EF4-FFF2-40B4-BE49-F238E27FC236}">
                <a16:creationId xmlns:a16="http://schemas.microsoft.com/office/drawing/2014/main" id="{64038FF4-5041-4212-AE6F-28A8BD5DC902}"/>
              </a:ext>
            </a:extLst>
          </p:cNvPr>
          <p:cNvSpPr/>
          <p:nvPr/>
        </p:nvSpPr>
        <p:spPr bwMode="auto">
          <a:xfrm>
            <a:off x="8629294" y="5103052"/>
            <a:ext cx="857999" cy="27739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A632292-A37E-4588-81AD-DE2475EDF159}"/>
              </a:ext>
            </a:extLst>
          </p:cNvPr>
          <p:cNvSpPr txBox="1"/>
          <p:nvPr/>
        </p:nvSpPr>
        <p:spPr>
          <a:xfrm>
            <a:off x="8037964" y="4562664"/>
            <a:ext cx="1601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ea typeface="+mn-ea"/>
              </a:rPr>
              <a:t>分摊人工、其他费用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36EE024-779B-4F26-A56F-B79E94DD0C2E}"/>
              </a:ext>
            </a:extLst>
          </p:cNvPr>
          <p:cNvSpPr txBox="1"/>
          <p:nvPr/>
        </p:nvSpPr>
        <p:spPr>
          <a:xfrm>
            <a:off x="9870114" y="5087863"/>
            <a:ext cx="16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n-ea"/>
                <a:ea typeface="+mn-ea"/>
              </a:rPr>
              <a:t>CQE</a:t>
            </a:r>
            <a:r>
              <a:rPr lang="zh-CN" altLang="en-US" sz="1400" dirty="0">
                <a:latin typeface="+mn-ea"/>
                <a:ea typeface="+mn-ea"/>
              </a:rPr>
              <a:t>、</a:t>
            </a:r>
            <a:r>
              <a:rPr lang="en-US" altLang="zh-CN" sz="1400" dirty="0">
                <a:latin typeface="+mn-ea"/>
                <a:ea typeface="+mn-ea"/>
              </a:rPr>
              <a:t>SQE</a:t>
            </a:r>
            <a:r>
              <a:rPr lang="zh-CN" altLang="en-US" sz="1400" dirty="0">
                <a:latin typeface="+mn-ea"/>
                <a:ea typeface="+mn-ea"/>
              </a:rPr>
              <a:t>、物流</a:t>
            </a:r>
          </a:p>
        </p:txBody>
      </p:sp>
      <p:sp>
        <p:nvSpPr>
          <p:cNvPr id="35" name="箭头: 左弧形 34">
            <a:extLst>
              <a:ext uri="{FF2B5EF4-FFF2-40B4-BE49-F238E27FC236}">
                <a16:creationId xmlns:a16="http://schemas.microsoft.com/office/drawing/2014/main" id="{42C00ADA-2027-42E7-B177-2F6D343F5EAB}"/>
              </a:ext>
            </a:extLst>
          </p:cNvPr>
          <p:cNvSpPr/>
          <p:nvPr/>
        </p:nvSpPr>
        <p:spPr bwMode="auto">
          <a:xfrm>
            <a:off x="4123218" y="3252597"/>
            <a:ext cx="228600" cy="575473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6" name="箭头: 左弧形 35">
            <a:extLst>
              <a:ext uri="{FF2B5EF4-FFF2-40B4-BE49-F238E27FC236}">
                <a16:creationId xmlns:a16="http://schemas.microsoft.com/office/drawing/2014/main" id="{E67B4F47-142B-44B5-9F49-C5202EC7CE05}"/>
              </a:ext>
            </a:extLst>
          </p:cNvPr>
          <p:cNvSpPr/>
          <p:nvPr/>
        </p:nvSpPr>
        <p:spPr bwMode="auto">
          <a:xfrm>
            <a:off x="3766217" y="4386943"/>
            <a:ext cx="228600" cy="575473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366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411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成本的构成和来源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CDF6DF5-5FF1-4600-A879-3DF3FD65B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14465"/>
              </p:ext>
            </p:extLst>
          </p:nvPr>
        </p:nvGraphicFramePr>
        <p:xfrm>
          <a:off x="578644" y="725487"/>
          <a:ext cx="9936696" cy="5082669"/>
        </p:xfrm>
        <a:graphic>
          <a:graphicData uri="http://schemas.openxmlformats.org/drawingml/2006/table">
            <a:tbl>
              <a:tblPr/>
              <a:tblGrid>
                <a:gridCol w="786358">
                  <a:extLst>
                    <a:ext uri="{9D8B030D-6E8A-4147-A177-3AD203B41FA5}">
                      <a16:colId xmlns:a16="http://schemas.microsoft.com/office/drawing/2014/main" val="269765482"/>
                    </a:ext>
                  </a:extLst>
                </a:gridCol>
                <a:gridCol w="884652">
                  <a:extLst>
                    <a:ext uri="{9D8B030D-6E8A-4147-A177-3AD203B41FA5}">
                      <a16:colId xmlns:a16="http://schemas.microsoft.com/office/drawing/2014/main" val="1088034628"/>
                    </a:ext>
                  </a:extLst>
                </a:gridCol>
                <a:gridCol w="884652">
                  <a:extLst>
                    <a:ext uri="{9D8B030D-6E8A-4147-A177-3AD203B41FA5}">
                      <a16:colId xmlns:a16="http://schemas.microsoft.com/office/drawing/2014/main" val="2852803252"/>
                    </a:ext>
                  </a:extLst>
                </a:gridCol>
                <a:gridCol w="884652">
                  <a:extLst>
                    <a:ext uri="{9D8B030D-6E8A-4147-A177-3AD203B41FA5}">
                      <a16:colId xmlns:a16="http://schemas.microsoft.com/office/drawing/2014/main" val="300756471"/>
                    </a:ext>
                  </a:extLst>
                </a:gridCol>
                <a:gridCol w="738699">
                  <a:extLst>
                    <a:ext uri="{9D8B030D-6E8A-4147-A177-3AD203B41FA5}">
                      <a16:colId xmlns:a16="http://schemas.microsoft.com/office/drawing/2014/main" val="4011103504"/>
                    </a:ext>
                  </a:extLst>
                </a:gridCol>
                <a:gridCol w="956138">
                  <a:extLst>
                    <a:ext uri="{9D8B030D-6E8A-4147-A177-3AD203B41FA5}">
                      <a16:colId xmlns:a16="http://schemas.microsoft.com/office/drawing/2014/main" val="1206578709"/>
                    </a:ext>
                  </a:extLst>
                </a:gridCol>
                <a:gridCol w="738699">
                  <a:extLst>
                    <a:ext uri="{9D8B030D-6E8A-4147-A177-3AD203B41FA5}">
                      <a16:colId xmlns:a16="http://schemas.microsoft.com/office/drawing/2014/main" val="2516431101"/>
                    </a:ext>
                  </a:extLst>
                </a:gridCol>
                <a:gridCol w="905503">
                  <a:extLst>
                    <a:ext uri="{9D8B030D-6E8A-4147-A177-3AD203B41FA5}">
                      <a16:colId xmlns:a16="http://schemas.microsoft.com/office/drawing/2014/main" val="2263416194"/>
                    </a:ext>
                  </a:extLst>
                </a:gridCol>
                <a:gridCol w="1668030">
                  <a:extLst>
                    <a:ext uri="{9D8B030D-6E8A-4147-A177-3AD203B41FA5}">
                      <a16:colId xmlns:a16="http://schemas.microsoft.com/office/drawing/2014/main" val="500667531"/>
                    </a:ext>
                  </a:extLst>
                </a:gridCol>
                <a:gridCol w="1489313">
                  <a:extLst>
                    <a:ext uri="{9D8B030D-6E8A-4147-A177-3AD203B41FA5}">
                      <a16:colId xmlns:a16="http://schemas.microsoft.com/office/drawing/2014/main" val="1507831213"/>
                    </a:ext>
                  </a:extLst>
                </a:gridCol>
              </a:tblGrid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直接材料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直接人工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折旧费用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燃料动力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其他费用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17852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材料成本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折旧费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固定资产折旧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办公费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563016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水费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包装材料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129440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绩效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天然气费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保密管理经费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900559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液氧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备品备件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98609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低值易耗品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394974"/>
                  </a:ext>
                </a:extLst>
              </a:tr>
              <a:tr h="36878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其他福利费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会务费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028615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会员费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付款单、费用报销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263809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加工费（设备及材料）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标准应付单、费用报销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342431"/>
                  </a:ext>
                </a:extLst>
              </a:tr>
              <a:tr h="36878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外包劳务费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检测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认证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验证费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标准应付、费用应付、费用报销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370643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111509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境外差旅费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603352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员工交通车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培训费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100825"/>
                  </a:ext>
                </a:extLst>
              </a:tr>
              <a:tr h="36878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员工宿舍费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付款单、费用报销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标准应付、费用报销、其他应付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619584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手工计提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市内交通费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费用应付、费用报销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593516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团建费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费用报销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06327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无形资产摊销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计提折旧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583695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物流费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66775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原材料</a:t>
                      </a: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粉料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527023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原材料</a:t>
                      </a: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熔砖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252913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运维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修理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保养费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标准应付、费用应付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841155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长期费用摊销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长期待摊费用摊销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41927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租赁费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计提折旧、费用应付</a:t>
                      </a:r>
                    </a:p>
                  </a:txBody>
                  <a:tcPr marL="10110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188476"/>
                  </a:ext>
                </a:extLst>
              </a:tr>
              <a:tr h="1893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8425" marR="8425" marT="84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23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61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617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原料部混合原料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4F31E-358E-44E4-8664-D105AEC8D167}"/>
              </a:ext>
            </a:extLst>
          </p:cNvPr>
          <p:cNvSpPr txBox="1"/>
          <p:nvPr/>
        </p:nvSpPr>
        <p:spPr>
          <a:xfrm>
            <a:off x="6065044" y="1375097"/>
            <a:ext cx="464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直接材料来源：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原料部依据</a:t>
            </a:r>
            <a:r>
              <a:rPr lang="en-US" altLang="zh-CN" sz="1600" dirty="0">
                <a:latin typeface="+mn-ea"/>
                <a:ea typeface="+mn-ea"/>
              </a:rPr>
              <a:t>BOM</a:t>
            </a:r>
            <a:r>
              <a:rPr lang="zh-CN" altLang="en-US" sz="1600" dirty="0">
                <a:latin typeface="+mn-ea"/>
                <a:ea typeface="+mn-ea"/>
              </a:rPr>
              <a:t>表创建的生产领补退单据，原材料的成本，包含大宗材料。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工、费来源：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自身费用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设备动力部分摊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设备动力部为原料部提供服务</a:t>
            </a:r>
            <a:endParaRPr lang="en-US" altLang="zh-CN" sz="1600" dirty="0">
              <a:latin typeface="+mn-ea"/>
              <a:ea typeface="+mn-ea"/>
            </a:endParaRPr>
          </a:p>
          <a:p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成本结构：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原料部</a:t>
            </a:r>
            <a:r>
              <a:rPr lang="zh-CN" altLang="en-US" sz="1600" dirty="0">
                <a:latin typeface="+mn-ea"/>
                <a:ea typeface="+mn-ea"/>
              </a:rPr>
              <a:t>费用中，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直接材料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83%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直接人工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10%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；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>
              <a:lnSpc>
                <a:spcPts val="1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设备动力部</a:t>
            </a:r>
            <a:r>
              <a:rPr lang="zh-CN" altLang="en-US" sz="1600" dirty="0">
                <a:latin typeface="+mn-ea"/>
                <a:ea typeface="+mn-ea"/>
              </a:rPr>
              <a:t>分摊费用占总成本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8%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其中，</a:t>
            </a:r>
            <a:r>
              <a:rPr lang="zh-CN" altLang="en-US" sz="1600" b="1" dirty="0">
                <a:latin typeface="+mn-ea"/>
                <a:ea typeface="+mn-ea"/>
              </a:rPr>
              <a:t>折旧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54%</a:t>
            </a:r>
            <a:r>
              <a:rPr lang="zh-CN" altLang="en-US" sz="1600" dirty="0">
                <a:latin typeface="+mn-ea"/>
                <a:ea typeface="+mn-ea"/>
              </a:rPr>
              <a:t> 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人工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30%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工资占比最高，接近一半。</a:t>
            </a:r>
            <a:endParaRPr lang="en-US" altLang="zh-CN" sz="1600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C0C8F4-A26C-4B69-8B3B-DBB36A282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156880"/>
              </p:ext>
            </p:extLst>
          </p:nvPr>
        </p:nvGraphicFramePr>
        <p:xfrm>
          <a:off x="654845" y="649287"/>
          <a:ext cx="5181599" cy="5512708"/>
        </p:xfrm>
        <a:graphic>
          <a:graphicData uri="http://schemas.openxmlformats.org/drawingml/2006/table">
            <a:tbl>
              <a:tblPr/>
              <a:tblGrid>
                <a:gridCol w="1389954">
                  <a:extLst>
                    <a:ext uri="{9D8B030D-6E8A-4147-A177-3AD203B41FA5}">
                      <a16:colId xmlns:a16="http://schemas.microsoft.com/office/drawing/2014/main" val="2801986525"/>
                    </a:ext>
                  </a:extLst>
                </a:gridCol>
                <a:gridCol w="1389954">
                  <a:extLst>
                    <a:ext uri="{9D8B030D-6E8A-4147-A177-3AD203B41FA5}">
                      <a16:colId xmlns:a16="http://schemas.microsoft.com/office/drawing/2014/main" val="534550261"/>
                    </a:ext>
                  </a:extLst>
                </a:gridCol>
                <a:gridCol w="1389954">
                  <a:extLst>
                    <a:ext uri="{9D8B030D-6E8A-4147-A177-3AD203B41FA5}">
                      <a16:colId xmlns:a16="http://schemas.microsoft.com/office/drawing/2014/main" val="3928802772"/>
                    </a:ext>
                  </a:extLst>
                </a:gridCol>
                <a:gridCol w="1011737">
                  <a:extLst>
                    <a:ext uri="{9D8B030D-6E8A-4147-A177-3AD203B41FA5}">
                      <a16:colId xmlns:a16="http://schemas.microsoft.com/office/drawing/2014/main" val="4276727025"/>
                    </a:ext>
                  </a:extLst>
                </a:gridCol>
              </a:tblGrid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项目名称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原料部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设备动力部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总计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91835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其他费用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4,319.01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14,137.14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18,456.15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04605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办公费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341.36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60.98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402.34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16249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备品备件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318.82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318.82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899497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低值易耗品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595.49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595.49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661889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检测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认证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验证费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200.70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200.70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37012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1,924.41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1,924.41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9304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3,559.78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3,559.78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819777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运维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修理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保养费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3,977.65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7,476.96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11,454.61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42464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燃料动力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7,771.37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14,471.54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22,242.91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784523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7,771.37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14,471.54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22,242.91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83287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折旧费用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146,869.19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98,571.28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245,440.47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064432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折旧费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146,869.19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98,571.28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245,440.47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4839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直接人工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206,169.75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55,037.96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261,207.71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86593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1,115.84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290.91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1,406.75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521239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76,628.68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28,361.03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104,989.71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725954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绩效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18,296.22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6,528.64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24,824.86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755080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45,852.81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8,000.93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53,853.74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30331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3,400.00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1,357.91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4,757.91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739382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348.80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90.93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439.73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977822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6,422.80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2,995.36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9,418.16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57161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外包劳务费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30,981.00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30,981.00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247468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11,159.04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2,909.19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14,068.23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933986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6,974.56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1,818.27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8,792.83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495543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员工交通车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508.00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339.48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847.48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212467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员工宿舍费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1,800.00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1,517.72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3,317.72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04433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92972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2,682.00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827.59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3,509.59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48358"/>
                  </a:ext>
                </a:extLst>
              </a:tr>
              <a:tr h="18974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直接材料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1,769,965.50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1,769,965.50 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755629"/>
                  </a:ext>
                </a:extLst>
              </a:tr>
              <a:tr h="19973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总计</a:t>
                      </a:r>
                    </a:p>
                  </a:txBody>
                  <a:tcPr marL="7748" marR="7748" marT="77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fontAlgn="ctr"/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2135094.82</a:t>
                      </a:r>
                    </a:p>
                  </a:txBody>
                  <a:tcPr marL="0" marR="21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182217.92</a:t>
                      </a:r>
                    </a:p>
                  </a:txBody>
                  <a:tcPr marL="0" marR="21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2317312.74</a:t>
                      </a:r>
                    </a:p>
                  </a:txBody>
                  <a:tcPr marL="0" marR="180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4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30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411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KM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线压延成型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D1EE526-9463-48AA-8F9B-FF6243115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552688"/>
              </p:ext>
            </p:extLst>
          </p:nvPr>
        </p:nvGraphicFramePr>
        <p:xfrm>
          <a:off x="1112044" y="573142"/>
          <a:ext cx="8915399" cy="5791146"/>
        </p:xfrm>
        <a:graphic>
          <a:graphicData uri="http://schemas.openxmlformats.org/drawingml/2006/table">
            <a:tbl>
              <a:tblPr/>
              <a:tblGrid>
                <a:gridCol w="575320">
                  <a:extLst>
                    <a:ext uri="{9D8B030D-6E8A-4147-A177-3AD203B41FA5}">
                      <a16:colId xmlns:a16="http://schemas.microsoft.com/office/drawing/2014/main" val="965078745"/>
                    </a:ext>
                  </a:extLst>
                </a:gridCol>
                <a:gridCol w="733531">
                  <a:extLst>
                    <a:ext uri="{9D8B030D-6E8A-4147-A177-3AD203B41FA5}">
                      <a16:colId xmlns:a16="http://schemas.microsoft.com/office/drawing/2014/main" val="2671142417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1313080353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2490211127"/>
                    </a:ext>
                  </a:extLst>
                </a:gridCol>
                <a:gridCol w="550663">
                  <a:extLst>
                    <a:ext uri="{9D8B030D-6E8A-4147-A177-3AD203B41FA5}">
                      <a16:colId xmlns:a16="http://schemas.microsoft.com/office/drawing/2014/main" val="2757625563"/>
                    </a:ext>
                  </a:extLst>
                </a:gridCol>
                <a:gridCol w="585594">
                  <a:extLst>
                    <a:ext uri="{9D8B030D-6E8A-4147-A177-3AD203B41FA5}">
                      <a16:colId xmlns:a16="http://schemas.microsoft.com/office/drawing/2014/main" val="1958674722"/>
                    </a:ext>
                  </a:extLst>
                </a:gridCol>
                <a:gridCol w="517788">
                  <a:extLst>
                    <a:ext uri="{9D8B030D-6E8A-4147-A177-3AD203B41FA5}">
                      <a16:colId xmlns:a16="http://schemas.microsoft.com/office/drawing/2014/main" val="2301887470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2767357803"/>
                    </a:ext>
                  </a:extLst>
                </a:gridCol>
                <a:gridCol w="542446">
                  <a:extLst>
                    <a:ext uri="{9D8B030D-6E8A-4147-A177-3AD203B41FA5}">
                      <a16:colId xmlns:a16="http://schemas.microsoft.com/office/drawing/2014/main" val="2042464743"/>
                    </a:ext>
                  </a:extLst>
                </a:gridCol>
                <a:gridCol w="616415">
                  <a:extLst>
                    <a:ext uri="{9D8B030D-6E8A-4147-A177-3AD203B41FA5}">
                      <a16:colId xmlns:a16="http://schemas.microsoft.com/office/drawing/2014/main" val="2838226200"/>
                    </a:ext>
                  </a:extLst>
                </a:gridCol>
                <a:gridCol w="558883">
                  <a:extLst>
                    <a:ext uri="{9D8B030D-6E8A-4147-A177-3AD203B41FA5}">
                      <a16:colId xmlns:a16="http://schemas.microsoft.com/office/drawing/2014/main" val="3927415513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2057644032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2608109386"/>
                    </a:ext>
                  </a:extLst>
                </a:gridCol>
                <a:gridCol w="583538">
                  <a:extLst>
                    <a:ext uri="{9D8B030D-6E8A-4147-A177-3AD203B41FA5}">
                      <a16:colId xmlns:a16="http://schemas.microsoft.com/office/drawing/2014/main" val="1180749614"/>
                    </a:ext>
                  </a:extLst>
                </a:gridCol>
                <a:gridCol w="733531">
                  <a:extLst>
                    <a:ext uri="{9D8B030D-6E8A-4147-A177-3AD203B41FA5}">
                      <a16:colId xmlns:a16="http://schemas.microsoft.com/office/drawing/2014/main" val="1479988811"/>
                    </a:ext>
                  </a:extLst>
                </a:gridCol>
              </a:tblGrid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费用项目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KM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线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仓储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氮氧站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计划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计划物流部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空压站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品控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品质管理部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设备动力部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生产技术部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生产一部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水站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物流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9617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其他费用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119,223.56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74,066.61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25.87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351.97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39,188.97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4,353.99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5,244.65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284.62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242,740.24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040665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办公费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28.66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169.03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11.08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193.06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405.32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549529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保密管理经费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25.04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10.98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14.70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160.00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210.72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970525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备品备件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19,601.65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883.77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208.93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20,694.35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798316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低值易耗品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94.69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1,650.72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359.37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2,104.78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478636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加工费（设备及材料）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1,886.82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1,886.82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188539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检测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认证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验证费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556.36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556.36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560143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境内差旅费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24.75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269.93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5,334.57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1,634.43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1,751.60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9,015.28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931323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培训费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-139.75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-139.75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100387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其他服务费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10,311.93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9,867.94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44.52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20,273.86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189140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无形资产摊销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158.59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1,356.91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1,515.50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104310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物流费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19,516.41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18.17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3,095.47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22,635.01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778472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运维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修理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保养费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76,314.44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12,940.70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20,726.58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720.65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110,702.37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968674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长期费用摊销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11,014.03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284.62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11,298.65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573442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租赁费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41,580.97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41,580.97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6474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燃料动力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488,198.03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8,528.13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807.30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40,115.94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537,649.40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814453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电费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17,933.50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8,528.13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807.30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40,115.94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67,384.87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953091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水费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10,692.82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10,692.82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080886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天然气费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279,449.25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279,449.25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766433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液氧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180,122.46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180,122.46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99649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折旧费用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828,482.77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923.38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151.51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13.30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21,801.44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748.49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1,483.87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273,245.39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728.04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12,790.20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146.13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1,140,514.52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3197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折旧费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828,482.77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923.38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151.51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13.30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21,801.44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748.49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1,483.87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273,245.39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728.04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12,790.20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146.13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1,140,514.52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223952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直接人工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281,072.90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13,721.75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74,272.37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7,877.99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8,178.91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7,536.77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12,597.13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10,568.86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152,568.45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42,888.96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66,472.39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14,565.33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11,800.78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704,122.59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86012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工伤保险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1,673.76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96.07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649.01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69.21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70.92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19.70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806.41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96.71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283.06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147.12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78.58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4,103.95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62668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工资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115,704.24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8,056.97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39,046.62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5,824.24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2,573.12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3,727.46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7,001.32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4,322.15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78,618.44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18,238.25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25,122.00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8,179.15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5,840.56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322,254.52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490117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绩效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3,917.63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3,078.96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18,097.78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3,044.35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26,377.04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54,515.76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918047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加班费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75,433.44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2,367.80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22,309.88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282.10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460.55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2,397.90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2,650.52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380.60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22,179.05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1,976.22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1,658.85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3,458.31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3,679.34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139,234.56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409586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奖金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2,000.00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450.77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125.21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164.59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109.73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3,764.21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257.25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6,871.76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69310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失业保险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523.20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30.02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202.87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21.62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22.17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32.32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252.05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34.23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88.48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45.99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24.58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1,286.81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818830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食堂餐费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10,730.00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904.93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249.17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332.78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665.72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221.39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8,303.33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455.81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3,167.00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674.65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25,704.78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555784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外包劳务费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43,184.86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52.07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1,436.41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16,291.27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60,964.61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695268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养老保险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16,738.56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960.62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6,490.46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692.07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100.17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709.26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1,034.02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196.96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8,064.44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1,095.31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2,830.78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1,471.31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785.96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41,169.92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56857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医疗保险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10,461.84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600.40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4,056.63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432.55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62.61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443.30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646.28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123.10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5,040.36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604.48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1,769.28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919.59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491.23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25,651.65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932846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员工交通车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76.39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89.21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941.05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772.00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1,960.78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166911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员工宿舍费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527.85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495.28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4,207.19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415.13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3,877.90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9,523.35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11332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住房公积金 </a:t>
                      </a:r>
                    </a:p>
                  </a:txBody>
                  <a:tcPr marL="6072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4,623.00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254.17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1,516.90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181.82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62.61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165.76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298.97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89.21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2,294.14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297.82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526.00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343.86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225.88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10,880.14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05401"/>
                  </a:ext>
                </a:extLst>
              </a:tr>
              <a:tr h="1381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直接材料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379,193.81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379,193.81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860723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2,096,171.07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14,645.13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74,423.88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7,891.29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112,575.09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7,536.77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13,371.49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13,212.00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505,118.75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47,970.99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84,507.24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14,565.33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12,231.53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3,004,220.56 </a:t>
                      </a:r>
                    </a:p>
                  </a:txBody>
                  <a:tcPr marL="5060" marR="5060" marT="50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723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88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411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KM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AF0403-C13B-4732-8264-F383B306C2C7}"/>
              </a:ext>
            </a:extLst>
          </p:cNvPr>
          <p:cNvSpPr txBox="1"/>
          <p:nvPr/>
        </p:nvSpPr>
        <p:spPr>
          <a:xfrm>
            <a:off x="1112044" y="1270316"/>
            <a:ext cx="4648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直接材料来源：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en-US" altLang="zh-CN" sz="1600" dirty="0">
                <a:latin typeface="+mn-ea"/>
                <a:ea typeface="+mn-ea"/>
              </a:rPr>
              <a:t>KM</a:t>
            </a:r>
            <a:r>
              <a:rPr lang="zh-CN" altLang="en-US" sz="1600" dirty="0">
                <a:latin typeface="+mn-ea"/>
                <a:ea typeface="+mn-ea"/>
              </a:rPr>
              <a:t>线部门依据</a:t>
            </a:r>
            <a:r>
              <a:rPr lang="en-US" altLang="zh-CN" sz="1600" dirty="0">
                <a:latin typeface="+mn-ea"/>
                <a:ea typeface="+mn-ea"/>
              </a:rPr>
              <a:t>BOM</a:t>
            </a:r>
            <a:r>
              <a:rPr lang="zh-CN" altLang="en-US" sz="1600" dirty="0">
                <a:latin typeface="+mn-ea"/>
                <a:ea typeface="+mn-ea"/>
              </a:rPr>
              <a:t>表创建的生产领补退单据，</a:t>
            </a:r>
            <a:r>
              <a:rPr lang="en-US" altLang="zh-CN" sz="1600" dirty="0">
                <a:latin typeface="+mn-ea"/>
                <a:ea typeface="+mn-ea"/>
              </a:rPr>
              <a:t>KM946</a:t>
            </a:r>
            <a:r>
              <a:rPr lang="zh-CN" altLang="en-US" sz="1600" dirty="0">
                <a:latin typeface="+mn-ea"/>
                <a:ea typeface="+mn-ea"/>
              </a:rPr>
              <a:t>混合料所承担的成本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直接材料费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加工费中的材料成本</a:t>
            </a:r>
            <a:r>
              <a:rPr lang="en-US" altLang="zh-CN" sz="1600" dirty="0">
                <a:latin typeface="+mn-ea"/>
                <a:ea typeface="+mn-ea"/>
              </a:rPr>
              <a:t>)</a:t>
            </a:r>
            <a:r>
              <a:rPr lang="zh-CN" altLang="en-US" sz="1600" dirty="0">
                <a:latin typeface="+mn-ea"/>
                <a:ea typeface="+mn-ea"/>
              </a:rPr>
              <a:t>、包装物、干燥剂。</a:t>
            </a:r>
            <a:endParaRPr lang="en-US" altLang="zh-CN" sz="1600" dirty="0">
              <a:latin typeface="+mn-ea"/>
              <a:ea typeface="+mn-ea"/>
            </a:endParaRPr>
          </a:p>
          <a:p>
            <a:pPr lvl="0"/>
            <a:r>
              <a:rPr lang="zh-CN" altLang="en-US" b="1" dirty="0">
                <a:solidFill>
                  <a:srgbClr val="000000"/>
                </a:solidFill>
                <a:latin typeface="微软雅黑"/>
                <a:ea typeface="微软雅黑"/>
              </a:rPr>
              <a:t>工、费来源：</a:t>
            </a:r>
            <a:endParaRPr lang="en-US" altLang="zh-CN" b="1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自身费用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其他部门分摊</a:t>
            </a:r>
            <a:endParaRPr lang="en-US" altLang="zh-CN" sz="1600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成本结构：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总成本中，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en-US" altLang="zh-CN" sz="1600" b="1" dirty="0">
                <a:solidFill>
                  <a:srgbClr val="102FA9"/>
                </a:solidFill>
                <a:latin typeface="+mn-ea"/>
                <a:ea typeface="+mn-ea"/>
              </a:rPr>
              <a:t>KM</a:t>
            </a:r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线</a:t>
            </a:r>
            <a:r>
              <a:rPr lang="zh-CN" altLang="en-US" sz="1600" b="1" dirty="0">
                <a:latin typeface="+mn-ea"/>
                <a:ea typeface="+mn-ea"/>
              </a:rPr>
              <a:t>折旧</a:t>
            </a:r>
            <a:r>
              <a:rPr lang="zh-CN" altLang="en-US" sz="1600" dirty="0">
                <a:latin typeface="+mn-ea"/>
                <a:ea typeface="+mn-ea"/>
              </a:rPr>
              <a:t>占比最高，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28%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燃动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16%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材料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13%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；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>
              <a:lnSpc>
                <a:spcPts val="1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设备动力部</a:t>
            </a:r>
            <a:r>
              <a:rPr lang="zh-CN" altLang="en-US" sz="1600" dirty="0">
                <a:latin typeface="+mn-ea"/>
                <a:ea typeface="+mn-ea"/>
              </a:rPr>
              <a:t>分摊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17%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其中</a:t>
            </a:r>
            <a:r>
              <a:rPr lang="zh-CN" altLang="en-US" sz="1600" b="1" dirty="0">
                <a:latin typeface="+mn-ea"/>
                <a:ea typeface="+mn-ea"/>
              </a:rPr>
              <a:t>折旧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9%</a:t>
            </a:r>
            <a:r>
              <a:rPr lang="zh-CN" altLang="en-US" sz="1600" dirty="0">
                <a:latin typeface="+mn-ea"/>
                <a:ea typeface="+mn-ea"/>
              </a:rPr>
              <a:t> 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人工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5%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7F1A41-84AC-426D-B13D-203493AD82F3}"/>
              </a:ext>
            </a:extLst>
          </p:cNvPr>
          <p:cNvSpPr txBox="1"/>
          <p:nvPr/>
        </p:nvSpPr>
        <p:spPr>
          <a:xfrm>
            <a:off x="6141244" y="1224150"/>
            <a:ext cx="4114800" cy="427809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4"/>
                </a:solidFill>
                <a:latin typeface="+mn-ea"/>
                <a:ea typeface="+mn-ea"/>
              </a:rPr>
              <a:t>分摊部门的作用：</a:t>
            </a:r>
            <a:endParaRPr lang="en-US" altLang="zh-CN" sz="1600" b="1" dirty="0">
              <a:solidFill>
                <a:schemeClr val="accent4"/>
              </a:solidFill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设备动力部：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保障设备运行和动力能源稳定；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生产技术部：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对产线负责；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氮氧站、水站、电站、空压站：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辅助生产，提供燃动；</a:t>
            </a:r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品控、品质管理部：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负责厂内来料、制程、及出货品质管理；</a:t>
            </a:r>
          </a:p>
          <a:p>
            <a:r>
              <a:rPr lang="zh-CN" altLang="en-US" sz="1600" b="1" dirty="0">
                <a:latin typeface="+mn-ea"/>
                <a:ea typeface="+mn-ea"/>
              </a:rPr>
              <a:t>生产一部：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量产产线</a:t>
            </a:r>
            <a:r>
              <a:rPr lang="en-US" altLang="zh-CN" sz="1600" dirty="0">
                <a:latin typeface="+mn-ea"/>
                <a:ea typeface="+mn-ea"/>
              </a:rPr>
              <a:t>04</a:t>
            </a:r>
            <a:r>
              <a:rPr lang="zh-CN" altLang="en-US" sz="1600" dirty="0">
                <a:latin typeface="+mn-ea"/>
                <a:ea typeface="+mn-ea"/>
              </a:rPr>
              <a:t>线、</a:t>
            </a:r>
            <a:r>
              <a:rPr lang="en-US" altLang="zh-CN" sz="1600" dirty="0">
                <a:latin typeface="+mn-ea"/>
                <a:ea typeface="+mn-ea"/>
              </a:rPr>
              <a:t>KM</a:t>
            </a:r>
            <a:r>
              <a:rPr lang="zh-CN" altLang="en-US" sz="1600" dirty="0">
                <a:latin typeface="+mn-ea"/>
                <a:ea typeface="+mn-ea"/>
              </a:rPr>
              <a:t>线的安全生产；</a:t>
            </a:r>
            <a:endParaRPr lang="zh-CN" altLang="en-US" sz="1600" b="1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生产二部：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量产产线</a:t>
            </a:r>
            <a:r>
              <a:rPr lang="en-US" altLang="zh-CN" sz="1600" dirty="0">
                <a:latin typeface="+mn-ea"/>
                <a:ea typeface="+mn-ea"/>
              </a:rPr>
              <a:t>01</a:t>
            </a:r>
            <a:r>
              <a:rPr lang="zh-CN" altLang="en-US" sz="1600" dirty="0">
                <a:latin typeface="+mn-ea"/>
                <a:ea typeface="+mn-ea"/>
              </a:rPr>
              <a:t>线、</a:t>
            </a:r>
            <a:r>
              <a:rPr lang="en-US" altLang="zh-CN" sz="1600" dirty="0">
                <a:latin typeface="+mn-ea"/>
                <a:ea typeface="+mn-ea"/>
              </a:rPr>
              <a:t>03</a:t>
            </a:r>
            <a:r>
              <a:rPr lang="zh-CN" altLang="en-US" sz="1600" dirty="0">
                <a:latin typeface="+mn-ea"/>
                <a:ea typeface="+mn-ea"/>
              </a:rPr>
              <a:t>线、</a:t>
            </a:r>
            <a:r>
              <a:rPr lang="en-US" altLang="zh-CN" sz="1600" dirty="0">
                <a:latin typeface="+mn-ea"/>
                <a:ea typeface="+mn-ea"/>
              </a:rPr>
              <a:t>05</a:t>
            </a:r>
            <a:r>
              <a:rPr lang="zh-CN" altLang="en-US" sz="1600" dirty="0">
                <a:latin typeface="+mn-ea"/>
                <a:ea typeface="+mn-ea"/>
              </a:rPr>
              <a:t>线的安全生产；</a:t>
            </a:r>
            <a:endParaRPr lang="zh-CN" altLang="en-US" sz="1600" b="1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计划、仓储、计划物流部：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负责供应、生产、销售的计划统筹与调度；</a:t>
            </a:r>
            <a:endParaRPr lang="zh-CN" altLang="en-US" sz="1600" b="1" dirty="0">
              <a:latin typeface="+mn-ea"/>
              <a:ea typeface="+mn-ea"/>
            </a:endParaRPr>
          </a:p>
          <a:p>
            <a:r>
              <a:rPr lang="en-US" altLang="zh-CN" sz="1600" b="1" dirty="0">
                <a:latin typeface="+mn-ea"/>
                <a:ea typeface="+mn-ea"/>
              </a:rPr>
              <a:t>CQE</a:t>
            </a:r>
            <a:r>
              <a:rPr lang="zh-CN" altLang="en-US" sz="1600" b="1" dirty="0">
                <a:latin typeface="+mn-ea"/>
                <a:ea typeface="+mn-ea"/>
              </a:rPr>
              <a:t>、</a:t>
            </a:r>
            <a:r>
              <a:rPr lang="en-US" altLang="zh-CN" sz="1600" b="1" dirty="0">
                <a:latin typeface="+mn-ea"/>
                <a:ea typeface="+mn-ea"/>
              </a:rPr>
              <a:t>SQE</a:t>
            </a:r>
            <a:r>
              <a:rPr lang="zh-CN" altLang="en-US" sz="1600" b="1" dirty="0">
                <a:latin typeface="+mn-ea"/>
                <a:ea typeface="+mn-ea"/>
              </a:rPr>
              <a:t>、仓储物流：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dirty="0">
                <a:latin typeface="+mn-ea"/>
                <a:ea typeface="+mn-ea"/>
              </a:rPr>
              <a:t>对接客户、供应商，产品运输。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DDDF80-A728-490D-BCE5-DB453199004E}"/>
              </a:ext>
            </a:extLst>
          </p:cNvPr>
          <p:cNvSpPr txBox="1"/>
          <p:nvPr/>
        </p:nvSpPr>
        <p:spPr>
          <a:xfrm>
            <a:off x="1035844" y="5678487"/>
            <a:ext cx="487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注：加工费非委外加工，指生产工序产生的分摊费用</a:t>
            </a:r>
          </a:p>
        </p:txBody>
      </p:sp>
    </p:spTree>
    <p:extLst>
      <p:ext uri="{BB962C8B-B14F-4D97-AF65-F5344CB8AC3E}">
        <p14:creationId xmlns:p14="http://schemas.microsoft.com/office/powerpoint/2010/main" val="444853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381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05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线晶化</a:t>
            </a:r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-</a:t>
            </a:r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9592A5-26EC-431D-9FEB-E1B5F10FA8D5}"/>
              </a:ext>
            </a:extLst>
          </p:cNvPr>
          <p:cNvSpPr txBox="1"/>
          <p:nvPr/>
        </p:nvSpPr>
        <p:spPr>
          <a:xfrm>
            <a:off x="6888777" y="1106487"/>
            <a:ext cx="4510267" cy="4411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直接材料来源：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en-US" altLang="zh-CN" sz="1600" dirty="0">
                <a:latin typeface="+mn-ea"/>
                <a:ea typeface="+mn-ea"/>
              </a:rPr>
              <a:t>05</a:t>
            </a:r>
            <a:r>
              <a:rPr lang="zh-CN" altLang="en-US" sz="1600" dirty="0">
                <a:latin typeface="+mn-ea"/>
                <a:ea typeface="+mn-ea"/>
              </a:rPr>
              <a:t>线部门创建生产领补退单据，领用玻璃原片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直接材料费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加工费的材料成本</a:t>
            </a:r>
            <a:r>
              <a:rPr lang="en-US" altLang="zh-CN" sz="1600" dirty="0">
                <a:latin typeface="+mn-ea"/>
                <a:ea typeface="+mn-ea"/>
              </a:rPr>
              <a:t>) 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lvl="0"/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工、费来源：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自身费用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其他部门分摊</a:t>
            </a:r>
            <a:endParaRPr lang="en-US" altLang="zh-CN" sz="1600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成本结构：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总成本中，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en-US" altLang="zh-CN" sz="1600" b="1" dirty="0">
                <a:solidFill>
                  <a:srgbClr val="102FA9"/>
                </a:solidFill>
                <a:latin typeface="+mn-ea"/>
                <a:ea typeface="+mn-ea"/>
              </a:rPr>
              <a:t>05</a:t>
            </a:r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线</a:t>
            </a:r>
            <a:r>
              <a:rPr lang="zh-CN" altLang="en-US" sz="1600" b="1" dirty="0">
                <a:latin typeface="+mn-ea"/>
                <a:ea typeface="+mn-ea"/>
              </a:rPr>
              <a:t>材料</a:t>
            </a:r>
            <a:r>
              <a:rPr lang="zh-CN" altLang="en-US" sz="1600" dirty="0">
                <a:latin typeface="+mn-ea"/>
                <a:ea typeface="+mn-ea"/>
              </a:rPr>
              <a:t>占比最高，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49%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燃动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17%</a:t>
            </a:r>
            <a:r>
              <a:rPr lang="zh-CN" altLang="en-US" sz="1600" dirty="0">
                <a:latin typeface="+mn-ea"/>
                <a:ea typeface="+mn-ea"/>
              </a:rPr>
              <a:t>；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>
              <a:lnSpc>
                <a:spcPts val="1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设备动力部</a:t>
            </a:r>
            <a:r>
              <a:rPr lang="zh-CN" altLang="en-US" sz="1600" dirty="0">
                <a:latin typeface="+mn-ea"/>
                <a:ea typeface="+mn-ea"/>
              </a:rPr>
              <a:t>分摊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8%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其中</a:t>
            </a:r>
            <a:r>
              <a:rPr lang="zh-CN" altLang="en-US" sz="1600" b="1" dirty="0">
                <a:latin typeface="+mn-ea"/>
                <a:ea typeface="+mn-ea"/>
              </a:rPr>
              <a:t>折旧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4%</a:t>
            </a:r>
            <a:r>
              <a:rPr lang="zh-CN" altLang="en-US" sz="1600" dirty="0">
                <a:latin typeface="+mn-ea"/>
                <a:ea typeface="+mn-ea"/>
              </a:rPr>
              <a:t> 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人工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2%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solidFill>
                  <a:srgbClr val="102FA9"/>
                </a:solidFill>
                <a:latin typeface="+mn-ea"/>
                <a:ea typeface="+mn-ea"/>
              </a:rPr>
              <a:t>；</a:t>
            </a:r>
            <a:endParaRPr lang="en-US" altLang="zh-CN" sz="1600" dirty="0">
              <a:solidFill>
                <a:srgbClr val="102FA9"/>
              </a:solidFill>
              <a:latin typeface="+mn-ea"/>
              <a:ea typeface="+mn-ea"/>
            </a:endParaRPr>
          </a:p>
          <a:p>
            <a:pPr indent="216000">
              <a:lnSpc>
                <a:spcPts val="1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生产二部按固定比例</a:t>
            </a:r>
            <a:r>
              <a:rPr lang="zh-CN" altLang="en-US" sz="1600" dirty="0">
                <a:latin typeface="+mn-ea"/>
                <a:ea typeface="+mn-ea"/>
              </a:rPr>
              <a:t>分摊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7%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其中</a:t>
            </a:r>
            <a:r>
              <a:rPr lang="zh-CN" altLang="en-US" sz="1600" b="1" dirty="0">
                <a:latin typeface="+mn-ea"/>
                <a:ea typeface="+mn-ea"/>
              </a:rPr>
              <a:t>运维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3%</a:t>
            </a:r>
            <a:r>
              <a:rPr lang="zh-CN" altLang="en-US" sz="1600" dirty="0">
                <a:latin typeface="+mn-ea"/>
                <a:ea typeface="+mn-ea"/>
              </a:rPr>
              <a:t> 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latin typeface="+mn-ea"/>
                <a:ea typeface="+mn-ea"/>
              </a:rPr>
              <a:t>人工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2%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A1AA868-F2C3-481B-A695-F9041E2BD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950"/>
              </p:ext>
            </p:extLst>
          </p:nvPr>
        </p:nvGraphicFramePr>
        <p:xfrm>
          <a:off x="121444" y="698096"/>
          <a:ext cx="6705601" cy="5083982"/>
        </p:xfrm>
        <a:graphic>
          <a:graphicData uri="http://schemas.openxmlformats.org/drawingml/2006/table">
            <a:tbl>
              <a:tblPr/>
              <a:tblGrid>
                <a:gridCol w="489942">
                  <a:extLst>
                    <a:ext uri="{9D8B030D-6E8A-4147-A177-3AD203B41FA5}">
                      <a16:colId xmlns:a16="http://schemas.microsoft.com/office/drawing/2014/main" val="294531039"/>
                    </a:ext>
                  </a:extLst>
                </a:gridCol>
                <a:gridCol w="694085">
                  <a:extLst>
                    <a:ext uri="{9D8B030D-6E8A-4147-A177-3AD203B41FA5}">
                      <a16:colId xmlns:a16="http://schemas.microsoft.com/office/drawing/2014/main" val="1494242759"/>
                    </a:ext>
                  </a:extLst>
                </a:gridCol>
                <a:gridCol w="552158">
                  <a:extLst>
                    <a:ext uri="{9D8B030D-6E8A-4147-A177-3AD203B41FA5}">
                      <a16:colId xmlns:a16="http://schemas.microsoft.com/office/drawing/2014/main" val="2564664346"/>
                    </a:ext>
                  </a:extLst>
                </a:gridCol>
                <a:gridCol w="521050">
                  <a:extLst>
                    <a:ext uri="{9D8B030D-6E8A-4147-A177-3AD203B41FA5}">
                      <a16:colId xmlns:a16="http://schemas.microsoft.com/office/drawing/2014/main" val="1124755543"/>
                    </a:ext>
                  </a:extLst>
                </a:gridCol>
                <a:gridCol w="489942">
                  <a:extLst>
                    <a:ext uri="{9D8B030D-6E8A-4147-A177-3AD203B41FA5}">
                      <a16:colId xmlns:a16="http://schemas.microsoft.com/office/drawing/2014/main" val="399714410"/>
                    </a:ext>
                  </a:extLst>
                </a:gridCol>
                <a:gridCol w="489942">
                  <a:extLst>
                    <a:ext uri="{9D8B030D-6E8A-4147-A177-3AD203B41FA5}">
                      <a16:colId xmlns:a16="http://schemas.microsoft.com/office/drawing/2014/main" val="2619485089"/>
                    </a:ext>
                  </a:extLst>
                </a:gridCol>
                <a:gridCol w="552158">
                  <a:extLst>
                    <a:ext uri="{9D8B030D-6E8A-4147-A177-3AD203B41FA5}">
                      <a16:colId xmlns:a16="http://schemas.microsoft.com/office/drawing/2014/main" val="1117592820"/>
                    </a:ext>
                  </a:extLst>
                </a:gridCol>
                <a:gridCol w="552158">
                  <a:extLst>
                    <a:ext uri="{9D8B030D-6E8A-4147-A177-3AD203B41FA5}">
                      <a16:colId xmlns:a16="http://schemas.microsoft.com/office/drawing/2014/main" val="2948407883"/>
                    </a:ext>
                  </a:extLst>
                </a:gridCol>
                <a:gridCol w="606595">
                  <a:extLst>
                    <a:ext uri="{9D8B030D-6E8A-4147-A177-3AD203B41FA5}">
                      <a16:colId xmlns:a16="http://schemas.microsoft.com/office/drawing/2014/main" val="106881710"/>
                    </a:ext>
                  </a:extLst>
                </a:gridCol>
                <a:gridCol w="606595">
                  <a:extLst>
                    <a:ext uri="{9D8B030D-6E8A-4147-A177-3AD203B41FA5}">
                      <a16:colId xmlns:a16="http://schemas.microsoft.com/office/drawing/2014/main" val="4281486414"/>
                    </a:ext>
                  </a:extLst>
                </a:gridCol>
                <a:gridCol w="497719">
                  <a:extLst>
                    <a:ext uri="{9D8B030D-6E8A-4147-A177-3AD203B41FA5}">
                      <a16:colId xmlns:a16="http://schemas.microsoft.com/office/drawing/2014/main" val="244119325"/>
                    </a:ext>
                  </a:extLst>
                </a:gridCol>
                <a:gridCol w="653257">
                  <a:extLst>
                    <a:ext uri="{9D8B030D-6E8A-4147-A177-3AD203B41FA5}">
                      <a16:colId xmlns:a16="http://schemas.microsoft.com/office/drawing/2014/main" val="590009774"/>
                    </a:ext>
                  </a:extLst>
                </a:gridCol>
              </a:tblGrid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费用项目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线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仓储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计划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计划物流部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空压站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品控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品质管理部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设备动力部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生产二部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物流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852226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其他费用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10,832.06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51,490.45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82.10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1,116.94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11,486.42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65,751.07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197.87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140,956.91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063754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办公费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90.95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49.55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3,867.51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4,010.44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736742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包装材料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134.22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134.22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718412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保密管理经费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17.41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34.82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52.23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311956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备品备件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1,549.05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259.04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1,808.09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747425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低值易耗品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483.83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483.83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614780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检测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认证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验证费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163.07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163.07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35928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境内差旅费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78.55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856.58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1,563.58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2,498.71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517171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培训费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-443.45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-443.45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739840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其他服务费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17.12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2,892.32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3,961.17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6,874.16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357156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无形资产摊销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503.27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503.27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297295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物流费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13,567.63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57.65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13,625.28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68057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原材料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熔砖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9,148.79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9,148.79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795454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运维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修理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保养费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8,996.26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6,075.03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57,922.39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72,993.68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471743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长期费用摊销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197.87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197.87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804062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租赁费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28,906.72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28,906.72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566673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燃料动力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308,810.36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5,928.68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2,561.85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11,758.12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329,059.01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591098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电费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308,810.36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5,928.68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2,561.85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11,758.12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329,059.01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975738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液氧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813239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折旧费用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127,512.70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641.93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9.24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15,156.17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2,375.19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4,708.80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80,089.17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17,912.04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101.59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248,506.83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11111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折旧费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127,512.70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641.93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9.24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15,156.17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2,375.19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4,708.80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80,089.17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17,912.04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101.59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248,506.83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537562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直接人工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38,771.02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9,539.25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5,476.68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5,685.89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1,055.16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39,974.80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33,538.39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44,718.33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41,993.92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8,203.79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228,957.23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622346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工伤保险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139.48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66.78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48.11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6.96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9.93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328.09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62.48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236.36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98.34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1,051.16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059354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工资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12,990.00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5,601.13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4,048.96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1,788.82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521.85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22,217.48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13,715.61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23,043.34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13,273.20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4,060.31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101,260.70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133461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绩效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2,723.50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9,770.56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5,304.52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16,033.24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33,831.82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79380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加班费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3,502.41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1,646.08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196.11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320.16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335.71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8,410.97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1,207.74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6,500.76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2,071.80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2,557.85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26,749.59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759908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奖金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3,000.00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313.37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87.04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522.32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348.21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1,103.30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5,374.24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016176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失业保险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43.60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20.87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2.17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102.56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19.55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73.88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30.74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17.08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328.58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954667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食堂餐费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4,405.83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629.11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173.22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231.36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2,112.54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702.52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2,433.73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1,689.63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469.01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12,846.95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894486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外包劳务费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11,860.00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36.21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4,558.19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16,454.40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530007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养老保险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1,394.88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667.81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481.12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99.30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3,281.27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625.01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2,363.71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983.39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546.39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10,512.51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938086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医疗保险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871.82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417.40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300.70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43.52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62.06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2,050.86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390.63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1,477.35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614.63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341.49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6,570.46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00987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员工交通车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53.09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283.10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275.82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1,312.40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1,924.41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043736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员工宿舍费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366.95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1,571.69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1,233.14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5,525.13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8,696.91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083979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住房公积金 </a:t>
                      </a:r>
                    </a:p>
                  </a:txBody>
                  <a:tcPr marL="54216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563.00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176.70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126.39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43.52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23.21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948.71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283.10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672.42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361.42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157.03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3,355.50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985374"/>
                  </a:ext>
                </a:extLst>
              </a:tr>
              <a:tr h="102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直接材料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5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893,268.35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893,268.35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137946"/>
                  </a:ext>
                </a:extLst>
              </a:tr>
              <a:tr h="10741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1,379,194.49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10,181.18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5,485.92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#######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1,055.16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42,432.09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41,925.98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148,052.04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125,657.03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8,503.25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1,840,748.33 </a:t>
                      </a:r>
                    </a:p>
                  </a:txBody>
                  <a:tcPr marL="4518" marR="4518" marT="45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17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363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3200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供应商切割、减薄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1B4408-8474-40F3-801C-13A5DCECBCC4}"/>
              </a:ext>
            </a:extLst>
          </p:cNvPr>
          <p:cNvSpPr txBox="1"/>
          <p:nvPr/>
        </p:nvSpPr>
        <p:spPr>
          <a:xfrm>
            <a:off x="2902744" y="223608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非组合订单   委外补料单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委外生产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45E49-FF9C-453B-9243-0DC274FBBAF9}"/>
              </a:ext>
            </a:extLst>
          </p:cNvPr>
          <p:cNvSpPr txBox="1"/>
          <p:nvPr/>
        </p:nvSpPr>
        <p:spPr>
          <a:xfrm>
            <a:off x="397405" y="2047456"/>
            <a:ext cx="46482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直接材料来源：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委外订单大部分为组合订单和委外加工，设置</a:t>
            </a:r>
            <a:r>
              <a:rPr lang="en-US" altLang="zh-CN" sz="1600" dirty="0">
                <a:latin typeface="+mn-ea"/>
                <a:ea typeface="+mn-ea"/>
              </a:rPr>
              <a:t>6</a:t>
            </a:r>
            <a:r>
              <a:rPr lang="zh-CN" altLang="en-US" sz="1600" dirty="0">
                <a:latin typeface="+mn-ea"/>
                <a:ea typeface="+mn-ea"/>
              </a:rPr>
              <a:t>个委外虚拟成本中心，仓库创建采购入库单据，</a:t>
            </a:r>
            <a:r>
              <a:rPr lang="zh-CN" altLang="zh-CN" sz="1600" dirty="0">
                <a:latin typeface="+mn-ea"/>
                <a:ea typeface="+mn-ea"/>
              </a:rPr>
              <a:t>采购入库单审核后自动进行倒冲领料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en-US" sz="1600" dirty="0">
                <a:latin typeface="+mn-ea"/>
                <a:ea typeface="+mn-ea"/>
              </a:rPr>
              <a:t>直接材料费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加工费的材料成本</a:t>
            </a:r>
            <a:r>
              <a:rPr lang="en-US" altLang="zh-CN" sz="1600" dirty="0">
                <a:latin typeface="+mn-ea"/>
                <a:ea typeface="+mn-ea"/>
              </a:rPr>
              <a:t>) 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lvl="0"/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工、费来源：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自身委外加工费用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latin typeface="+mn-ea"/>
                <a:ea typeface="+mn-ea"/>
              </a:rPr>
              <a:t>其他部门分摊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endParaRPr lang="en-US" altLang="zh-CN" sz="1600" dirty="0">
              <a:latin typeface="+mn-ea"/>
              <a:ea typeface="+mn-ea"/>
            </a:endParaRPr>
          </a:p>
          <a:p>
            <a:r>
              <a:rPr lang="zh-CN" altLang="en-US" b="1" dirty="0">
                <a:latin typeface="+mn-ea"/>
                <a:ea typeface="+mn-ea"/>
              </a:rPr>
              <a:t>成本结构：</a:t>
            </a:r>
            <a:endParaRPr lang="en-US" altLang="zh-CN" b="1" dirty="0">
              <a:latin typeface="+mn-ea"/>
              <a:ea typeface="+mn-ea"/>
            </a:endParaRPr>
          </a:p>
          <a:p>
            <a:pPr indent="216000"/>
            <a:r>
              <a:rPr lang="en-US" altLang="zh-CN" sz="16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SQE</a:t>
            </a:r>
            <a:r>
              <a:rPr lang="zh-CN" altLang="en-US" sz="16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CQE</a:t>
            </a:r>
            <a:r>
              <a:rPr lang="zh-CN" altLang="en-US" sz="16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的工资、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</a:rPr>
              <a:t>差旅费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zh-CN" altLang="zh-CN" sz="1600" dirty="0">
                <a:solidFill>
                  <a:srgbClr val="000000"/>
                </a:solidFill>
                <a:latin typeface="+mn-ea"/>
                <a:ea typeface="+mn-ea"/>
              </a:rPr>
              <a:t>使用鑫差旅的平台服务费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以及物流部门的物流费全部分摊给供应商。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海富光学</a:t>
            </a:r>
            <a:r>
              <a:rPr lang="zh-CN" altLang="en-US" sz="1600" b="1" dirty="0">
                <a:latin typeface="+mn-ea"/>
                <a:ea typeface="+mn-ea"/>
              </a:rPr>
              <a:t>委外加工费</a:t>
            </a:r>
            <a:r>
              <a:rPr lang="zh-CN" altLang="en-US" sz="1600" dirty="0">
                <a:latin typeface="+mn-ea"/>
                <a:ea typeface="+mn-ea"/>
              </a:rPr>
              <a:t>占比最高，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47%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分摊过来的总费用中，占比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62%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600" dirty="0">
                <a:latin typeface="+mn-ea"/>
                <a:ea typeface="+mn-ea"/>
              </a:rPr>
              <a:t>；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>
              <a:lnSpc>
                <a:spcPts val="1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b="1" dirty="0">
                <a:solidFill>
                  <a:srgbClr val="102FA9"/>
                </a:solidFill>
                <a:latin typeface="+mn-ea"/>
                <a:ea typeface="+mn-ea"/>
              </a:rPr>
              <a:t>普利英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  <a:ea typeface="+mn-ea"/>
              </a:rPr>
              <a:t>委外加工费</a:t>
            </a:r>
            <a:r>
              <a:rPr lang="zh-CN" altLang="en-US" sz="1600" dirty="0">
                <a:latin typeface="+mn-ea"/>
                <a:ea typeface="+mn-ea"/>
              </a:rPr>
              <a:t>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32%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endParaRPr lang="en-US" altLang="zh-CN" sz="1600" dirty="0">
              <a:latin typeface="+mn-ea"/>
              <a:ea typeface="+mn-ea"/>
            </a:endParaRPr>
          </a:p>
          <a:p>
            <a:pPr indent="216000"/>
            <a:r>
              <a:rPr lang="zh-CN" altLang="en-US" sz="1600" dirty="0">
                <a:latin typeface="+mn-ea"/>
                <a:ea typeface="+mn-ea"/>
              </a:rPr>
              <a:t>分摊过来的总费用中，占比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25%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020408A-33EC-4F34-8FF2-AAFFD2C42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280980"/>
              </p:ext>
            </p:extLst>
          </p:nvPr>
        </p:nvGraphicFramePr>
        <p:xfrm>
          <a:off x="553244" y="851528"/>
          <a:ext cx="4597400" cy="11049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254299455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891499377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52827258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2516677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供应商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委外加工费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数量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单位成本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4922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百盛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1,091,669.91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261,591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460.11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3022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海富光学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2,818,635.76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675,165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405.22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3700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普利英创新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1,899,368.64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464,176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57.87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3119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亚华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172,576.10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44,970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16.30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253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5,982,250.41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1,445,902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en-US" altLang="zh-C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939.49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71276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84D35DC-A424-4DD8-9AC1-A8531FDA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052848"/>
              </p:ext>
            </p:extLst>
          </p:nvPr>
        </p:nvGraphicFramePr>
        <p:xfrm>
          <a:off x="6141244" y="573087"/>
          <a:ext cx="4222759" cy="5612502"/>
        </p:xfrm>
        <a:graphic>
          <a:graphicData uri="http://schemas.openxmlformats.org/drawingml/2006/table">
            <a:tbl>
              <a:tblPr/>
              <a:tblGrid>
                <a:gridCol w="649193">
                  <a:extLst>
                    <a:ext uri="{9D8B030D-6E8A-4147-A177-3AD203B41FA5}">
                      <a16:colId xmlns:a16="http://schemas.microsoft.com/office/drawing/2014/main" val="996603594"/>
                    </a:ext>
                  </a:extLst>
                </a:gridCol>
                <a:gridCol w="913678">
                  <a:extLst>
                    <a:ext uri="{9D8B030D-6E8A-4147-A177-3AD203B41FA5}">
                      <a16:colId xmlns:a16="http://schemas.microsoft.com/office/drawing/2014/main" val="1129834402"/>
                    </a:ext>
                  </a:extLst>
                </a:gridCol>
                <a:gridCol w="829525">
                  <a:extLst>
                    <a:ext uri="{9D8B030D-6E8A-4147-A177-3AD203B41FA5}">
                      <a16:colId xmlns:a16="http://schemas.microsoft.com/office/drawing/2014/main" val="4210741660"/>
                    </a:ext>
                  </a:extLst>
                </a:gridCol>
                <a:gridCol w="928707">
                  <a:extLst>
                    <a:ext uri="{9D8B030D-6E8A-4147-A177-3AD203B41FA5}">
                      <a16:colId xmlns:a16="http://schemas.microsoft.com/office/drawing/2014/main" val="3163475835"/>
                    </a:ext>
                  </a:extLst>
                </a:gridCol>
                <a:gridCol w="901656">
                  <a:extLst>
                    <a:ext uri="{9D8B030D-6E8A-4147-A177-3AD203B41FA5}">
                      <a16:colId xmlns:a16="http://schemas.microsoft.com/office/drawing/2014/main" val="2055547769"/>
                    </a:ext>
                  </a:extLst>
                </a:gridCol>
              </a:tblGrid>
              <a:tr h="828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费用项目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CQE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SQE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物流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48107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百盛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10,698.77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11,501.62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15,761.01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37,961.40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964185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38.32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59.95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98.27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542836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5,762.32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6,938.55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12,700.87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714961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669.46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260.81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930.27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539295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596.76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596.76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908573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2,632.49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2,742.04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5,374.53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438388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39.12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72.19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111.31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82554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11.97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18.73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30.70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628913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131.38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205.23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336.61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410735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物流费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15,761.01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15,761.01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311441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383.40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599.53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982.93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557068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239.61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374.72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614.33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785184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193.94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229.87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423.81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808047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海富光学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55,331.79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59,483.57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81,511.85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196,327.21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71573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198.30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310.05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508.35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088237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29,801.16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35,884.50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65,685.66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6060641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3,462.34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1,348.76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4,811.10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395776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3,086.30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3,086.30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264592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13,614.59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14,181.18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27,795.77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418810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202.33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373.46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575.79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334920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61.99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96.90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158.89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690917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679.60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1,061.37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1,740.97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740481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物流费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81,511.85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81,511.85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167644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1,982.83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3,100.59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5,083.42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191437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1,239.30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1,937.90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3,177.20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614592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1,003.05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1,188.86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2,191.91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872471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普利英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22,177.43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23,841.58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32,670.67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78,689.68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704326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79.47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124.27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203.74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912158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11,944.59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14,382.83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26,327.42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079902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1,387.72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540.60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1,928.32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192802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1,237.01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1,237.01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251539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5,456.80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5,683.94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11,140.74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300175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81.10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149.68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230.78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724079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24.85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38.86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63.71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358754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272.41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425.41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697.82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508491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物流费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32,670.67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32,670.67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982070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794.74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1,242.76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2,037.50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397807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496.71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776.74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1,273.45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12829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402.03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476.49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878.52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686892"/>
                  </a:ext>
                </a:extLst>
              </a:tr>
              <a:tr h="1499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亚华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1,433.20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1,540.73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2,111.35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5,085.28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347832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工伤保险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8.03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13.16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68018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工资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771.93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929.48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1,701.41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50458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加班费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89.68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34.94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124.62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772130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奖金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79.93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79.93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042203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境内差旅费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352.65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367.32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719.97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35047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其他服务费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5.24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9.67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14.91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35159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失业保险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4.10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402192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食堂餐费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17.61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27.49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45.10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600317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物流费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2,111.35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2,111.35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232466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养老保险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51.35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80.32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131.67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962848"/>
                  </a:ext>
                </a:extLst>
              </a:tr>
              <a:tr h="7871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医疗保险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32.11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50.19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82.30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229231"/>
                  </a:ext>
                </a:extLst>
              </a:tr>
              <a:tr h="14997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住房公积金</a:t>
                      </a:r>
                    </a:p>
                  </a:txBody>
                  <a:tcPr marL="4157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25.98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30.78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56.76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840152"/>
                  </a:ext>
                </a:extLst>
              </a:tr>
              <a:tr h="828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总计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zh-CN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89,641.19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96,367.50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132,054.88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zh-CN" sz="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318,063.57 </a:t>
                      </a:r>
                    </a:p>
                  </a:txBody>
                  <a:tcPr marL="3465" marR="3465" marT="34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299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972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3200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特殊业务场景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735E45-3806-4BCA-A673-C265C8E1CE06}"/>
              </a:ext>
            </a:extLst>
          </p:cNvPr>
          <p:cNvSpPr txBox="1"/>
          <p:nvPr/>
        </p:nvSpPr>
        <p:spPr>
          <a:xfrm>
            <a:off x="959644" y="801687"/>
            <a:ext cx="73152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  <a:ea typeface="+mn-ea"/>
              </a:rPr>
              <a:t>简单生产：</a:t>
            </a:r>
            <a:endParaRPr lang="en-US" altLang="zh-CN" sz="1400" b="1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一般是研发实验室、中试炉、浮法线，产品只计入材料成本，其他的费用计入当期损益。</a:t>
            </a:r>
            <a:endParaRPr lang="en-US" altLang="zh-CN" sz="1400" dirty="0">
              <a:latin typeface="+mn-ea"/>
              <a:ea typeface="+mn-ea"/>
            </a:endParaRPr>
          </a:p>
          <a:p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b="1" dirty="0">
                <a:latin typeface="+mn-ea"/>
                <a:ea typeface="+mn-ea"/>
              </a:rPr>
              <a:t>在产品：</a:t>
            </a:r>
            <a:endParaRPr lang="en-US" altLang="zh-CN" sz="1400" b="1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共有四种类型，产品没有全部入库，产生在产品，在产品只计入材料成本，若有完工产品，</a:t>
            </a:r>
            <a:r>
              <a:rPr lang="zh-CN" altLang="zh-CN" sz="1400" dirty="0">
                <a:latin typeface="+mn-ea"/>
                <a:ea typeface="+mn-ea"/>
              </a:rPr>
              <a:t>费用类全部摊销到合格品的成本中</a:t>
            </a:r>
            <a:r>
              <a:rPr lang="en-US" altLang="zh-CN" sz="1400" dirty="0">
                <a:latin typeface="+mn-ea"/>
                <a:ea typeface="+mn-ea"/>
              </a:rPr>
              <a:t> </a:t>
            </a:r>
            <a:r>
              <a:rPr lang="zh-CN" altLang="en-US" sz="1400" dirty="0">
                <a:latin typeface="+mn-ea"/>
                <a:ea typeface="+mn-ea"/>
              </a:rPr>
              <a:t>，否则剩余的费用也会结转到在产品中。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当所有材料都投入，产出产品并入库完，实际完工产品数量小于计划产量时，期末在产显示只有数量。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如果生产产品全部不合格报废为碎玻璃，强制结案，会期初在产品成本调整，转入制造费用进行分摊。</a:t>
            </a:r>
          </a:p>
          <a:p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b="1" dirty="0">
                <a:latin typeface="+mn-ea"/>
                <a:ea typeface="+mn-ea"/>
              </a:rPr>
              <a:t>按产品等级：</a:t>
            </a:r>
            <a:endParaRPr lang="en-US" altLang="zh-CN" sz="1400" b="1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合格品</a:t>
            </a:r>
            <a:r>
              <a:rPr lang="en-US" altLang="zh-CN" sz="1400" dirty="0">
                <a:latin typeface="+mn-ea"/>
                <a:ea typeface="+mn-ea"/>
              </a:rPr>
              <a:t>99%    </a:t>
            </a:r>
            <a:r>
              <a:rPr lang="zh-CN" altLang="en-US" sz="1400" dirty="0">
                <a:latin typeface="+mn-ea"/>
                <a:ea typeface="+mn-ea"/>
              </a:rPr>
              <a:t>碎玻璃</a:t>
            </a:r>
          </a:p>
          <a:p>
            <a:r>
              <a:rPr lang="zh-CN" altLang="en-US" sz="1400" dirty="0">
                <a:latin typeface="+mn-ea"/>
                <a:ea typeface="+mn-ea"/>
              </a:rPr>
              <a:t>不良品</a:t>
            </a:r>
            <a:r>
              <a:rPr lang="en-US" altLang="zh-CN" sz="1400" dirty="0">
                <a:latin typeface="+mn-ea"/>
                <a:ea typeface="+mn-ea"/>
              </a:rPr>
              <a:t>0.5%   </a:t>
            </a:r>
            <a:r>
              <a:rPr lang="zh-CN" altLang="en-US" sz="1400" dirty="0">
                <a:latin typeface="+mn-ea"/>
                <a:ea typeface="+mn-ea"/>
              </a:rPr>
              <a:t>副产品</a:t>
            </a:r>
            <a:r>
              <a:rPr lang="en-US" altLang="zh-CN" sz="1400" dirty="0">
                <a:latin typeface="+mn-ea"/>
                <a:ea typeface="+mn-ea"/>
              </a:rPr>
              <a:t>0.01    </a:t>
            </a:r>
            <a:endParaRPr lang="zh-CN" altLang="en-US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废品</a:t>
            </a:r>
            <a:r>
              <a:rPr lang="en-US" altLang="zh-CN" sz="1400" dirty="0">
                <a:latin typeface="+mn-ea"/>
                <a:ea typeface="+mn-ea"/>
              </a:rPr>
              <a:t>0.5%</a:t>
            </a:r>
          </a:p>
          <a:p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b="1" dirty="0">
                <a:latin typeface="+mn-ea"/>
                <a:ea typeface="+mn-ea"/>
              </a:rPr>
              <a:t>按产品价值：</a:t>
            </a:r>
            <a:endParaRPr lang="en-US" altLang="zh-CN" sz="1400" b="1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主产品</a:t>
            </a:r>
          </a:p>
          <a:p>
            <a:r>
              <a:rPr lang="zh-CN" altLang="en-US" sz="1400" dirty="0">
                <a:latin typeface="+mn-ea"/>
                <a:ea typeface="+mn-ea"/>
              </a:rPr>
              <a:t>联产品</a:t>
            </a:r>
          </a:p>
          <a:p>
            <a:r>
              <a:rPr lang="zh-CN" altLang="en-US" sz="1400" dirty="0">
                <a:latin typeface="+mn-ea"/>
                <a:ea typeface="+mn-ea"/>
              </a:rPr>
              <a:t>副产品  </a:t>
            </a:r>
            <a:r>
              <a:rPr lang="en-US" altLang="zh-CN" sz="1400" dirty="0">
                <a:latin typeface="+mn-ea"/>
                <a:ea typeface="+mn-ea"/>
              </a:rPr>
              <a:t>0.01</a:t>
            </a:r>
            <a:r>
              <a:rPr lang="zh-CN" altLang="en-US" sz="1400" dirty="0">
                <a:latin typeface="+mn-ea"/>
                <a:ea typeface="+mn-ea"/>
              </a:rPr>
              <a:t>定额成本</a:t>
            </a:r>
            <a:endParaRPr lang="en-US" altLang="zh-CN" sz="1400" dirty="0">
              <a:latin typeface="+mn-ea"/>
              <a:ea typeface="+mn-ea"/>
            </a:endParaRPr>
          </a:p>
          <a:p>
            <a:r>
              <a:rPr lang="zh-CN" altLang="en-US" sz="1400" dirty="0">
                <a:latin typeface="+mn-ea"/>
                <a:ea typeface="+mn-ea"/>
              </a:rPr>
              <a:t>副产品目前有料头、头尾片、碎玻璃</a:t>
            </a:r>
            <a:endParaRPr lang="en-US" altLang="zh-CN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9820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6022" y="142264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产品及其经济业务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6022" y="948745"/>
            <a:ext cx="276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科目余额表的关联科目：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012914-7E54-431B-AF43-5FA30BDF066E}"/>
              </a:ext>
            </a:extLst>
          </p:cNvPr>
          <p:cNvSpPr txBox="1"/>
          <p:nvPr/>
        </p:nvSpPr>
        <p:spPr>
          <a:xfrm>
            <a:off x="1342601" y="1588189"/>
            <a:ext cx="4265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dirty="0">
                <a:latin typeface="+mn-ea"/>
                <a:ea typeface="+mn-ea"/>
              </a:rPr>
              <a:t>在途物资</a:t>
            </a:r>
            <a:r>
              <a:rPr lang="en-US" altLang="zh-CN" sz="1600" dirty="0">
                <a:latin typeface="+mn-ea"/>
                <a:ea typeface="+mn-ea"/>
              </a:rPr>
              <a:t>           </a:t>
            </a:r>
            <a:r>
              <a:rPr lang="zh-CN" altLang="en-US" sz="1600" dirty="0">
                <a:latin typeface="+mn-ea"/>
                <a:ea typeface="+mn-ea"/>
              </a:rPr>
              <a:t>已到票货未入库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CB5365-982A-47CB-928A-C389AA687158}"/>
              </a:ext>
            </a:extLst>
          </p:cNvPr>
          <p:cNvSpPr/>
          <p:nvPr/>
        </p:nvSpPr>
        <p:spPr>
          <a:xfrm>
            <a:off x="1340644" y="1987470"/>
            <a:ext cx="6858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原材料</a:t>
            </a:r>
            <a:r>
              <a:rPr lang="en-US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              </a:t>
            </a:r>
            <a:r>
              <a:rPr lang="zh-CN" altLang="en-US" sz="1600" kern="0" dirty="0">
                <a:latin typeface="+mn-ea"/>
                <a:ea typeface="+mn-ea"/>
                <a:cs typeface="宋体" panose="02010600030101010101" pitchFamily="2" charset="-122"/>
              </a:rPr>
              <a:t>应付外购，自制原材，在建设备、废旧物资</a:t>
            </a:r>
            <a:endParaRPr lang="en-US" altLang="zh-CN" sz="1600" kern="0" dirty="0">
              <a:latin typeface="+mn-ea"/>
              <a:ea typeface="+mn-ea"/>
              <a:cs typeface="宋体" panose="02010600030101010101" pitchFamily="2" charset="-122"/>
            </a:endParaRPr>
          </a:p>
          <a:p>
            <a:pPr marL="284400"/>
            <a:r>
              <a:rPr lang="zh-CN" altLang="en-US" sz="1600" kern="0" dirty="0">
                <a:latin typeface="+mn-ea"/>
                <a:ea typeface="+mn-ea"/>
                <a:cs typeface="宋体" panose="02010600030101010101" pitchFamily="2" charset="-122"/>
              </a:rPr>
              <a:t>                        构成产品的原材以及生产过程中会使用的原材</a:t>
            </a:r>
            <a:endParaRPr lang="zh-CN" altLang="en-US" sz="1600" dirty="0">
              <a:latin typeface="+mn-ea"/>
              <a:ea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C7A2B72-FEA6-4232-8BDB-306E2B1F9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383227"/>
              </p:ext>
            </p:extLst>
          </p:nvPr>
        </p:nvGraphicFramePr>
        <p:xfrm>
          <a:off x="1340644" y="2643351"/>
          <a:ext cx="4159250" cy="1392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59250">
                  <a:extLst>
                    <a:ext uri="{9D8B030D-6E8A-4147-A177-3AD203B41FA5}">
                      <a16:colId xmlns:a16="http://schemas.microsoft.com/office/drawing/2014/main" val="1429203150"/>
                    </a:ext>
                  </a:extLst>
                </a:gridCol>
              </a:tblGrid>
              <a:tr h="13922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材料</a:t>
                      </a:r>
                      <a:endParaRPr lang="zh-CN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备品备件</a:t>
                      </a:r>
                      <a:endParaRPr lang="zh-CN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劳保用品</a:t>
                      </a:r>
                      <a:endParaRPr lang="zh-CN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低值易耗</a:t>
                      </a:r>
                      <a:endParaRPr lang="zh-CN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碎玻璃</a:t>
                      </a:r>
                      <a:endParaRPr lang="zh-CN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待转固资产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贵重金属及相关器</a:t>
                      </a:r>
                      <a:r>
                        <a:rPr lang="zh-CN" altLang="en-US" sz="11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具      </a:t>
                      </a:r>
                      <a:r>
                        <a:rPr lang="zh-CN" altLang="en-US" sz="1050" b="1" kern="1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贵金属由</a:t>
                      </a:r>
                      <a:r>
                        <a:rPr lang="zh-CN" sz="1050" kern="100" dirty="0">
                          <a:effectLst/>
                          <a:latin typeface="+mn-ea"/>
                          <a:ea typeface="+mn-ea"/>
                        </a:rPr>
                        <a:t>存货转为固定资产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  <a:latin typeface="+mn-ea"/>
                          <a:ea typeface="+mn-ea"/>
                        </a:rPr>
                        <a:t>自制半成</a:t>
                      </a:r>
                      <a:r>
                        <a:rPr lang="zh-CN" altLang="en-US" sz="1100" kern="0" dirty="0">
                          <a:effectLst/>
                          <a:latin typeface="+mn-ea"/>
                          <a:ea typeface="+mn-ea"/>
                        </a:rPr>
                        <a:t>品</a:t>
                      </a:r>
                      <a:endParaRPr lang="zh-CN" altLang="en-US" sz="1050" b="1" kern="1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2F5F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357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4F2BD25-F9EE-4BD5-B40D-ABA3365FF8FC}"/>
              </a:ext>
            </a:extLst>
          </p:cNvPr>
          <p:cNvSpPr/>
          <p:nvPr/>
        </p:nvSpPr>
        <p:spPr>
          <a:xfrm>
            <a:off x="1343556" y="4126916"/>
            <a:ext cx="57882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库存商品</a:t>
            </a:r>
            <a:r>
              <a:rPr lang="en-US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            </a:t>
            </a: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产成品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0647C7-11BC-42FA-9B4B-20088A8663DD}"/>
              </a:ext>
            </a:extLst>
          </p:cNvPr>
          <p:cNvSpPr txBox="1"/>
          <p:nvPr/>
        </p:nvSpPr>
        <p:spPr>
          <a:xfrm>
            <a:off x="1343555" y="4541273"/>
            <a:ext cx="6662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dirty="0">
                <a:latin typeface="+mn-ea"/>
                <a:ea typeface="+mn-ea"/>
              </a:rPr>
              <a:t>发出商品</a:t>
            </a:r>
            <a:r>
              <a:rPr lang="en-US" altLang="zh-CN" sz="1600" dirty="0">
                <a:latin typeface="+mn-ea"/>
                <a:ea typeface="+mn-ea"/>
              </a:rPr>
              <a:t>            </a:t>
            </a:r>
            <a:r>
              <a:rPr lang="zh-CN" altLang="en-US" sz="1600" dirty="0">
                <a:latin typeface="+mn-ea"/>
                <a:ea typeface="+mn-ea"/>
              </a:rPr>
              <a:t>客户发起需求，已发货，但客户未签收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D977E2-7D35-42CB-8835-21E90B837E2F}"/>
              </a:ext>
            </a:extLst>
          </p:cNvPr>
          <p:cNvSpPr/>
          <p:nvPr/>
        </p:nvSpPr>
        <p:spPr>
          <a:xfrm>
            <a:off x="1343556" y="5016159"/>
            <a:ext cx="50337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委托加工物资</a:t>
            </a:r>
            <a:r>
              <a:rPr lang="en-US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     </a:t>
            </a:r>
            <a:r>
              <a:rPr lang="zh-CN" altLang="en-US" sz="1600" kern="0" dirty="0">
                <a:latin typeface="+mn-ea"/>
                <a:ea typeface="+mn-ea"/>
                <a:cs typeface="宋体" panose="02010600030101010101" pitchFamily="2" charset="-122"/>
              </a:rPr>
              <a:t>委托加工类，包括分摊费用</a:t>
            </a:r>
            <a:r>
              <a:rPr lang="en-US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+</a:t>
            </a:r>
            <a:r>
              <a:rPr lang="zh-CN" altLang="en-US" sz="1600" kern="0" dirty="0">
                <a:latin typeface="+mn-ea"/>
                <a:ea typeface="+mn-ea"/>
                <a:cs typeface="宋体" panose="02010600030101010101" pitchFamily="2" charset="-122"/>
              </a:rPr>
              <a:t>原材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5A7277-4F04-475C-A6AA-5E14AFBED446}"/>
              </a:ext>
            </a:extLst>
          </p:cNvPr>
          <p:cNvSpPr/>
          <p:nvPr/>
        </p:nvSpPr>
        <p:spPr>
          <a:xfrm>
            <a:off x="1343556" y="5491045"/>
            <a:ext cx="29065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生产成本  </a:t>
            </a:r>
            <a:r>
              <a:rPr lang="en-US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          </a:t>
            </a:r>
            <a:r>
              <a:rPr lang="zh-CN" altLang="zh-CN" sz="1600" kern="0" dirty="0">
                <a:latin typeface="+mn-ea"/>
                <a:ea typeface="+mn-ea"/>
                <a:cs typeface="宋体" panose="02010600030101010101" pitchFamily="2" charset="-122"/>
              </a:rPr>
              <a:t>即在产品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435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4" y="115887"/>
            <a:ext cx="617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成本核算操作流程</a:t>
            </a:r>
            <a:r>
              <a:rPr lang="en-US" altLang="zh-CN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含业务对账</a:t>
            </a:r>
            <a:endParaRPr lang="en-US" altLang="zh-CN" sz="2200" b="1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2" name="图片 1">
            <a:hlinkClick r:id="rId3" action="ppaction://hlinkfile"/>
            <a:extLst>
              <a:ext uri="{FF2B5EF4-FFF2-40B4-BE49-F238E27FC236}">
                <a16:creationId xmlns:a16="http://schemas.microsoft.com/office/drawing/2014/main" id="{C9FE2F2A-AD15-4FB6-BF5A-7E1C6E704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844" y="646237"/>
            <a:ext cx="6226406" cy="514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9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困难点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28D9F3A-469F-4E51-B651-C79138D26611}"/>
              </a:ext>
            </a:extLst>
          </p:cNvPr>
          <p:cNvGrpSpPr/>
          <p:nvPr/>
        </p:nvGrpSpPr>
        <p:grpSpPr>
          <a:xfrm>
            <a:off x="3044223" y="1457030"/>
            <a:ext cx="5432041" cy="3566113"/>
            <a:chOff x="765559" y="1836787"/>
            <a:chExt cx="5432041" cy="3566113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D736C498-2AA2-475F-87C3-349EE6C6372D}"/>
                </a:ext>
              </a:extLst>
            </p:cNvPr>
            <p:cNvGrpSpPr/>
            <p:nvPr/>
          </p:nvGrpSpPr>
          <p:grpSpPr>
            <a:xfrm>
              <a:off x="765559" y="1836787"/>
              <a:ext cx="5432041" cy="929964"/>
              <a:chOff x="-3934453" y="-6694732"/>
              <a:chExt cx="5432041" cy="929964"/>
            </a:xfrm>
          </p:grpSpPr>
          <p:sp>
            <p:nvSpPr>
              <p:cNvPr id="95" name="Number">
                <a:extLst>
                  <a:ext uri="{FF2B5EF4-FFF2-40B4-BE49-F238E27FC236}">
                    <a16:creationId xmlns:a16="http://schemas.microsoft.com/office/drawing/2014/main" id="{5AE086EA-CD0A-4A50-B929-BFAA439ACF91}"/>
                  </a:ext>
                </a:extLst>
              </p:cNvPr>
              <p:cNvSpPr/>
              <p:nvPr/>
            </p:nvSpPr>
            <p:spPr>
              <a:xfrm>
                <a:off x="-3934453" y="-6694732"/>
                <a:ext cx="1135640" cy="929964"/>
              </a:xfrm>
              <a:prstGeom prst="rect">
                <a:avLst/>
              </a:prstGeom>
              <a:solidFill>
                <a:srgbClr val="0070C0"/>
              </a:solidFill>
              <a:ln w="25400" cap="flat">
                <a:noFill/>
                <a:prstDash val="solid"/>
                <a:miter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+mn-ea"/>
                    <a:ea typeface="+mn-ea"/>
                  </a:rPr>
                  <a:t>01</a:t>
                </a:r>
                <a:endParaRPr lang="zh-CN" altLang="en-US" b="1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6" name="Text">
                <a:extLst>
                  <a:ext uri="{FF2B5EF4-FFF2-40B4-BE49-F238E27FC236}">
                    <a16:creationId xmlns:a16="http://schemas.microsoft.com/office/drawing/2014/main" id="{E9B5A4CD-0BCF-486B-8299-4EE3E45683E7}"/>
                  </a:ext>
                </a:extLst>
              </p:cNvPr>
              <p:cNvSpPr/>
              <p:nvPr/>
            </p:nvSpPr>
            <p:spPr>
              <a:xfrm>
                <a:off x="-2798813" y="-6694731"/>
                <a:ext cx="4296401" cy="929963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合法性检查报告查错</a:t>
                </a:r>
              </a:p>
            </p:txBody>
          </p:sp>
        </p:grpSp>
        <p:grpSp>
          <p:nvGrpSpPr>
            <p:cNvPr id="89" name="Group 32_1">
              <a:extLst>
                <a:ext uri="{FF2B5EF4-FFF2-40B4-BE49-F238E27FC236}">
                  <a16:creationId xmlns:a16="http://schemas.microsoft.com/office/drawing/2014/main" id="{C25CCA09-6E25-4055-99DC-B5173A1A4A2F}"/>
                </a:ext>
              </a:extLst>
            </p:cNvPr>
            <p:cNvGrpSpPr/>
            <p:nvPr/>
          </p:nvGrpSpPr>
          <p:grpSpPr>
            <a:xfrm>
              <a:off x="765559" y="3154862"/>
              <a:ext cx="5432041" cy="929964"/>
              <a:chOff x="-3934453" y="-6694732"/>
              <a:chExt cx="5432041" cy="929964"/>
            </a:xfrm>
          </p:grpSpPr>
          <p:sp>
            <p:nvSpPr>
              <p:cNvPr id="93" name="Number">
                <a:extLst>
                  <a:ext uri="{FF2B5EF4-FFF2-40B4-BE49-F238E27FC236}">
                    <a16:creationId xmlns:a16="http://schemas.microsoft.com/office/drawing/2014/main" id="{94F70986-AE31-448E-8778-14B1AA279E73}"/>
                  </a:ext>
                </a:extLst>
              </p:cNvPr>
              <p:cNvSpPr/>
              <p:nvPr/>
            </p:nvSpPr>
            <p:spPr>
              <a:xfrm>
                <a:off x="-3934453" y="-6694732"/>
                <a:ext cx="1135640" cy="929964"/>
              </a:xfrm>
              <a:prstGeom prst="rect">
                <a:avLst/>
              </a:prstGeom>
              <a:solidFill>
                <a:srgbClr val="0070C0"/>
              </a:solidFill>
              <a:ln w="25400" cap="flat">
                <a:noFill/>
                <a:prstDash val="solid"/>
                <a:miter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+mn-ea"/>
                    <a:ea typeface="+mn-ea"/>
                  </a:rPr>
                  <a:t>02</a:t>
                </a:r>
                <a:endParaRPr lang="zh-CN" altLang="en-US" b="1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4" name="Text">
                <a:extLst>
                  <a:ext uri="{FF2B5EF4-FFF2-40B4-BE49-F238E27FC236}">
                    <a16:creationId xmlns:a16="http://schemas.microsoft.com/office/drawing/2014/main" id="{C96AE1F6-0D65-4696-9E36-AC26E8814874}"/>
                  </a:ext>
                </a:extLst>
              </p:cNvPr>
              <p:cNvSpPr/>
              <p:nvPr/>
            </p:nvSpPr>
            <p:spPr>
              <a:xfrm>
                <a:off x="-2798813" y="-6694731"/>
                <a:ext cx="4296401" cy="929963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系统基础设置修改，如修改凭证模板</a:t>
                </a:r>
                <a:endParaRPr lang="en-US" altLang="zh-CN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90" name="Group 32_1_1">
              <a:extLst>
                <a:ext uri="{FF2B5EF4-FFF2-40B4-BE49-F238E27FC236}">
                  <a16:creationId xmlns:a16="http://schemas.microsoft.com/office/drawing/2014/main" id="{ED6BCFFD-94B9-4D29-9494-6626F8F265E4}"/>
                </a:ext>
              </a:extLst>
            </p:cNvPr>
            <p:cNvGrpSpPr/>
            <p:nvPr/>
          </p:nvGrpSpPr>
          <p:grpSpPr>
            <a:xfrm>
              <a:off x="765559" y="4472936"/>
              <a:ext cx="5432041" cy="929964"/>
              <a:chOff x="-3934453" y="-6694732"/>
              <a:chExt cx="5432041" cy="929964"/>
            </a:xfrm>
          </p:grpSpPr>
          <p:sp>
            <p:nvSpPr>
              <p:cNvPr id="91" name="Number">
                <a:extLst>
                  <a:ext uri="{FF2B5EF4-FFF2-40B4-BE49-F238E27FC236}">
                    <a16:creationId xmlns:a16="http://schemas.microsoft.com/office/drawing/2014/main" id="{B2DAE7DC-21FE-4393-97AC-35779824747F}"/>
                  </a:ext>
                </a:extLst>
              </p:cNvPr>
              <p:cNvSpPr/>
              <p:nvPr/>
            </p:nvSpPr>
            <p:spPr>
              <a:xfrm>
                <a:off x="-3934453" y="-6694732"/>
                <a:ext cx="1135640" cy="929964"/>
              </a:xfrm>
              <a:prstGeom prst="rect">
                <a:avLst/>
              </a:prstGeom>
              <a:solidFill>
                <a:srgbClr val="0070C0"/>
              </a:solidFill>
              <a:ln w="25400" cap="flat">
                <a:noFill/>
                <a:prstDash val="solid"/>
                <a:miter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+mn-ea"/>
                    <a:ea typeface="+mn-ea"/>
                  </a:rPr>
                  <a:t>03</a:t>
                </a:r>
                <a:endParaRPr lang="zh-CN" altLang="en-US" b="1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2" name="Text">
                <a:extLst>
                  <a:ext uri="{FF2B5EF4-FFF2-40B4-BE49-F238E27FC236}">
                    <a16:creationId xmlns:a16="http://schemas.microsoft.com/office/drawing/2014/main" id="{72BCE008-93D1-4837-9797-7C51B97A9543}"/>
                  </a:ext>
                </a:extLst>
              </p:cNvPr>
              <p:cNvSpPr/>
              <p:nvPr/>
            </p:nvSpPr>
            <p:spPr>
              <a:xfrm>
                <a:off x="-2798813" y="-6694731"/>
                <a:ext cx="4296401" cy="929963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+mn-ea"/>
                  </a:rPr>
                  <a:t>研发费用具体归集与分配</a:t>
                </a:r>
                <a:endParaRPr lang="en-US" altLang="zh-CN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2411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下一步计划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06960C1-F5BA-424E-8A7A-46CA90E31BC2}"/>
              </a:ext>
            </a:extLst>
          </p:cNvPr>
          <p:cNvGrpSpPr/>
          <p:nvPr/>
        </p:nvGrpSpPr>
        <p:grpSpPr>
          <a:xfrm>
            <a:off x="3169444" y="1030287"/>
            <a:ext cx="5181600" cy="4419600"/>
            <a:chOff x="6308323" y="1548499"/>
            <a:chExt cx="4987863" cy="4167403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2035E97-881B-44D6-A244-48B1A24D1AA6}"/>
                </a:ext>
              </a:extLst>
            </p:cNvPr>
            <p:cNvGrpSpPr/>
            <p:nvPr/>
          </p:nvGrpSpPr>
          <p:grpSpPr>
            <a:xfrm>
              <a:off x="6308323" y="1548499"/>
              <a:ext cx="4987863" cy="1148575"/>
              <a:chOff x="6308323" y="1548499"/>
              <a:chExt cx="4987863" cy="1148575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E06BCE32-CDB4-46B0-AD1A-DE85E1D5CA9D}"/>
                  </a:ext>
                </a:extLst>
              </p:cNvPr>
              <p:cNvSpPr/>
              <p:nvPr/>
            </p:nvSpPr>
            <p:spPr>
              <a:xfrm>
                <a:off x="6567583" y="1548499"/>
                <a:ext cx="4728603" cy="1148575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64" name="Bullet1">
                <a:extLst>
                  <a:ext uri="{FF2B5EF4-FFF2-40B4-BE49-F238E27FC236}">
                    <a16:creationId xmlns:a16="http://schemas.microsoft.com/office/drawing/2014/main" id="{542D38EB-EDAE-4B8D-91A4-25C7C5BB4447}"/>
                  </a:ext>
                </a:extLst>
              </p:cNvPr>
              <p:cNvSpPr txBox="1"/>
              <p:nvPr/>
            </p:nvSpPr>
            <p:spPr>
              <a:xfrm>
                <a:off x="7149288" y="1938119"/>
                <a:ext cx="3827705" cy="36933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2000" b="1" i="0" kern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SzPct val="25000"/>
                </a:pPr>
                <a:r>
                  <a:rPr lang="zh-CN" altLang="en-US" sz="1800" dirty="0">
                    <a:solidFill>
                      <a:schemeClr val="tx1"/>
                    </a:solidFill>
                    <a:effectLst/>
                    <a:latin typeface="+mn-ea"/>
                  </a:rPr>
                  <a:t>继续熟悉</a:t>
                </a:r>
                <a:r>
                  <a:rPr lang="en-US" altLang="zh-CN" sz="1800" dirty="0">
                    <a:solidFill>
                      <a:schemeClr val="tx1"/>
                    </a:solidFill>
                    <a:effectLst/>
                    <a:latin typeface="+mn-ea"/>
                  </a:rPr>
                  <a:t>ERP</a:t>
                </a:r>
                <a:r>
                  <a:rPr lang="zh-CN" altLang="en-US" sz="1800" dirty="0">
                    <a:solidFill>
                      <a:schemeClr val="tx1"/>
                    </a:solidFill>
                    <a:effectLst/>
                    <a:latin typeface="+mn-ea"/>
                  </a:rPr>
                  <a:t>系统和理解逻辑，并优化</a:t>
                </a:r>
                <a:endParaRPr lang="en-US" altLang="zh-CN" sz="1800" dirty="0"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56B9DACF-6293-4B8E-806B-03478A6E5257}"/>
                  </a:ext>
                </a:extLst>
              </p:cNvPr>
              <p:cNvSpPr/>
              <p:nvPr/>
            </p:nvSpPr>
            <p:spPr>
              <a:xfrm>
                <a:off x="6308323" y="1842209"/>
                <a:ext cx="587054" cy="587051"/>
              </a:xfrm>
              <a:prstGeom prst="ellipse">
                <a:avLst/>
              </a:prstGeom>
              <a:solidFill>
                <a:srgbClr val="0070C0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441E93E-2A39-48FD-86E1-E8D9077CB241}"/>
                </a:ext>
              </a:extLst>
            </p:cNvPr>
            <p:cNvGrpSpPr/>
            <p:nvPr/>
          </p:nvGrpSpPr>
          <p:grpSpPr>
            <a:xfrm>
              <a:off x="6308323" y="3057912"/>
              <a:ext cx="4987863" cy="1148575"/>
              <a:chOff x="6308323" y="3057912"/>
              <a:chExt cx="4987863" cy="1148575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F78D984-A44A-4C2F-A713-7BFAE6601129}"/>
                  </a:ext>
                </a:extLst>
              </p:cNvPr>
              <p:cNvSpPr/>
              <p:nvPr/>
            </p:nvSpPr>
            <p:spPr>
              <a:xfrm>
                <a:off x="6567583" y="3057912"/>
                <a:ext cx="4728603" cy="1148575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57" name="Bullet2">
                <a:extLst>
                  <a:ext uri="{FF2B5EF4-FFF2-40B4-BE49-F238E27FC236}">
                    <a16:creationId xmlns:a16="http://schemas.microsoft.com/office/drawing/2014/main" id="{C04C2E02-E4EB-446E-9A6A-B45F9667ACDE}"/>
                  </a:ext>
                </a:extLst>
              </p:cNvPr>
              <p:cNvSpPr txBox="1"/>
              <p:nvPr/>
            </p:nvSpPr>
            <p:spPr>
              <a:xfrm>
                <a:off x="7149288" y="3338673"/>
                <a:ext cx="3827705" cy="58705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2000" b="1" i="0" kern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SzPct val="25000"/>
                </a:pPr>
                <a:r>
                  <a:rPr lang="zh-CN" altLang="en-US" sz="1700" dirty="0">
                    <a:solidFill>
                      <a:schemeClr val="tx1"/>
                    </a:solidFill>
                    <a:effectLst/>
                    <a:latin typeface="+mn-ea"/>
                  </a:rPr>
                  <a:t>深入了解业务，为降本增效提出建议，同时合理评估存货</a:t>
                </a:r>
                <a:endParaRPr lang="en-US" altLang="zh-CN" sz="1700" dirty="0"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21379A00-CC07-467A-88C1-7C327F66D050}"/>
                  </a:ext>
                </a:extLst>
              </p:cNvPr>
              <p:cNvSpPr/>
              <p:nvPr/>
            </p:nvSpPr>
            <p:spPr>
              <a:xfrm>
                <a:off x="6308323" y="3345148"/>
                <a:ext cx="587054" cy="587051"/>
              </a:xfrm>
              <a:prstGeom prst="ellipse">
                <a:avLst/>
              </a:prstGeom>
              <a:solidFill>
                <a:srgbClr val="102FA9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B2FDDD7-EDA6-4F02-9368-CF9396FD40FC}"/>
                </a:ext>
              </a:extLst>
            </p:cNvPr>
            <p:cNvGrpSpPr/>
            <p:nvPr/>
          </p:nvGrpSpPr>
          <p:grpSpPr>
            <a:xfrm>
              <a:off x="6308323" y="4567327"/>
              <a:ext cx="4987863" cy="1148575"/>
              <a:chOff x="6308323" y="4567327"/>
              <a:chExt cx="4987863" cy="1148575"/>
            </a:xfrm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AFF1A3AB-3384-4119-9403-4FC92AE81509}"/>
                  </a:ext>
                </a:extLst>
              </p:cNvPr>
              <p:cNvSpPr/>
              <p:nvPr/>
            </p:nvSpPr>
            <p:spPr>
              <a:xfrm>
                <a:off x="6567583" y="4567327"/>
                <a:ext cx="4728603" cy="1148575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50" name="Bullet3">
                <a:extLst>
                  <a:ext uri="{FF2B5EF4-FFF2-40B4-BE49-F238E27FC236}">
                    <a16:creationId xmlns:a16="http://schemas.microsoft.com/office/drawing/2014/main" id="{EA66F461-3034-479E-B72A-0C6B214F67C0}"/>
                  </a:ext>
                </a:extLst>
              </p:cNvPr>
              <p:cNvSpPr txBox="1"/>
              <p:nvPr/>
            </p:nvSpPr>
            <p:spPr>
              <a:xfrm>
                <a:off x="7149288" y="4864612"/>
                <a:ext cx="3827705" cy="55400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2000" b="1" i="0" kern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SzPct val="25000"/>
                </a:pPr>
                <a:r>
                  <a:rPr lang="zh-CN" altLang="en-US" sz="1700" dirty="0">
                    <a:solidFill>
                      <a:schemeClr val="tx1"/>
                    </a:solidFill>
                    <a:effectLst/>
                    <a:latin typeface="+mn-ea"/>
                  </a:rPr>
                  <a:t>掌握研发费用的归集方式，并确保资料的合法合规和实物管理</a:t>
                </a:r>
                <a:endParaRPr lang="en-US" altLang="zh-CN" sz="1700" dirty="0"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10F288A1-6D22-478A-AA5F-E841B0C60CCB}"/>
                  </a:ext>
                </a:extLst>
              </p:cNvPr>
              <p:cNvSpPr/>
              <p:nvPr/>
            </p:nvSpPr>
            <p:spPr>
              <a:xfrm>
                <a:off x="6308323" y="4848088"/>
                <a:ext cx="587054" cy="587051"/>
              </a:xfrm>
              <a:prstGeom prst="ellipse">
                <a:avLst/>
              </a:prstGeom>
              <a:solidFill>
                <a:srgbClr val="7030A0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03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8460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950"/>
            <a:ext cx="11520488" cy="415713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12644" y="2325687"/>
            <a:ext cx="4417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31844" y="5567044"/>
            <a:ext cx="3198138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sz="1050" dirty="0">
                <a:latin typeface="微软雅黑" panose="020B0503020204020204" pitchFamily="34" charset="-122"/>
                <a:cs typeface="+mn-ea"/>
                <a:sym typeface="+mn-lt"/>
              </a:rPr>
              <a:t>重庆鑫景特种玻璃有限公司</a:t>
            </a:r>
            <a:endParaRPr lang="en-US" altLang="zh-CN" sz="1050" dirty="0">
              <a:latin typeface="微软雅黑" panose="020B0503020204020204" pitchFamily="34" charset="-122"/>
              <a:cs typeface="+mn-ea"/>
              <a:sym typeface="+mn-lt"/>
            </a:endParaRPr>
          </a:p>
          <a:p>
            <a:pPr algn="r"/>
            <a:r>
              <a:rPr lang="en-US" altLang="zh-CN" sz="900" dirty="0">
                <a:latin typeface="微软雅黑" panose="020B0503020204020204" pitchFamily="34" charset="-122"/>
                <a:cs typeface="+mn-ea"/>
                <a:sym typeface="+mn-lt"/>
              </a:rPr>
              <a:t>Chongqing Aureavia Hi-tech Glass CO.,LTD.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4" y="385804"/>
            <a:ext cx="2057400" cy="33968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41444" y="4356527"/>
            <a:ext cx="25885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 algn="r"/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财经管理部  章玲</a:t>
            </a:r>
          </a:p>
        </p:txBody>
      </p:sp>
    </p:spTree>
    <p:extLst>
      <p:ext uri="{BB962C8B-B14F-4D97-AF65-F5344CB8AC3E}">
        <p14:creationId xmlns:p14="http://schemas.microsoft.com/office/powerpoint/2010/main" val="216759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9844" y="1792287"/>
            <a:ext cx="4602481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一、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2361725" y="1958026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9844" y="2348379"/>
            <a:ext cx="4297682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59844" y="2882461"/>
            <a:ext cx="3505199" cy="562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三、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9845" y="3413691"/>
            <a:ext cx="2286000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四、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2361725" y="2517850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361725" y="3055041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361725" y="3592232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13185" y="2058880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11" name="等腰三角形 10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等腰三角形 9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113185" y="2608273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0" name="等腰三角形 29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113185" y="3145464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4" name="等腰三角形 33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113185" y="3682655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37" name="等腰三角形 36"/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50044" y="115887"/>
            <a:ext cx="5714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目 录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DE72A3-C7DB-4062-81C5-F35882812D72}"/>
              </a:ext>
            </a:extLst>
          </p:cNvPr>
          <p:cNvSpPr txBox="1"/>
          <p:nvPr/>
        </p:nvSpPr>
        <p:spPr>
          <a:xfrm>
            <a:off x="2559845" y="3947773"/>
            <a:ext cx="2286000" cy="5627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五、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0A330E0-D795-402E-BE8B-C6E4EEB0ADFE}"/>
              </a:ext>
            </a:extLst>
          </p:cNvPr>
          <p:cNvSpPr/>
          <p:nvPr/>
        </p:nvSpPr>
        <p:spPr bwMode="auto">
          <a:xfrm>
            <a:off x="2361725" y="4126314"/>
            <a:ext cx="45719" cy="304800"/>
          </a:xfrm>
          <a:prstGeom prst="rect">
            <a:avLst/>
          </a:prstGeom>
          <a:solidFill>
            <a:srgbClr val="102FA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BD65B3C-9F74-4F9A-9BF0-65E1C1F8944E}"/>
              </a:ext>
            </a:extLst>
          </p:cNvPr>
          <p:cNvGrpSpPr/>
          <p:nvPr/>
        </p:nvGrpSpPr>
        <p:grpSpPr>
          <a:xfrm>
            <a:off x="2113185" y="4216737"/>
            <a:ext cx="172340" cy="123953"/>
            <a:chOff x="2189384" y="2177079"/>
            <a:chExt cx="172340" cy="123953"/>
          </a:xfrm>
          <a:solidFill>
            <a:srgbClr val="102FA9"/>
          </a:solidFill>
        </p:grpSpPr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971112D4-F123-4AB0-B5C1-77C8C18D61FC}"/>
                </a:ext>
              </a:extLst>
            </p:cNvPr>
            <p:cNvSpPr/>
            <p:nvPr/>
          </p:nvSpPr>
          <p:spPr>
            <a:xfrm rot="5400000">
              <a:off x="2180836" y="2185628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384EA11B-3E53-403A-A244-2077ADC1705B}"/>
                </a:ext>
              </a:extLst>
            </p:cNvPr>
            <p:cNvSpPr/>
            <p:nvPr/>
          </p:nvSpPr>
          <p:spPr>
            <a:xfrm rot="5400000">
              <a:off x="2246321" y="2185627"/>
              <a:ext cx="123952" cy="10685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1032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预算</a:t>
            </a:r>
            <a:endParaRPr lang="en-US" altLang="zh-CN" sz="2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C975AF-E806-4B92-BFB5-8D11402A0C7B}"/>
              </a:ext>
            </a:extLst>
          </p:cNvPr>
          <p:cNvSpPr txBox="1"/>
          <p:nvPr/>
        </p:nvSpPr>
        <p:spPr>
          <a:xfrm>
            <a:off x="959644" y="1182687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预算执行效率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1516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工作内容</a:t>
            </a: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29988C7A-DFAF-4224-9E84-32595CDD9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50795"/>
              </p:ext>
            </p:extLst>
          </p:nvPr>
        </p:nvGraphicFramePr>
        <p:xfrm>
          <a:off x="845344" y="2097087"/>
          <a:ext cx="9829800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304949935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868242226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222736994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702131089"/>
                    </a:ext>
                  </a:extLst>
                </a:gridCol>
              </a:tblGrid>
              <a:tr h="5888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78703"/>
                  </a:ext>
                </a:extLst>
              </a:tr>
              <a:tr h="11637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  <a:latin typeface="+mn-ea"/>
                          <a:ea typeface="+mn-ea"/>
                        </a:rPr>
                        <a:t>成本板块工作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  <a:latin typeface="+mn-ea"/>
                          <a:ea typeface="+mn-ea"/>
                        </a:rPr>
                        <a:t>职能部门费用执行分析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  <a:latin typeface="+mn-ea"/>
                          <a:ea typeface="+mn-ea"/>
                        </a:rPr>
                        <a:t>资产负债表清账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  <a:latin typeface="+mn-ea"/>
                          <a:ea typeface="+mn-ea"/>
                        </a:rPr>
                        <a:t>研发工时资料收集、委外对账、自主采购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533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11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工作内容</a:t>
            </a:r>
          </a:p>
        </p:txBody>
      </p:sp>
    </p:spTree>
    <p:extLst>
      <p:ext uri="{BB962C8B-B14F-4D97-AF65-F5344CB8AC3E}">
        <p14:creationId xmlns:p14="http://schemas.microsoft.com/office/powerpoint/2010/main" val="1917331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工作内容</a:t>
            </a:r>
          </a:p>
        </p:txBody>
      </p:sp>
    </p:spTree>
    <p:extLst>
      <p:ext uri="{BB962C8B-B14F-4D97-AF65-F5344CB8AC3E}">
        <p14:creationId xmlns:p14="http://schemas.microsoft.com/office/powerpoint/2010/main" val="118973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045" y="115887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工作内容</a:t>
            </a:r>
          </a:p>
        </p:txBody>
      </p:sp>
    </p:spTree>
    <p:extLst>
      <p:ext uri="{BB962C8B-B14F-4D97-AF65-F5344CB8AC3E}">
        <p14:creationId xmlns:p14="http://schemas.microsoft.com/office/powerpoint/2010/main" val="1206993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376" y="260542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u="sng" dirty="0">
                <a:gradFill>
                  <a:gsLst>
                    <a:gs pos="100000">
                      <a:srgbClr val="118BFA"/>
                    </a:gs>
                    <a:gs pos="18000">
                      <a:srgbClr val="102FA9"/>
                    </a:gs>
                  </a:gsLst>
                  <a:lin ang="19200000" scaled="0"/>
                </a:gradFill>
                <a:latin typeface="+mn-ea"/>
                <a:ea typeface="+mn-ea"/>
              </a:rPr>
              <a:t>感谢指导</a:t>
            </a:r>
          </a:p>
        </p:txBody>
      </p:sp>
    </p:spTree>
    <p:extLst>
      <p:ext uri="{BB962C8B-B14F-4D97-AF65-F5344CB8AC3E}">
        <p14:creationId xmlns:p14="http://schemas.microsoft.com/office/powerpoint/2010/main" val="22261328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ZiZTM5ZWVmYzEzODMyM2ZkZGJhMGYwZmQ2YmZlOTQifQ=="/>
  <p:tag name="ISLIDE.GUIDESSETTING" val="{&quot;Id&quot;:&quot;f52e03d6-68ef-4e73-a6ac-12d127f03ea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AB9E"/>
      </a:accent1>
      <a:accent2>
        <a:srgbClr val="3F7FC1"/>
      </a:accent2>
      <a:accent3>
        <a:srgbClr val="7ECDDA"/>
      </a:accent3>
      <a:accent4>
        <a:srgbClr val="DD1922"/>
      </a:accent4>
      <a:accent5>
        <a:srgbClr val="F8B500"/>
      </a:accent5>
      <a:accent6>
        <a:srgbClr val="C9C9C9"/>
      </a:accent6>
      <a:hlink>
        <a:srgbClr val="4472C4"/>
      </a:hlink>
      <a:folHlink>
        <a:srgbClr val="BFBFBF"/>
      </a:folHlink>
    </a:clrScheme>
    <a:fontScheme name="uiwqptw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 1">
    <a:dk1>
      <a:srgbClr val="000000"/>
    </a:dk1>
    <a:lt1>
      <a:srgbClr val="FFFFFF"/>
    </a:lt1>
    <a:dk2>
      <a:srgbClr val="778495"/>
    </a:dk2>
    <a:lt2>
      <a:srgbClr val="F0F0F0"/>
    </a:lt2>
    <a:accent1>
      <a:srgbClr val="42AB9E"/>
    </a:accent1>
    <a:accent2>
      <a:srgbClr val="3F7FC1"/>
    </a:accent2>
    <a:accent3>
      <a:srgbClr val="7ECDDA"/>
    </a:accent3>
    <a:accent4>
      <a:srgbClr val="DD1922"/>
    </a:accent4>
    <a:accent5>
      <a:srgbClr val="F8B500"/>
    </a:accent5>
    <a:accent6>
      <a:srgbClr val="C9C9C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20589</TotalTime>
  <Words>4839</Words>
  <Application>Microsoft Office PowerPoint</Application>
  <PresentationFormat>自定义</PresentationFormat>
  <Paragraphs>1954</Paragraphs>
  <Slides>25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章玲</cp:lastModifiedBy>
  <cp:revision>2661</cp:revision>
  <cp:lastPrinted>2113-01-01T00:00:00Z</cp:lastPrinted>
  <dcterms:created xsi:type="dcterms:W3CDTF">2018-08-24T06:28:00Z</dcterms:created>
  <dcterms:modified xsi:type="dcterms:W3CDTF">2025-11-08T09:37:49Z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2052-12.1.0.16929</vt:lpwstr>
  </property>
  <property fmtid="{D5CDD505-2E9C-101B-9397-08002B2CF9AE}" pid="4" name="ICV">
    <vt:lpwstr>3026348970974B1194639F9051F0758C_12</vt:lpwstr>
  </property>
</Properties>
</file>